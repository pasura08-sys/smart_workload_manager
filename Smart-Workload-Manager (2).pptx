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Geologica" panose="020B0604020202020204" charset="0"/>
      <p:regular r:id="rId13"/>
    </p:embeddedFont>
    <p:embeddedFont>
      <p:font typeface="Geologica Bold" panose="020B0604020202020204" charset="0"/>
      <p:regular r:id="rId14"/>
    </p:embeddedFont>
    <p:embeddedFont>
      <p:font typeface="Geologica Medium" panose="020B0604020202020204" charset="0"/>
      <p:regular r:id="rId15"/>
    </p:embeddedFont>
    <p:embeddedFont>
      <p:font typeface="Geologica SemiBold" panose="020B0604020202020204" charset="0"/>
      <p:regular r:id="rId16"/>
    </p:embeddedFont>
    <p:embeddedFont>
      <p:font typeface="Oxanium Medium" panose="020B0604020202020204" charset="0"/>
      <p:regular r:id="rId17"/>
    </p:embeddedFont>
    <p:embeddedFont>
      <p:font typeface="Raleway Bold" panose="020B0604020202020204" charset="0"/>
      <p:regular r:id="rId18"/>
    </p:embeddedFont>
    <p:embeddedFont>
      <p:font typeface="Roboto" panose="02000000000000000000" pitchFamily="2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4030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33433" y="552297"/>
            <a:ext cx="6861277" cy="393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7000"/>
              </a:lnSpc>
              <a:buNone/>
            </a:pPr>
            <a:r>
              <a:rPr lang="en-US" sz="4000" kern="100" spc="-101" dirty="0">
                <a:solidFill>
                  <a:srgbClr val="4B2E22"/>
                </a:solidFill>
                <a:latin typeface="Oxanium Medium" pitchFamily="34" charset="0"/>
                <a:ea typeface="Oxanium Medium" pitchFamily="34" charset="-122"/>
                <a:cs typeface="Oxanium Medium" pitchFamily="34" charset="-120"/>
              </a:rPr>
              <a:t>SMART WORKLOAD MANAGER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8942" y="1735494"/>
            <a:ext cx="12005084" cy="4814595"/>
          </a:xfrm>
          <a:prstGeom prst="rect">
            <a:avLst/>
          </a:prstGeom>
          <a:noFill/>
          <a:ln w="19050">
            <a:solidFill>
              <a:srgbClr val="D6CE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89461" y="2086295"/>
            <a:ext cx="11867853" cy="393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kern="100" spc="53" dirty="0">
                <a:solidFill>
                  <a:srgbClr val="7A5B4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TEAM DETAILS</a:t>
            </a:r>
            <a:endParaRPr lang="en-US" sz="2000" b="1" dirty="0"/>
          </a:p>
        </p:txBody>
      </p:sp>
      <p:sp>
        <p:nvSpPr>
          <p:cNvPr id="6" name="Text 4"/>
          <p:cNvSpPr/>
          <p:nvPr/>
        </p:nvSpPr>
        <p:spPr>
          <a:xfrm>
            <a:off x="324147" y="3522693"/>
            <a:ext cx="11867853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endParaRPr 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F673AC-E73A-70FD-7B63-E8CD76B64DC3}"/>
              </a:ext>
            </a:extLst>
          </p:cNvPr>
          <p:cNvSpPr txBox="1"/>
          <p:nvPr/>
        </p:nvSpPr>
        <p:spPr>
          <a:xfrm>
            <a:off x="225833" y="4126300"/>
            <a:ext cx="6097554" cy="336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Department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AB9C76-D696-D4C1-1325-FA44BA27142A}"/>
              </a:ext>
            </a:extLst>
          </p:cNvPr>
          <p:cNvSpPr txBox="1"/>
          <p:nvPr/>
        </p:nvSpPr>
        <p:spPr>
          <a:xfrm>
            <a:off x="1305205" y="4526146"/>
            <a:ext cx="6097554" cy="391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Computer Science &amp; Engineering</a:t>
            </a:r>
            <a:endParaRPr lang="en-US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0C5635-7DAD-A0F5-5F96-F74EEC23191F}"/>
              </a:ext>
            </a:extLst>
          </p:cNvPr>
          <p:cNvSpPr txBox="1"/>
          <p:nvPr/>
        </p:nvSpPr>
        <p:spPr>
          <a:xfrm>
            <a:off x="225833" y="5082599"/>
            <a:ext cx="60975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Supervisor</a:t>
            </a:r>
            <a:endParaRPr lang="en-IN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5AA776-5EAB-41C5-6654-F6C341D10A7A}"/>
              </a:ext>
            </a:extLst>
          </p:cNvPr>
          <p:cNvSpPr txBox="1"/>
          <p:nvPr/>
        </p:nvSpPr>
        <p:spPr>
          <a:xfrm>
            <a:off x="1442832" y="5520946"/>
            <a:ext cx="6176864" cy="391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Dr.Pavan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Kumar Pagadala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05A62A-FADE-4126-7ECA-CBAD066DAF85}"/>
              </a:ext>
            </a:extLst>
          </p:cNvPr>
          <p:cNvSpPr txBox="1"/>
          <p:nvPr/>
        </p:nvSpPr>
        <p:spPr>
          <a:xfrm>
            <a:off x="2133432" y="1062369"/>
            <a:ext cx="81582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 Intelligent System for Monitoring and Managing Running Applications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BA3113-75E4-3732-90CC-318B07813CAA}"/>
              </a:ext>
            </a:extLst>
          </p:cNvPr>
          <p:cNvSpPr txBox="1"/>
          <p:nvPr/>
        </p:nvSpPr>
        <p:spPr>
          <a:xfrm>
            <a:off x="-695131" y="2619478"/>
            <a:ext cx="61302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dirty="0"/>
              <a:t>2510030271 – Pavithra</a:t>
            </a:r>
          </a:p>
          <a:p>
            <a:pPr algn="ctr"/>
            <a:r>
              <a:rPr lang="en-IN" sz="1800" dirty="0"/>
              <a:t>2510030252 – Lathika</a:t>
            </a:r>
          </a:p>
          <a:p>
            <a:pPr algn="ctr"/>
            <a:r>
              <a:rPr lang="en-IN" sz="1800" dirty="0"/>
              <a:t>2510030305 – Snikitha</a:t>
            </a:r>
          </a:p>
          <a:p>
            <a:pPr algn="ctr"/>
            <a:r>
              <a:rPr lang="en-IN" sz="1800" dirty="0"/>
              <a:t>2510030174 - Anusha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39721" cy="6858000"/>
          </a:xfrm>
          <a:prstGeom prst="rect">
            <a:avLst/>
          </a:prstGeom>
          <a:solidFill>
            <a:srgbClr val="F3EB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06390" y="337820"/>
            <a:ext cx="593333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8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390" y="663331"/>
            <a:ext cx="5577740" cy="1398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000" kern="100" spc="-9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From resource contention to safe workload decisions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406390" y="5917549"/>
            <a:ext cx="5577740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Background processes may consume high CPU or memory and affect an important running workload.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000005" y="337820"/>
            <a:ext cx="519169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kern="100" spc="78" dirty="0">
                <a:solidFill>
                  <a:srgbClr val="7A5B4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THE OBJECTIVE</a:t>
            </a:r>
            <a:endParaRPr lang="en-US" sz="2000" b="1" dirty="0"/>
          </a:p>
        </p:txBody>
      </p:sp>
      <p:sp>
        <p:nvSpPr>
          <p:cNvPr id="7" name="Text 5"/>
          <p:cNvSpPr/>
          <p:nvPr/>
        </p:nvSpPr>
        <p:spPr>
          <a:xfrm>
            <a:off x="6974911" y="1203788"/>
            <a:ext cx="4810699" cy="3148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Monitor real Linux processes</a:t>
            </a:r>
            <a:endParaRPr lang="en-US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Measure CPU and memory usage</a:t>
            </a:r>
            <a:endParaRPr lang="en-US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Calculate a workload score</a:t>
            </a:r>
            <a:endParaRPr lang="en-US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Identify HIGH / MEDIUM / LOW workloads</a:t>
            </a:r>
            <a:endParaRPr lang="en-US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Select a primary workload and generate safe recommendations</a:t>
            </a:r>
            <a:endParaRPr lang="en-US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Record workload activity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019055" y="4843869"/>
            <a:ext cx="4810699" cy="1163241"/>
          </a:xfrm>
          <a:prstGeom prst="rect">
            <a:avLst/>
          </a:prstGeom>
          <a:solidFill>
            <a:srgbClr val="E7C9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 flipH="1">
            <a:off x="7333237" y="4963886"/>
            <a:ext cx="45719" cy="953663"/>
          </a:xfrm>
          <a:prstGeom prst="rect">
            <a:avLst/>
          </a:prstGeom>
          <a:solidFill>
            <a:srgbClr val="4B2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628370" y="5036784"/>
            <a:ext cx="456305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8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PRINCIPLE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8370" y="5427740"/>
            <a:ext cx="4334461" cy="530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800" kern="100" spc="-22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Recommend actions instead of automatically terminating processes.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845231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1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02</a:t>
            </a:r>
            <a:endParaRPr lang="en-US" sz="1100" dirty="0"/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DFAEBBD9-CC34-BF81-A6D6-CECFEF5C72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57418"/>
              </p:ext>
            </p:extLst>
          </p:nvPr>
        </p:nvGraphicFramePr>
        <p:xfrm>
          <a:off x="609890" y="2331614"/>
          <a:ext cx="5374240" cy="3169884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461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2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6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kern="100" spc="86" dirty="0">
                          <a:solidFill>
                            <a:srgbClr val="4B2E22"/>
                          </a:solidFill>
                        </a:rPr>
                        <a:t>STAGE</a:t>
                      </a:r>
                      <a:endParaRPr lang="en-US" sz="1800" b="1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25399" marR="152396" marT="126997" marB="126997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kern="100" spc="86" dirty="0">
                          <a:solidFill>
                            <a:srgbClr val="4B2E22"/>
                          </a:solidFill>
                        </a:rPr>
                        <a:t>FLOW</a:t>
                      </a:r>
                      <a:endParaRPr lang="en-US" sz="1800" b="1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25399" marR="152396" marT="126997" marB="12699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6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4B2E22"/>
                          </a:solidFill>
                        </a:rPr>
                        <a:t>Monitor</a:t>
                      </a:r>
                      <a:endParaRPr lang="en-US" sz="18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25399" marR="152396" marT="126997" marB="126997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4B2E22"/>
                          </a:solidFill>
                        </a:rPr>
                        <a:t>Linux processes-&gt; monitoring</a:t>
                      </a:r>
                      <a:endParaRPr lang="en-US" sz="18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25399" marR="152396" marT="126997" marB="12699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6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4B2E22"/>
                          </a:solidFill>
                        </a:rPr>
                        <a:t>Analyze</a:t>
                      </a:r>
                      <a:endParaRPr lang="en-US" sz="18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25399" marR="152396" marT="126997" marB="126997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4B2E22"/>
                          </a:solidFill>
                        </a:rPr>
                        <a:t>analysis</a:t>
                      </a:r>
                      <a:endParaRPr lang="en-US" sz="18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25399" marR="152396" marT="126997" marB="12699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6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4B2E22"/>
                          </a:solidFill>
                        </a:rPr>
                        <a:t>Identify</a:t>
                      </a:r>
                      <a:endParaRPr lang="en-US" sz="18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25399" marR="152396" marT="126997" marB="126997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4B2E22"/>
                          </a:solidFill>
                        </a:rPr>
                        <a:t>decision</a:t>
                      </a:r>
                      <a:endParaRPr lang="en-US" sz="18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25399" marR="152396" marT="126997" marB="12699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6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4B2E22"/>
                          </a:solidFill>
                        </a:rPr>
                        <a:t>Recommend</a:t>
                      </a:r>
                      <a:endParaRPr lang="en-US" sz="18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25399" marR="152396" marT="126997" marB="126997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4B2E22"/>
                          </a:solidFill>
                        </a:rPr>
                        <a:t>recommendation</a:t>
                      </a:r>
                      <a:endParaRPr lang="en-US" sz="18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25399" marR="152396" marT="126997" marB="12699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9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4B2E22"/>
                          </a:solidFill>
                        </a:rPr>
                        <a:t>Log</a:t>
                      </a:r>
                      <a:endParaRPr lang="en-US" sz="18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25399" marR="152396" marT="126997" marB="126997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4B2E22"/>
                          </a:solidFill>
                        </a:rPr>
                        <a:t>logging</a:t>
                      </a:r>
                      <a:endParaRPr lang="en-US" sz="18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25399" marR="152396" marT="126997" marB="12699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8" dirty="0">
                <a:solidFill>
                  <a:srgbClr val="7A5B4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ARCHITECTURE /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2731"/>
            <a:ext cx="10972526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000" kern="100" spc="-90" dirty="0">
                <a:solidFill>
                  <a:srgbClr val="4B2E22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Monitor → Analyze → Identify → Recommend → Log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417366"/>
            <a:ext cx="84006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B2E22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2701826"/>
            <a:ext cx="2072529" cy="19050"/>
          </a:xfrm>
          <a:prstGeom prst="rect">
            <a:avLst/>
          </a:prstGeom>
          <a:solidFill>
            <a:srgbClr val="4B2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09585" y="2850336"/>
            <a:ext cx="2072628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800" kern="100" spc="-22" dirty="0">
                <a:solidFill>
                  <a:srgbClr val="4B2E22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Monitor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585" y="3252037"/>
            <a:ext cx="2072628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Read real Linux process information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834510" y="2417366"/>
            <a:ext cx="86516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B2E22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34510" y="2701826"/>
            <a:ext cx="2072529" cy="19050"/>
          </a:xfrm>
          <a:prstGeom prst="rect">
            <a:avLst/>
          </a:prstGeom>
          <a:solidFill>
            <a:srgbClr val="4B2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834510" y="2850336"/>
            <a:ext cx="2072628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800" kern="100" spc="-22" dirty="0">
                <a:solidFill>
                  <a:srgbClr val="4B2E22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Analyze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834510" y="3252037"/>
            <a:ext cx="2072628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Check CPU and memory usage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59434" y="2417366"/>
            <a:ext cx="86715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B2E22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59434" y="2701826"/>
            <a:ext cx="2072727" cy="19050"/>
          </a:xfrm>
          <a:prstGeom prst="rect">
            <a:avLst/>
          </a:prstGeom>
          <a:solidFill>
            <a:srgbClr val="4B2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59434" y="2850336"/>
            <a:ext cx="2072727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800" kern="100" spc="-22" dirty="0">
                <a:solidFill>
                  <a:srgbClr val="4B2E22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Identify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59434" y="3252037"/>
            <a:ext cx="2072727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Calculate a score and classify the workload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84458" y="2417366"/>
            <a:ext cx="87280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B2E22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84458" y="2701826"/>
            <a:ext cx="2072529" cy="19050"/>
          </a:xfrm>
          <a:prstGeom prst="rect">
            <a:avLst/>
          </a:prstGeom>
          <a:solidFill>
            <a:srgbClr val="4B2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284458" y="2850336"/>
            <a:ext cx="2072628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800" kern="100" spc="-22" dirty="0">
                <a:solidFill>
                  <a:srgbClr val="4B2E22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Recommend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284458" y="3252037"/>
            <a:ext cx="2072628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Suggest KEEP, MONITOR, REVIEW, or PROTECT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09383" y="2417366"/>
            <a:ext cx="86794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B2E22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509383" y="2701826"/>
            <a:ext cx="2072727" cy="19050"/>
          </a:xfrm>
          <a:prstGeom prst="rect">
            <a:avLst/>
          </a:prstGeom>
          <a:solidFill>
            <a:srgbClr val="4B2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509383" y="2850336"/>
            <a:ext cx="2072727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800" kern="100" spc="-22" dirty="0">
                <a:solidFill>
                  <a:srgbClr val="4B2E22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Log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509383" y="3252037"/>
            <a:ext cx="2072727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Store activity and workload information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6278" y="4722483"/>
            <a:ext cx="5867253" cy="70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76278" y="4501098"/>
            <a:ext cx="10705832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100" spc="78" dirty="0">
                <a:solidFill>
                  <a:srgbClr val="7A5B4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IMPLEMENTATION PATH</a:t>
            </a:r>
            <a:endParaRPr lang="en-US" sz="1200" b="1" dirty="0"/>
          </a:p>
        </p:txBody>
      </p:sp>
      <p:sp>
        <p:nvSpPr>
          <p:cNvPr id="29" name="Text 27"/>
          <p:cNvSpPr/>
          <p:nvPr/>
        </p:nvSpPr>
        <p:spPr>
          <a:xfrm>
            <a:off x="876278" y="4761155"/>
            <a:ext cx="10705832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Linux /proc provides process data. C and system calls connect monitoring, workload execution, communication, synchronization, and logging.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845231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1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44190" y="320410"/>
            <a:ext cx="10972526" cy="1022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700" kern="100" spc="-85" dirty="0">
                <a:solidFill>
                  <a:srgbClr val="4B2E22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Technical competence </a:t>
            </a:r>
            <a:endParaRPr lang="en-US" sz="4700" dirty="0"/>
          </a:p>
        </p:txBody>
      </p:sp>
      <p:sp>
        <p:nvSpPr>
          <p:cNvPr id="4" name="Shape 2"/>
          <p:cNvSpPr/>
          <p:nvPr/>
        </p:nvSpPr>
        <p:spPr>
          <a:xfrm>
            <a:off x="609584" y="1222311"/>
            <a:ext cx="4063799" cy="5622394"/>
          </a:xfrm>
          <a:prstGeom prst="rect">
            <a:avLst/>
          </a:prstGeom>
          <a:solidFill>
            <a:srgbClr val="4B2E22"/>
          </a:solidFill>
          <a:ln w="12700">
            <a:solidFill>
              <a:srgbClr val="D8B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5479" y="2491875"/>
            <a:ext cx="3479713" cy="770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845567"/>
              </p:ext>
            </p:extLst>
          </p:nvPr>
        </p:nvGraphicFramePr>
        <p:xfrm>
          <a:off x="4838777" y="1760661"/>
          <a:ext cx="3301918" cy="4545692"/>
        </p:xfrm>
        <a:graphic>
          <a:graphicData uri="http://schemas.openxmlformats.org/drawingml/2006/table">
            <a:tbl>
              <a:tblPr/>
              <a:tblGrid>
                <a:gridCol w="1200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18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30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OS concept</a:t>
                      </a:r>
                      <a:endParaRPr lang="en-US" sz="15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43672" marR="143672" marT="76625" marB="76625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How it is used</a:t>
                      </a:r>
                      <a:endParaRPr lang="en-US" sz="15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43672" marR="143672" marT="76625" marB="76625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98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Linux /proc</a:t>
                      </a:r>
                      <a:endParaRPr lang="en-US" sz="15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43672" marR="143672" marT="76625" marB="76625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Process and resource monitoring</a:t>
                      </a:r>
                      <a:endParaRPr lang="en-US" sz="15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43672" marR="143672" marT="76625" marB="76625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0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Processes</a:t>
                      </a:r>
                      <a:endParaRPr lang="en-US" sz="15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43672" marR="143672" marT="76625" marB="76625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Running workload identification</a:t>
                      </a:r>
                      <a:endParaRPr lang="en-US" sz="15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43672" marR="143672" marT="76625" marB="76625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30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fork()</a:t>
                      </a:r>
                      <a:endParaRPr lang="en-US" sz="15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43672" marR="143672" marT="76625" marB="76625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Creates a sample workload process</a:t>
                      </a:r>
                      <a:endParaRPr lang="en-US" sz="15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43672" marR="143672" marT="76625" marB="76625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30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exec / execl()</a:t>
                      </a:r>
                      <a:endParaRPr lang="en-US" sz="15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43672" marR="143672" marT="76625" marB="76625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Executes the sample workload</a:t>
                      </a:r>
                      <a:endParaRPr lang="en-US" sz="15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43672" marR="143672" marT="76625" marB="76625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35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waitpid()</a:t>
                      </a:r>
                      <a:endParaRPr lang="en-US" sz="15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43672" marR="143672" marT="76625" marB="76625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Process synchronization where required</a:t>
                      </a:r>
                      <a:endParaRPr lang="en-US" sz="15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43672" marR="143672" marT="76625" marB="76625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122767"/>
              </p:ext>
            </p:extLst>
          </p:nvPr>
        </p:nvGraphicFramePr>
        <p:xfrm>
          <a:off x="8615996" y="1760661"/>
          <a:ext cx="3302016" cy="4032148"/>
        </p:xfrm>
        <a:graphic>
          <a:graphicData uri="http://schemas.openxmlformats.org/drawingml/2006/table">
            <a:tbl>
              <a:tblPr/>
              <a:tblGrid>
                <a:gridCol w="1049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2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30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OS concept</a:t>
                      </a:r>
                      <a:endParaRPr lang="en-US" sz="15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43672" marR="143672" marT="76625" marB="76625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How it is used</a:t>
                      </a:r>
                      <a:endParaRPr lang="en-US" sz="15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43672" marR="143672" marT="76625" marB="76625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3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pipe()</a:t>
                      </a:r>
                      <a:endParaRPr lang="en-US" sz="15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43672" marR="143672" marT="76625" marB="76625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IPC support</a:t>
                      </a:r>
                      <a:endParaRPr lang="en-US" sz="15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43672" marR="143672" marT="76625" marB="76625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0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pthread</a:t>
                      </a:r>
                      <a:endParaRPr lang="en-US" sz="15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43672" marR="143672" marT="76625" marB="76625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Concurrent workload functionality</a:t>
                      </a:r>
                      <a:endParaRPr lang="en-US" sz="15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43672" marR="143672" marT="76625" marB="76625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98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mutex</a:t>
                      </a:r>
                      <a:endParaRPr lang="en-US" sz="15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43672" marR="143672" marT="76625" marB="76625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Thread-safe operations and logging</a:t>
                      </a:r>
                      <a:endParaRPr lang="en-US" sz="15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43672" marR="143672" marT="76625" marB="76625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30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File I/O</a:t>
                      </a:r>
                      <a:endParaRPr lang="en-US" sz="15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43672" marR="143672" marT="76625" marB="76625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Activity logs and workload reports</a:t>
                      </a:r>
                      <a:endParaRPr lang="en-US" sz="15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43672" marR="143672" marT="76625" marB="76625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System calls</a:t>
                      </a:r>
                      <a:endParaRPr lang="en-US" sz="15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43672" marR="143672" marT="76625" marB="76625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Communication with the Linux OS</a:t>
                      </a:r>
                      <a:endParaRPr lang="en-US" sz="15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43672" marR="143672" marT="76625" marB="76625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0845231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1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04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C547AA-862D-48F0-EA0A-51EDBB8CA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479" y="1282449"/>
            <a:ext cx="3581710" cy="55021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14196"/>
            <a:ext cx="5689458" cy="5243804"/>
          </a:xfrm>
          <a:prstGeom prst="rect">
            <a:avLst/>
          </a:prstGeom>
          <a:solidFill>
            <a:srgbClr val="4B2E22"/>
          </a:solidFill>
          <a:ln w="12700">
            <a:solidFill>
              <a:srgbClr val="D8B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895" y="388541"/>
            <a:ext cx="5257668" cy="62789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561731"/>
            <a:ext cx="11886903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000" kern="100" spc="-90" dirty="0">
                <a:solidFill>
                  <a:srgbClr val="4B2E22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High-load workload detection</a:t>
            </a:r>
            <a:endParaRPr lang="en-US" sz="5000" dirty="0"/>
          </a:p>
        </p:txBody>
      </p:sp>
      <p:sp>
        <p:nvSpPr>
          <p:cNvPr id="6" name="Shape 3"/>
          <p:cNvSpPr/>
          <p:nvPr/>
        </p:nvSpPr>
        <p:spPr>
          <a:xfrm>
            <a:off x="6045049" y="2036366"/>
            <a:ext cx="5841854" cy="1091406"/>
          </a:xfrm>
          <a:prstGeom prst="rect">
            <a:avLst/>
          </a:prstGeom>
          <a:solidFill>
            <a:srgbClr val="F3EB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248244" y="2214737"/>
            <a:ext cx="5435464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PID: 3063 · Name: sample_workload · State: R · CPU: 100.00% · Memory: 1820 KB · Score: 55/100 · Workload: HIGH · Role: BACKGROUND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045049" y="3315859"/>
            <a:ext cx="2768531" cy="3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400" kern="100" spc="-29" dirty="0">
                <a:solidFill>
                  <a:srgbClr val="4B2E22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100% CPU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45049" y="3806535"/>
            <a:ext cx="2768531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kern="100" spc="10" dirty="0">
                <a:solidFill>
                  <a:srgbClr val="7A5B4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Measured resource use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18372" y="3315859"/>
            <a:ext cx="2768531" cy="3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400" kern="100" spc="-29" dirty="0">
                <a:solidFill>
                  <a:srgbClr val="4B2E22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55/100 score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118372" y="3806535"/>
            <a:ext cx="2768531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kern="100" spc="10" dirty="0">
                <a:solidFill>
                  <a:srgbClr val="7A5B4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Quantitative result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45049" y="4327295"/>
            <a:ext cx="2768531" cy="3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400" kern="100" spc="-29" dirty="0">
                <a:solidFill>
                  <a:srgbClr val="4B2E22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HIGH load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045049" y="4817971"/>
            <a:ext cx="2768531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kern="100" spc="10" dirty="0">
                <a:solidFill>
                  <a:srgbClr val="7A5B4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18372" y="4327295"/>
            <a:ext cx="2768531" cy="70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400" kern="100" spc="-29" dirty="0">
                <a:solidFill>
                  <a:srgbClr val="4B2E22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BACKGROUND role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9118372" y="5171488"/>
            <a:ext cx="2768531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kern="100" spc="10" dirty="0">
                <a:solidFill>
                  <a:srgbClr val="7A5B4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Workload context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45049" y="5556294"/>
            <a:ext cx="5841854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4B2E22"/>
                </a:solidFill>
                <a:latin typeface="Geologica Bold" pitchFamily="34" charset="0"/>
                <a:ea typeface="Geologica Bold" pitchFamily="34" charset="-122"/>
                <a:cs typeface="Geologica Bold" pitchFamily="34" charset="-120"/>
              </a:rPr>
              <a:t>Result:</a:t>
            </a:r>
            <a:r>
              <a:rPr lang="en-US" sz="16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 a real CPU-intensive workload was detected and classified.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845231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1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904"/>
            <a:ext cx="11582110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kern="100" spc="50" dirty="0">
                <a:solidFill>
                  <a:srgbClr val="7A5B4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OUTCOME 2 · SAFE DECISION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09585" y="794407"/>
            <a:ext cx="10972526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250" kern="100" spc="-41" dirty="0">
                <a:solidFill>
                  <a:srgbClr val="4B2E22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High load becomes REVIEW, not termination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97707" y="1096131"/>
            <a:ext cx="4023220" cy="5497810"/>
          </a:xfrm>
          <a:prstGeom prst="rect">
            <a:avLst/>
          </a:prstGeom>
          <a:solidFill>
            <a:srgbClr val="F3EBD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1256308"/>
            <a:ext cx="3718427" cy="448885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38896" y="5122814"/>
            <a:ext cx="3718427" cy="758031"/>
          </a:xfrm>
          <a:prstGeom prst="rect">
            <a:avLst/>
          </a:prstGeom>
          <a:solidFill>
            <a:srgbClr val="E7C9A8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Shape 4"/>
          <p:cNvSpPr/>
          <p:nvPr/>
        </p:nvSpPr>
        <p:spPr>
          <a:xfrm>
            <a:off x="5284667" y="5122814"/>
            <a:ext cx="19050" cy="758031"/>
          </a:xfrm>
          <a:prstGeom prst="rect">
            <a:avLst/>
          </a:prstGeom>
          <a:solidFill>
            <a:srgbClr val="4B2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549488" y="5270765"/>
            <a:ext cx="3521582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kern="100" spc="5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SAFETY RULE</a:t>
            </a:r>
            <a:endParaRPr lang="en-US" sz="1100" b="1" dirty="0"/>
          </a:p>
        </p:txBody>
      </p:sp>
      <p:sp>
        <p:nvSpPr>
          <p:cNvPr id="9" name="Text 6"/>
          <p:cNvSpPr/>
          <p:nvPr/>
        </p:nvSpPr>
        <p:spPr>
          <a:xfrm>
            <a:off x="5549488" y="5449987"/>
            <a:ext cx="334378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200" kern="100" spc="-14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No process is automatically stopped or terminated.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584043"/>
              </p:ext>
            </p:extLst>
          </p:nvPr>
        </p:nvGraphicFramePr>
        <p:xfrm>
          <a:off x="5038896" y="1974531"/>
          <a:ext cx="6949306" cy="2793970"/>
        </p:xfrm>
        <a:graphic>
          <a:graphicData uri="http://schemas.openxmlformats.org/drawingml/2006/table">
            <a:tbl>
              <a:tblPr/>
              <a:tblGrid>
                <a:gridCol w="2430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1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8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60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kern="100" spc="83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WORKLOAD</a:t>
                      </a:r>
                      <a:endParaRPr lang="en-US" sz="20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126997" marB="126997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kern="100" spc="83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SCORE</a:t>
                      </a:r>
                      <a:endParaRPr lang="en-US" sz="20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126997" marB="126997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kern="100" spc="83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STATUS</a:t>
                      </a:r>
                      <a:endParaRPr lang="en-US" sz="20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126997" marB="126997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kern="100" spc="83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ACTION</a:t>
                      </a:r>
                      <a:endParaRPr lang="en-US" sz="20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126997" marB="126997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0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sample_workload</a:t>
                      </a:r>
                      <a:endParaRPr lang="en-US" sz="20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126997" marB="126997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55</a:t>
                      </a:r>
                      <a:endParaRPr lang="en-US" sz="20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126997" marB="126997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HIGH</a:t>
                      </a:r>
                      <a:endParaRPr lang="en-US" sz="20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126997" marB="126997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REVIEW</a:t>
                      </a:r>
                      <a:endParaRPr lang="en-US" sz="20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126997" marB="126997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0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systemd</a:t>
                      </a:r>
                      <a:endParaRPr lang="en-US" sz="20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126997" marB="126997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10</a:t>
                      </a:r>
                      <a:endParaRPr lang="en-US" sz="20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126997" marB="126997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LOW</a:t>
                      </a:r>
                      <a:endParaRPr lang="en-US" sz="20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126997" marB="126997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KEEP</a:t>
                      </a:r>
                      <a:endParaRPr lang="en-US" sz="20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126997" marB="126997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0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init</a:t>
                      </a:r>
                      <a:endParaRPr lang="en-US" sz="20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126997" marB="126997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10</a:t>
                      </a:r>
                      <a:endParaRPr lang="en-US" sz="20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126997" marB="126997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LOW</a:t>
                      </a:r>
                      <a:endParaRPr lang="en-US" sz="20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126997" marB="126997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KEEP</a:t>
                      </a:r>
                      <a:endParaRPr lang="en-US" sz="20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126997" marB="126997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3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systemd-journal</a:t>
                      </a:r>
                      <a:endParaRPr lang="en-US" sz="20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126997" marB="126997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10</a:t>
                      </a:r>
                      <a:endParaRPr lang="en-US" sz="20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126997" marB="126997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LOW</a:t>
                      </a:r>
                      <a:endParaRPr lang="en-US" sz="20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126997" marB="126997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KEEP</a:t>
                      </a:r>
                      <a:endParaRPr lang="en-US" sz="20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126997" marR="126997" marT="126997" marB="126997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190916" y="6148487"/>
            <a:ext cx="4315034" cy="26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kern="100" spc="6" dirty="0">
                <a:solidFill>
                  <a:srgbClr val="7A5B4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HIGH LOAD → review / reduce usage · MEDIUM → monitor · LOW → keep running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0845231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1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89458" cy="6858000"/>
          </a:xfrm>
          <a:prstGeom prst="rect">
            <a:avLst/>
          </a:prstGeom>
          <a:noFill/>
          <a:ln w="12700">
            <a:solidFill>
              <a:srgbClr val="D8B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15895" y="198120"/>
            <a:ext cx="547356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8" dirty="0">
                <a:solidFill>
                  <a:srgbClr val="7A5B4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EVIDENCE PLACEHOLDER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15895" y="570913"/>
            <a:ext cx="5473563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kern="100" spc="10" dirty="0">
                <a:solidFill>
                  <a:srgbClr val="7A5B4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PID 3063 is selected as the primary workload.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895" y="776585"/>
            <a:ext cx="5257668" cy="56012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05298" y="125585"/>
            <a:ext cx="5841854" cy="110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000" kern="100" spc="-90" dirty="0">
                <a:solidFill>
                  <a:srgbClr val="4B2E22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Primary workload protection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6045049" y="2101453"/>
            <a:ext cx="2717732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7000"/>
              </a:lnSpc>
              <a:buNone/>
            </a:pPr>
            <a:r>
              <a:rPr lang="en-US" sz="3600" kern="100" spc="-150" dirty="0">
                <a:solidFill>
                  <a:srgbClr val="4B2E22"/>
                </a:solidFill>
                <a:latin typeface="Oxanium Medium" pitchFamily="34" charset="0"/>
                <a:ea typeface="Oxanium Medium" pitchFamily="34" charset="-122"/>
                <a:cs typeface="Oxanium Medium" pitchFamily="34" charset="-120"/>
              </a:rPr>
              <a:t>PROTECT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045049" y="2770553"/>
            <a:ext cx="2717732" cy="3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400" kern="100" spc="-29" dirty="0">
                <a:solidFill>
                  <a:srgbClr val="4B2E22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Primary task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045049" y="3257991"/>
            <a:ext cx="292092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score 55 · HIGH PRIORITY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69171" y="2101453"/>
            <a:ext cx="2717732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7000"/>
              </a:lnSpc>
              <a:buNone/>
            </a:pPr>
            <a:r>
              <a:rPr lang="en-US" sz="3600" kern="100" spc="-150" dirty="0">
                <a:solidFill>
                  <a:srgbClr val="4B2E22"/>
                </a:solidFill>
                <a:latin typeface="Oxanium Medium" pitchFamily="34" charset="0"/>
                <a:ea typeface="Oxanium Medium" pitchFamily="34" charset="-122"/>
                <a:cs typeface="Oxanium Medium" pitchFamily="34" charset="-120"/>
              </a:rPr>
              <a:t>REVIEW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9169171" y="2770553"/>
            <a:ext cx="2717732" cy="3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400" kern="100" spc="-29" dirty="0">
                <a:solidFill>
                  <a:srgbClr val="4B2E22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Background role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9169171" y="3257991"/>
            <a:ext cx="2717732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55/100 → HIGH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146348" y="4447424"/>
            <a:ext cx="5841854" cy="1018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1350"/>
              </a:spcAft>
              <a:buNone/>
            </a:pPr>
            <a:r>
              <a:rPr lang="en-US" sz="1600" b="1" dirty="0">
                <a:solidFill>
                  <a:srgbClr val="4B2E22"/>
                </a:solidFill>
                <a:latin typeface="Geologica Bold" pitchFamily="34" charset="0"/>
                <a:ea typeface="Geologica Bold" pitchFamily="34" charset="-122"/>
                <a:cs typeface="Geologica Bold" pitchFamily="34" charset="-120"/>
              </a:rPr>
              <a:t>Primary role:</a:t>
            </a:r>
            <a:r>
              <a:rPr lang="en-US" sz="16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 55/100 → HIGH PRIORITY → PROTECT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4B2E22"/>
                </a:solidFill>
                <a:latin typeface="Geologica Bold" pitchFamily="34" charset="0"/>
                <a:ea typeface="Geologica Bold" pitchFamily="34" charset="-122"/>
                <a:cs typeface="Geologica Bold" pitchFamily="34" charset="-120"/>
              </a:rPr>
              <a:t>Main novelty:</a:t>
            </a:r>
            <a:r>
              <a:rPr lang="en-US" sz="16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 the same resource condition produces a different recommendation based on workload importance.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959626" y="2061766"/>
            <a:ext cx="12700" cy="1475284"/>
          </a:xfrm>
          <a:prstGeom prst="rect">
            <a:avLst/>
          </a:prstGeom>
          <a:solidFill>
            <a:srgbClr val="F8F0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10845231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1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384"/>
            <a:ext cx="11582110" cy="194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7" dirty="0">
                <a:solidFill>
                  <a:srgbClr val="7A5B4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ACCURACY OF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35874"/>
            <a:ext cx="10972526" cy="1308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900" kern="100" spc="-88" dirty="0">
                <a:solidFill>
                  <a:srgbClr val="4B2E22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Accuracy of results is demonstrated by actual output</a:t>
            </a:r>
            <a:endParaRPr lang="en-US" sz="4900" dirty="0"/>
          </a:p>
        </p:txBody>
      </p:sp>
      <p:sp>
        <p:nvSpPr>
          <p:cNvPr id="4" name="Shape 2"/>
          <p:cNvSpPr/>
          <p:nvPr/>
        </p:nvSpPr>
        <p:spPr>
          <a:xfrm>
            <a:off x="609585" y="2394446"/>
            <a:ext cx="4267093" cy="1630561"/>
          </a:xfrm>
          <a:prstGeom prst="rect">
            <a:avLst/>
          </a:prstGeom>
          <a:solidFill>
            <a:srgbClr val="E7C9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09585" y="2394446"/>
            <a:ext cx="19050" cy="1630561"/>
          </a:xfrm>
          <a:prstGeom prst="rect">
            <a:avLst/>
          </a:prstGeom>
          <a:solidFill>
            <a:srgbClr val="4B2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06430" y="2533501"/>
            <a:ext cx="3892453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350" kern="100" spc="-28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Proof chain: CPU → score → classification → action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806430" y="3352899"/>
            <a:ext cx="3892453" cy="545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Geologica Bold" pitchFamily="34" charset="0"/>
                <a:ea typeface="Geologica Bold" pitchFamily="34" charset="-122"/>
                <a:cs typeface="Geologica Bold" pitchFamily="34" charset="-120"/>
              </a:rPr>
              <a:t>Evaluation is based on actual program output, not only source-code claims.</a:t>
            </a:r>
            <a:endParaRPr lang="en-US" sz="15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371" y="2394446"/>
          <a:ext cx="6400740" cy="4514142"/>
        </p:xfrm>
        <a:graphic>
          <a:graphicData uri="http://schemas.openxmlformats.org/drawingml/2006/table">
            <a:tbl>
              <a:tblPr/>
              <a:tblGrid>
                <a:gridCol w="18536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8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9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kern="100" spc="126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METRIC</a:t>
                      </a:r>
                      <a:endParaRPr lang="en-US" sz="155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6198" marR="76198" marT="38099" marB="38099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kern="100" spc="126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OBSERVED RESULT</a:t>
                      </a:r>
                      <a:endParaRPr lang="en-US" sz="155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6198" marR="76198" marT="38099" marB="38099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kern="100" spc="126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INTERPRETATION</a:t>
                      </a:r>
                      <a:endParaRPr lang="en-US" sz="155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6198" marR="76198" marT="38099" marB="38099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9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CPU usage</a:t>
                      </a:r>
                      <a:endParaRPr lang="en-US" sz="155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6198" marR="76198" marT="38099" marB="38099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100%</a:t>
                      </a:r>
                      <a:endParaRPr lang="en-US" sz="155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6198" marR="76198" marT="38099" marB="38099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High CPU workload detected</a:t>
                      </a:r>
                      <a:endParaRPr lang="en-US" sz="155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6198" marR="76198" marT="38099" marB="38099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4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Memory</a:t>
                      </a:r>
                      <a:endParaRPr lang="en-US" sz="155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6198" marR="76198" marT="38099" marB="38099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1820 KB</a:t>
                      </a:r>
                      <a:endParaRPr lang="en-US" sz="155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6198" marR="76198" marT="38099" marB="38099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Resource usage measured</a:t>
                      </a:r>
                      <a:endParaRPr lang="en-US" sz="155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6198" marR="76198" marT="38099" marB="38099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9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Workload score</a:t>
                      </a:r>
                      <a:endParaRPr lang="en-US" sz="155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6198" marR="76198" marT="38099" marB="38099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55/100</a:t>
                      </a:r>
                      <a:endParaRPr lang="en-US" sz="155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6198" marR="76198" marT="38099" marB="38099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Quantitative evaluation generated</a:t>
                      </a:r>
                      <a:endParaRPr lang="en-US" sz="155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6198" marR="76198" marT="38099" marB="38099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9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Classification</a:t>
                      </a:r>
                      <a:endParaRPr lang="en-US" sz="155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6198" marR="76198" marT="38099" marB="38099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HIGH</a:t>
                      </a:r>
                      <a:endParaRPr lang="en-US" sz="155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6198" marR="76198" marT="38099" marB="38099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High-load workload identified</a:t>
                      </a:r>
                      <a:endParaRPr lang="en-US" sz="155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6198" marR="76198" marT="38099" marB="38099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39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Role</a:t>
                      </a:r>
                      <a:endParaRPr lang="en-US" sz="155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6198" marR="76198" marT="38099" marB="38099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BACKGROUND</a:t>
                      </a:r>
                      <a:endParaRPr lang="en-US" sz="155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6198" marR="76198" marT="38099" marB="38099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Background workload identified</a:t>
                      </a:r>
                      <a:endParaRPr lang="en-US" sz="155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6198" marR="76198" marT="38099" marB="38099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4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Recommendation</a:t>
                      </a:r>
                      <a:endParaRPr lang="en-US" sz="155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6198" marR="76198" marT="38099" marB="38099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REVIEW</a:t>
                      </a:r>
                      <a:endParaRPr lang="en-US" sz="155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6198" marR="76198" marT="38099" marB="38099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Safe action generated</a:t>
                      </a:r>
                      <a:endParaRPr lang="en-US" sz="155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6198" marR="76198" marT="38099" marB="38099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12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Primary role</a:t>
                      </a:r>
                      <a:endParaRPr lang="en-US" sz="155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6198" marR="76198" marT="38099" marB="38099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HIGH PRIORITY</a:t>
                      </a:r>
                      <a:endParaRPr lang="en-US" sz="155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6198" marR="76198" marT="38099" marB="38099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4B2E22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Important workload protected</a:t>
                      </a:r>
                      <a:endParaRPr lang="en-US" sz="155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6198" marR="76198" marT="38099" marB="38099" anchor="ctr">
                    <a:lnL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B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6"/>
          <p:cNvSpPr/>
          <p:nvPr/>
        </p:nvSpPr>
        <p:spPr>
          <a:xfrm>
            <a:off x="10845231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1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8" dirty="0">
                <a:solidFill>
                  <a:srgbClr val="7A5B4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RUBRIC ALIGNMENT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2731"/>
            <a:ext cx="10972526" cy="666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000" kern="100" spc="-90" dirty="0">
                <a:solidFill>
                  <a:srgbClr val="4B2E22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Innovation, sustainability, and utility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1758236"/>
            <a:ext cx="36575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8" dirty="0">
                <a:solidFill>
                  <a:srgbClr val="7A5B4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INNOVATION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585" y="2062956"/>
            <a:ext cx="3454314" cy="1783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Role-aware workload decisions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Resource usage combined with workload importance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Recommendation-based management without blind termination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470288" y="1758236"/>
            <a:ext cx="345431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8" dirty="0">
                <a:solidFill>
                  <a:srgbClr val="7A5B4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70288" y="2062956"/>
            <a:ext cx="3251119" cy="2064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Lightweight, modular C/Linux implementation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Works with different running processes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Extendable to adaptive thresholds and historical analysis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7797" y="1758236"/>
            <a:ext cx="345431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8" dirty="0">
                <a:solidFill>
                  <a:srgbClr val="7A5B4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UTILITY TO SOCIETY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7797" y="2062956"/>
            <a:ext cx="3454314" cy="2395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Helps identify resource-heavy processes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Can improve responsiveness on resource-constrained systems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Useful for computer labs and shared systems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Provides understandable workload recommendations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60743" y="1750616"/>
            <a:ext cx="12700" cy="2707878"/>
          </a:xfrm>
          <a:prstGeom prst="rect">
            <a:avLst/>
          </a:prstGeom>
          <a:solidFill>
            <a:srgbClr val="F8F0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18252" y="1750616"/>
            <a:ext cx="12700" cy="2707878"/>
          </a:xfrm>
          <a:prstGeom prst="rect">
            <a:avLst/>
          </a:prstGeom>
          <a:solidFill>
            <a:srgbClr val="F8F0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845231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1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78" dirty="0">
                <a:solidFill>
                  <a:srgbClr val="7A5B4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FINAL OUTCOME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2731"/>
            <a:ext cx="10972526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000" kern="100" spc="-90" dirty="0">
                <a:solidFill>
                  <a:srgbClr val="4B2E22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Final outcome: one workload, two safe actions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09585" y="2417366"/>
            <a:ext cx="10972526" cy="763984"/>
          </a:xfrm>
          <a:prstGeom prst="rect">
            <a:avLst/>
          </a:prstGeom>
          <a:solidFill>
            <a:srgbClr val="F3EB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3578" y="2520299"/>
            <a:ext cx="10464538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REAL LINUX PROCESS → CPU / MEMORY MONITORING → 55/100 SCORE → HIGH WORKLOAD → ROLE IDENTIFICATION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3359150"/>
            <a:ext cx="5283068" cy="675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850"/>
              </a:spcAft>
              <a:buNone/>
            </a:pPr>
            <a:r>
              <a:rPr lang="en-US" sz="1600" b="1" dirty="0">
                <a:solidFill>
                  <a:srgbClr val="4B2E22"/>
                </a:solidFill>
                <a:latin typeface="Geologica Bold" pitchFamily="34" charset="0"/>
                <a:ea typeface="Geologica Bold" pitchFamily="34" charset="-122"/>
                <a:cs typeface="Geologica Bold" pitchFamily="34" charset="-120"/>
              </a:rPr>
              <a:t>BACKGROUND → REVIEW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Review or reduce resource usage.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99042" y="3359150"/>
            <a:ext cx="5283068" cy="675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850"/>
              </a:spcAft>
              <a:buNone/>
            </a:pPr>
            <a:r>
              <a:rPr lang="en-US" sz="1600" b="1" dirty="0">
                <a:solidFill>
                  <a:srgbClr val="4B2E22"/>
                </a:solidFill>
                <a:latin typeface="Geologica Bold" pitchFamily="34" charset="0"/>
                <a:ea typeface="Geologica Bold" pitchFamily="34" charset="-122"/>
                <a:cs typeface="Geologica Bold" pitchFamily="34" charset="-120"/>
              </a:rPr>
              <a:t>PRIMARY → PROTECT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Protect the important workload.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585" y="4212034"/>
            <a:ext cx="5410065" cy="1554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Real Linux processes monitored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High CPU workload detected successfully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Workload score and classification generated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Role-aware recommendation and primary protection demonstrated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72046" y="4213368"/>
            <a:ext cx="5410065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Smart Workload Manager provides a practical OS-level approach for monitoring workloads and recommending safe actions while protecting important processes.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72046" y="5167511"/>
            <a:ext cx="5410065" cy="74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Aft>
                <a:spcPts val="850"/>
              </a:spcAft>
              <a:buNone/>
            </a:pPr>
            <a:r>
              <a:rPr lang="en-US" sz="1200" kern="100" spc="10" dirty="0">
                <a:solidFill>
                  <a:srgbClr val="7A5B4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Future scope: historical workload trends · alerts · GUI dashboard · adaptive thresholds · ML-based workload prediction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kern="100" spc="10" dirty="0">
                <a:solidFill>
                  <a:srgbClr val="7A5B4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Thank you · Questions?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9498" y="3359150"/>
            <a:ext cx="12700" cy="675084"/>
          </a:xfrm>
          <a:prstGeom prst="rect">
            <a:avLst/>
          </a:prstGeom>
          <a:solidFill>
            <a:srgbClr val="F8F0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845231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100" dirty="0">
                <a:solidFill>
                  <a:srgbClr val="4B2E22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725</Words>
  <Application>Microsoft Office PowerPoint</Application>
  <PresentationFormat>Widescreen</PresentationFormat>
  <Paragraphs>202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Oxanium Medium</vt:lpstr>
      <vt:lpstr>Geologica</vt:lpstr>
      <vt:lpstr>Geologica Medium</vt:lpstr>
      <vt:lpstr>Roboto</vt:lpstr>
      <vt:lpstr>Geologica Bold</vt:lpstr>
      <vt:lpstr>Raleway Bold</vt:lpstr>
      <vt:lpstr>Arial</vt:lpstr>
      <vt:lpstr>Geologica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Snikitha Sree</cp:lastModifiedBy>
  <cp:revision>2</cp:revision>
  <dcterms:created xsi:type="dcterms:W3CDTF">2026-10-07T05:48:15Z</dcterms:created>
  <dcterms:modified xsi:type="dcterms:W3CDTF">2026-10-07T06:15:26Z</dcterms:modified>
</cp:coreProperties>
</file>