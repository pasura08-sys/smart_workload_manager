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embeddedFontLst>
    <p:embeddedFont>
      <p:font typeface="Raleway" pitchFamily="2" charset="0"/>
      <p:regular r:id="rId14"/>
    </p:embeddedFont>
    <p:embeddedFont>
      <p:font typeface="Raleway Bold" panose="020B0604020202020204" charset="0"/>
      <p:regular r:id="rId15"/>
    </p:embeddedFont>
    <p:embeddedFont>
      <p:font typeface="Roboto" panose="02000000000000000000" pitchFamily="2" charset="0"/>
      <p:regular r:id="rId16"/>
    </p:embeddedFont>
    <p:embeddedFont>
      <p:font typeface="Roboto Bold" panose="02000000000000000000"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D92B09-F753-4BDF-9CDD-1DD5B696F68B}" v="3" dt="2026-10-07T05:55:39.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ikitha Sree" userId="ac4d07f1bab63eb6" providerId="LiveId" clId="{7398F2C9-7B98-461F-AE1A-05F166BD71D0}"/>
    <pc:docChg chg="modSld">
      <pc:chgData name="Snikitha Sree" userId="ac4d07f1bab63eb6" providerId="LiveId" clId="{7398F2C9-7B98-461F-AE1A-05F166BD71D0}" dt="2026-10-07T06:02:29.479" v="8"/>
      <pc:docMkLst>
        <pc:docMk/>
      </pc:docMkLst>
      <pc:sldChg chg="addSp delSp modSp mod">
        <pc:chgData name="Snikitha Sree" userId="ac4d07f1bab63eb6" providerId="LiveId" clId="{7398F2C9-7B98-461F-AE1A-05F166BD71D0}" dt="2026-10-07T06:02:29.479" v="8"/>
        <pc:sldMkLst>
          <pc:docMk/>
          <pc:sldMk cId="0" sldId="256"/>
        </pc:sldMkLst>
        <pc:spChg chg="add del mod">
          <ac:chgData name="Snikitha Sree" userId="ac4d07f1bab63eb6" providerId="LiveId" clId="{7398F2C9-7B98-461F-AE1A-05F166BD71D0}" dt="2026-10-07T05:55:17.971" v="2"/>
          <ac:spMkLst>
            <pc:docMk/>
            <pc:sldMk cId="0" sldId="256"/>
            <ac:spMk id="14" creationId="{F6373714-EE84-A24E-1993-7212B2162757}"/>
          </ac:spMkLst>
        </pc:spChg>
        <pc:spChg chg="add del mod">
          <ac:chgData name="Snikitha Sree" userId="ac4d07f1bab63eb6" providerId="LiveId" clId="{7398F2C9-7B98-461F-AE1A-05F166BD71D0}" dt="2026-10-07T05:55:22.532" v="5"/>
          <ac:spMkLst>
            <pc:docMk/>
            <pc:sldMk cId="0" sldId="256"/>
            <ac:spMk id="15" creationId="{59144DBB-5B1F-31A0-E023-256BCFF4D792}"/>
          </ac:spMkLst>
        </pc:spChg>
        <pc:spChg chg="add del mod">
          <ac:chgData name="Snikitha Sree" userId="ac4d07f1bab63eb6" providerId="LiveId" clId="{7398F2C9-7B98-461F-AE1A-05F166BD71D0}" dt="2026-10-07T06:02:29.479" v="8"/>
          <ac:spMkLst>
            <pc:docMk/>
            <pc:sldMk cId="0" sldId="256"/>
            <ac:spMk id="16" creationId="{77C03635-F76D-5A45-BF68-27C71B21D9B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9789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txBody>
          <a:bodyPr/>
          <a:lstStyle/>
          <a:p>
            <a:endParaRPr lang="en-IN"/>
          </a:p>
        </p:txBody>
      </p:sp>
      <p:sp>
        <p:nvSpPr>
          <p:cNvPr id="3" name="Shape 1"/>
          <p:cNvSpPr/>
          <p:nvPr/>
        </p:nvSpPr>
        <p:spPr>
          <a:xfrm>
            <a:off x="0" y="0"/>
            <a:ext cx="9144000" cy="5143500"/>
          </a:xfrm>
          <a:prstGeom prst="rect">
            <a:avLst/>
          </a:prstGeom>
          <a:solidFill>
            <a:srgbClr val="FFFFFF">
              <a:alpha val="95000"/>
            </a:srgbClr>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186755"/>
            <a:ext cx="8151763" cy="387548"/>
          </a:xfrm>
          <a:prstGeom prst="rect">
            <a:avLst/>
          </a:prstGeom>
          <a:noFill/>
          <a:ln/>
        </p:spPr>
        <p:txBody>
          <a:bodyPr wrap="none" lIns="0" tIns="0" rIns="0" bIns="0" rtlCol="0" anchor="t"/>
          <a:lstStyle/>
          <a:p>
            <a:pPr marL="0" indent="0" algn="ctr">
              <a:lnSpc>
                <a:spcPct val="104000"/>
              </a:lnSpc>
              <a:buNone/>
            </a:pPr>
            <a:r>
              <a:rPr lang="en-US" sz="2400" dirty="0">
                <a:solidFill>
                  <a:srgbClr val="1B1B27"/>
                </a:solidFill>
                <a:latin typeface="Raleway" pitchFamily="34" charset="0"/>
                <a:ea typeface="Raleway" pitchFamily="34" charset="-122"/>
                <a:cs typeface="Raleway" pitchFamily="34" charset="-120"/>
              </a:rPr>
              <a:t>SMART WORKLOAD MANAGER</a:t>
            </a:r>
            <a:endParaRPr lang="en-US" sz="2400" dirty="0"/>
          </a:p>
        </p:txBody>
      </p:sp>
      <p:sp>
        <p:nvSpPr>
          <p:cNvPr id="3" name="Text 1"/>
          <p:cNvSpPr/>
          <p:nvPr/>
        </p:nvSpPr>
        <p:spPr>
          <a:xfrm>
            <a:off x="496119" y="1623864"/>
            <a:ext cx="8151763" cy="193849"/>
          </a:xfrm>
          <a:prstGeom prst="rect">
            <a:avLst/>
          </a:prstGeom>
          <a:noFill/>
          <a:ln/>
        </p:spPr>
        <p:txBody>
          <a:bodyPr wrap="none" lIns="0" tIns="0" rIns="0" bIns="0" rtlCol="0" anchor="t"/>
          <a:lstStyle/>
          <a:p>
            <a:pPr marL="0" indent="0" algn="ctr">
              <a:lnSpc>
                <a:spcPct val="104000"/>
              </a:lnSpc>
              <a:buNone/>
            </a:pPr>
            <a:r>
              <a:rPr lang="en-US" sz="1200" dirty="0">
                <a:solidFill>
                  <a:srgbClr val="1B1B27"/>
                </a:solidFill>
                <a:latin typeface="Raleway" pitchFamily="34" charset="0"/>
                <a:ea typeface="Raleway" pitchFamily="34" charset="-122"/>
                <a:cs typeface="Raleway" pitchFamily="34" charset="-120"/>
              </a:rPr>
              <a:t>An Intelligent System for Monitoring and Managing Running Applications</a:t>
            </a:r>
            <a:endParaRPr lang="en-US" sz="1200" dirty="0"/>
          </a:p>
        </p:txBody>
      </p:sp>
      <p:sp>
        <p:nvSpPr>
          <p:cNvPr id="4" name="Shape 2"/>
          <p:cNvSpPr/>
          <p:nvPr/>
        </p:nvSpPr>
        <p:spPr>
          <a:xfrm>
            <a:off x="4236541" y="2003747"/>
            <a:ext cx="670917" cy="188565"/>
          </a:xfrm>
          <a:prstGeom prst="roundRect">
            <a:avLst>
              <a:gd name="adj" fmla="val 22104"/>
            </a:avLst>
          </a:prstGeom>
          <a:solidFill>
            <a:srgbClr val="E1E1EA"/>
          </a:solidFill>
          <a:ln/>
        </p:spPr>
        <p:txBody>
          <a:bodyPr/>
          <a:lstStyle/>
          <a:p>
            <a:endParaRPr lang="en-IN"/>
          </a:p>
        </p:txBody>
      </p:sp>
      <p:sp>
        <p:nvSpPr>
          <p:cNvPr id="5" name="Text 3"/>
          <p:cNvSpPr/>
          <p:nvPr/>
        </p:nvSpPr>
        <p:spPr>
          <a:xfrm>
            <a:off x="4310955" y="2040954"/>
            <a:ext cx="979289" cy="114151"/>
          </a:xfrm>
          <a:prstGeom prst="rect">
            <a:avLst/>
          </a:prstGeom>
          <a:noFill/>
          <a:ln/>
        </p:spPr>
        <p:txBody>
          <a:bodyPr wrap="none" lIns="0" tIns="0" rIns="0" bIns="0" rtlCol="0" anchor="t"/>
          <a:lstStyle/>
          <a:p>
            <a:pPr marL="0" indent="0" algn="l">
              <a:lnSpc>
                <a:spcPct val="96000"/>
              </a:lnSpc>
              <a:buNone/>
            </a:pPr>
            <a:r>
              <a:rPr lang="en-US" sz="750" dirty="0">
                <a:solidFill>
                  <a:srgbClr val="3C3939"/>
                </a:solidFill>
                <a:latin typeface="Roboto" pitchFamily="34" charset="0"/>
                <a:ea typeface="Roboto" pitchFamily="34" charset="-122"/>
                <a:cs typeface="Roboto" pitchFamily="34" charset="-120"/>
              </a:rPr>
              <a:t>REVIEW – 2</a:t>
            </a:r>
            <a:endParaRPr lang="en-US" sz="750" dirty="0"/>
          </a:p>
        </p:txBody>
      </p:sp>
      <p:sp>
        <p:nvSpPr>
          <p:cNvPr id="6" name="Shape 4"/>
          <p:cNvSpPr/>
          <p:nvPr/>
        </p:nvSpPr>
        <p:spPr>
          <a:xfrm>
            <a:off x="496119" y="2362795"/>
            <a:ext cx="8151763" cy="14288"/>
          </a:xfrm>
          <a:prstGeom prst="roundRect">
            <a:avLst>
              <a:gd name="adj" fmla="val 49998"/>
            </a:avLst>
          </a:prstGeom>
          <a:solidFill>
            <a:srgbClr val="3C3939">
              <a:alpha val="50000"/>
            </a:srgbClr>
          </a:solidFill>
          <a:ln/>
        </p:spPr>
        <p:txBody>
          <a:bodyPr/>
          <a:lstStyle/>
          <a:p>
            <a:endParaRPr lang="en-IN"/>
          </a:p>
        </p:txBody>
      </p:sp>
      <p:sp>
        <p:nvSpPr>
          <p:cNvPr id="7" name="Shape 5"/>
          <p:cNvSpPr/>
          <p:nvPr/>
        </p:nvSpPr>
        <p:spPr>
          <a:xfrm>
            <a:off x="406822" y="2547565"/>
            <a:ext cx="4103191" cy="1409179"/>
          </a:xfrm>
          <a:prstGeom prst="roundRect">
            <a:avLst>
              <a:gd name="adj" fmla="val 6338"/>
            </a:avLst>
          </a:prstGeom>
          <a:solidFill>
            <a:srgbClr val="1B1B27">
              <a:alpha val="95000"/>
            </a:srgbClr>
          </a:solidFill>
          <a:ln/>
        </p:spPr>
        <p:txBody>
          <a:bodyPr/>
          <a:lstStyle/>
          <a:p>
            <a:endParaRPr lang="en-IN"/>
          </a:p>
        </p:txBody>
      </p:sp>
      <p:sp>
        <p:nvSpPr>
          <p:cNvPr id="8" name="Text 6"/>
          <p:cNvSpPr/>
          <p:nvPr/>
        </p:nvSpPr>
        <p:spPr>
          <a:xfrm>
            <a:off x="530796" y="2671539"/>
            <a:ext cx="3855244" cy="193849"/>
          </a:xfrm>
          <a:prstGeom prst="rect">
            <a:avLst/>
          </a:prstGeom>
          <a:noFill/>
          <a:ln/>
        </p:spPr>
        <p:txBody>
          <a:bodyPr wrap="none" lIns="0" tIns="0" rIns="0" bIns="0" rtlCol="0" anchor="t"/>
          <a:lstStyle/>
          <a:p>
            <a:pPr marL="0" indent="0" algn="l">
              <a:lnSpc>
                <a:spcPct val="104000"/>
              </a:lnSpc>
              <a:buNone/>
            </a:pPr>
            <a:r>
              <a:rPr lang="en-US" sz="1200" b="1" dirty="0">
                <a:solidFill>
                  <a:srgbClr val="FFFFFF"/>
                </a:solidFill>
                <a:latin typeface="Raleway Bold" pitchFamily="34" charset="0"/>
                <a:ea typeface="Raleway Bold" pitchFamily="34" charset="-122"/>
                <a:cs typeface="Raleway Bold" pitchFamily="34" charset="-120"/>
              </a:rPr>
              <a:t>Team Members</a:t>
            </a:r>
            <a:endParaRPr lang="en-US" sz="1200" dirty="0"/>
          </a:p>
        </p:txBody>
      </p:sp>
      <p:sp>
        <p:nvSpPr>
          <p:cNvPr id="9" name="Text 7"/>
          <p:cNvSpPr/>
          <p:nvPr/>
        </p:nvSpPr>
        <p:spPr>
          <a:xfrm>
            <a:off x="530796" y="2989362"/>
            <a:ext cx="3855244" cy="923999"/>
          </a:xfrm>
          <a:prstGeom prst="rect">
            <a:avLst/>
          </a:prstGeom>
          <a:noFill/>
          <a:ln/>
        </p:spPr>
        <p:txBody>
          <a:bodyPr wrap="square" lIns="0" tIns="49619" rIns="0" bIns="0" rtlCol="0" anchor="t">
            <a:normAutofit/>
          </a:bodyPr>
          <a:lstStyle/>
          <a:p>
            <a:pPr marL="193040" indent="-193040" algn="l">
              <a:lnSpc>
                <a:spcPct val="133000"/>
              </a:lnSpc>
              <a:buSzPct val="100000"/>
              <a:buChar char="•"/>
            </a:pPr>
            <a:r>
              <a:rPr lang="en-US" sz="950" dirty="0">
                <a:solidFill>
                  <a:srgbClr val="FFFFFF"/>
                </a:solidFill>
                <a:latin typeface="Roboto" pitchFamily="34" charset="0"/>
                <a:ea typeface="Roboto" pitchFamily="34" charset="-122"/>
                <a:cs typeface="Roboto" pitchFamily="34" charset="-120"/>
              </a:rPr>
              <a:t>Pavithra – 2510030271</a:t>
            </a:r>
            <a:endParaRPr lang="en-US" sz="950" dirty="0"/>
          </a:p>
          <a:p>
            <a:pPr marL="193040" indent="-193040" algn="l">
              <a:lnSpc>
                <a:spcPct val="133000"/>
              </a:lnSpc>
              <a:buSzPct val="100000"/>
              <a:buChar char="•"/>
            </a:pPr>
            <a:r>
              <a:rPr lang="en-US" sz="950" dirty="0">
                <a:solidFill>
                  <a:srgbClr val="FFFFFF"/>
                </a:solidFill>
                <a:latin typeface="Roboto" pitchFamily="34" charset="0"/>
                <a:ea typeface="Roboto" pitchFamily="34" charset="-122"/>
                <a:cs typeface="Roboto" pitchFamily="34" charset="-120"/>
              </a:rPr>
              <a:t>Snikitha Sree – 2510030305</a:t>
            </a:r>
            <a:endParaRPr lang="en-US" sz="950" dirty="0"/>
          </a:p>
          <a:p>
            <a:pPr marL="193040" indent="-193040" algn="l">
              <a:lnSpc>
                <a:spcPct val="133000"/>
              </a:lnSpc>
              <a:buSzPct val="100000"/>
              <a:buChar char="•"/>
            </a:pPr>
            <a:r>
              <a:rPr lang="en-US" sz="950" dirty="0">
                <a:solidFill>
                  <a:srgbClr val="FFFFFF"/>
                </a:solidFill>
                <a:latin typeface="Roboto" pitchFamily="34" charset="0"/>
                <a:ea typeface="Roboto" pitchFamily="34" charset="-122"/>
                <a:cs typeface="Roboto" pitchFamily="34" charset="-120"/>
              </a:rPr>
              <a:t>Anusha – 2510030174</a:t>
            </a:r>
            <a:endParaRPr lang="en-US" sz="950" dirty="0"/>
          </a:p>
          <a:p>
            <a:pPr marL="193040" indent="-193040" algn="l">
              <a:lnSpc>
                <a:spcPct val="133000"/>
              </a:lnSpc>
              <a:buSzPct val="100000"/>
              <a:buChar char="•"/>
            </a:pPr>
            <a:r>
              <a:rPr lang="en-US" sz="950" dirty="0">
                <a:solidFill>
                  <a:srgbClr val="FFFFFF"/>
                </a:solidFill>
                <a:latin typeface="Roboto" pitchFamily="34" charset="0"/>
                <a:ea typeface="Roboto" pitchFamily="34" charset="-122"/>
                <a:cs typeface="Roboto" pitchFamily="34" charset="-120"/>
              </a:rPr>
              <a:t>Lathika – 2510030252</a:t>
            </a:r>
            <a:endParaRPr lang="en-US" sz="950" dirty="0"/>
          </a:p>
        </p:txBody>
      </p:sp>
      <p:sp>
        <p:nvSpPr>
          <p:cNvPr id="10" name="Text 8"/>
          <p:cNvSpPr/>
          <p:nvPr/>
        </p:nvSpPr>
        <p:spPr>
          <a:xfrm>
            <a:off x="4728046" y="2671539"/>
            <a:ext cx="3924598" cy="193849"/>
          </a:xfrm>
          <a:prstGeom prst="rect">
            <a:avLst/>
          </a:prstGeom>
          <a:noFill/>
          <a:ln/>
        </p:spPr>
        <p:txBody>
          <a:bodyPr wrap="none" lIns="0" tIns="0" rIns="0" bIns="0" rtlCol="0" anchor="t"/>
          <a:lstStyle/>
          <a:p>
            <a:pPr marL="0" indent="0" algn="l">
              <a:lnSpc>
                <a:spcPct val="104000"/>
              </a:lnSpc>
              <a:buNone/>
            </a:pPr>
            <a:r>
              <a:rPr lang="en-US" sz="1200" b="1" dirty="0">
                <a:solidFill>
                  <a:srgbClr val="1B1B27"/>
                </a:solidFill>
                <a:latin typeface="Raleway Bold" pitchFamily="34" charset="0"/>
                <a:ea typeface="Raleway Bold" pitchFamily="34" charset="-122"/>
                <a:cs typeface="Raleway Bold" pitchFamily="34" charset="-120"/>
              </a:rPr>
              <a:t>Department</a:t>
            </a:r>
            <a:endParaRPr lang="en-US" sz="1200" dirty="0"/>
          </a:p>
        </p:txBody>
      </p:sp>
      <p:sp>
        <p:nvSpPr>
          <p:cNvPr id="11" name="Text 9"/>
          <p:cNvSpPr/>
          <p:nvPr/>
        </p:nvSpPr>
        <p:spPr>
          <a:xfrm>
            <a:off x="4728046" y="2989362"/>
            <a:ext cx="4381798" cy="198462"/>
          </a:xfrm>
          <a:prstGeom prst="rect">
            <a:avLst/>
          </a:prstGeom>
          <a:noFill/>
          <a:ln/>
        </p:spPr>
        <p:txBody>
          <a:bodyPr wrap="none" lIns="0" tIns="0" rIns="0" bIns="0" rtlCol="0" anchor="t"/>
          <a:lstStyle/>
          <a:p>
            <a:pPr marL="0" indent="0" algn="l">
              <a:lnSpc>
                <a:spcPct val="133000"/>
              </a:lnSpc>
              <a:buNone/>
            </a:pPr>
            <a:r>
              <a:rPr lang="en-US" sz="950" dirty="0">
                <a:solidFill>
                  <a:srgbClr val="3C3939"/>
                </a:solidFill>
                <a:latin typeface="Roboto" pitchFamily="34" charset="0"/>
                <a:ea typeface="Roboto" pitchFamily="34" charset="-122"/>
                <a:cs typeface="Roboto" pitchFamily="34" charset="-120"/>
              </a:rPr>
              <a:t>Computer Science &amp; Engineering</a:t>
            </a:r>
            <a:endParaRPr lang="en-US" sz="950" dirty="0"/>
          </a:p>
        </p:txBody>
      </p:sp>
      <p:sp>
        <p:nvSpPr>
          <p:cNvPr id="12" name="Text 10"/>
          <p:cNvSpPr/>
          <p:nvPr/>
        </p:nvSpPr>
        <p:spPr>
          <a:xfrm>
            <a:off x="4728046" y="3311798"/>
            <a:ext cx="3924598" cy="193849"/>
          </a:xfrm>
          <a:prstGeom prst="rect">
            <a:avLst/>
          </a:prstGeom>
          <a:noFill/>
          <a:ln/>
        </p:spPr>
        <p:txBody>
          <a:bodyPr wrap="none" lIns="0" tIns="0" rIns="0" bIns="0" rtlCol="0" anchor="t"/>
          <a:lstStyle/>
          <a:p>
            <a:pPr marL="0" indent="0" algn="l">
              <a:lnSpc>
                <a:spcPct val="104000"/>
              </a:lnSpc>
              <a:buNone/>
            </a:pPr>
            <a:r>
              <a:rPr lang="en-US" sz="1200" b="1" dirty="0">
                <a:solidFill>
                  <a:srgbClr val="1B1B27"/>
                </a:solidFill>
                <a:latin typeface="Raleway Bold" pitchFamily="34" charset="0"/>
                <a:ea typeface="Raleway Bold" pitchFamily="34" charset="-122"/>
                <a:cs typeface="Raleway Bold" pitchFamily="34" charset="-120"/>
              </a:rPr>
              <a:t>Supervisor</a:t>
            </a:r>
            <a:endParaRPr lang="en-US" sz="1200" dirty="0"/>
          </a:p>
        </p:txBody>
      </p:sp>
      <p:sp>
        <p:nvSpPr>
          <p:cNvPr id="13" name="Text 11"/>
          <p:cNvSpPr/>
          <p:nvPr/>
        </p:nvSpPr>
        <p:spPr>
          <a:xfrm>
            <a:off x="4728046" y="3629620"/>
            <a:ext cx="4381798" cy="198462"/>
          </a:xfrm>
          <a:prstGeom prst="rect">
            <a:avLst/>
          </a:prstGeom>
          <a:noFill/>
          <a:ln/>
        </p:spPr>
        <p:txBody>
          <a:bodyPr wrap="none" lIns="0" tIns="0" rIns="0" bIns="0" rtlCol="0" anchor="t"/>
          <a:lstStyle/>
          <a:p>
            <a:pPr marL="0" indent="0" algn="l">
              <a:lnSpc>
                <a:spcPct val="133000"/>
              </a:lnSpc>
              <a:buNone/>
            </a:pPr>
            <a:r>
              <a:rPr lang="en-US" sz="950" dirty="0">
                <a:solidFill>
                  <a:srgbClr val="3C3939"/>
                </a:solidFill>
                <a:latin typeface="Roboto" pitchFamily="34" charset="0"/>
                <a:ea typeface="Roboto" pitchFamily="34" charset="-122"/>
                <a:cs typeface="Roboto" pitchFamily="34" charset="-120"/>
              </a:rPr>
              <a:t>Dr.Pavan Kumar Pagadala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80405"/>
            <a:ext cx="8151763" cy="327050"/>
          </a:xfrm>
          <a:prstGeom prst="rect">
            <a:avLst/>
          </a:prstGeom>
          <a:noFill/>
          <a:ln/>
        </p:spPr>
        <p:txBody>
          <a:bodyPr wrap="none" lIns="0" tIns="0" rIns="0" bIns="0" rtlCol="0" anchor="t"/>
          <a:lstStyle/>
          <a:p>
            <a:pPr marL="0" indent="0" algn="l">
              <a:lnSpc>
                <a:spcPct val="104000"/>
              </a:lnSpc>
              <a:buNone/>
            </a:pPr>
            <a:r>
              <a:rPr lang="en-US" sz="2050" dirty="0">
                <a:solidFill>
                  <a:srgbClr val="1B1B27"/>
                </a:solidFill>
                <a:latin typeface="Raleway" pitchFamily="34" charset="0"/>
                <a:ea typeface="Raleway" pitchFamily="34" charset="-122"/>
                <a:cs typeface="Raleway" pitchFamily="34" charset="-120"/>
              </a:rPr>
              <a:t>Project Background &amp; Motivation</a:t>
            </a:r>
            <a:endParaRPr lang="en-US" sz="2050" dirty="0"/>
          </a:p>
        </p:txBody>
      </p:sp>
      <p:sp>
        <p:nvSpPr>
          <p:cNvPr id="3" name="Text 1"/>
          <p:cNvSpPr/>
          <p:nvPr/>
        </p:nvSpPr>
        <p:spPr>
          <a:xfrm>
            <a:off x="496119" y="742727"/>
            <a:ext cx="8151763" cy="196230"/>
          </a:xfrm>
          <a:prstGeom prst="rect">
            <a:avLst/>
          </a:prstGeom>
          <a:noFill/>
          <a:ln/>
        </p:spPr>
        <p:txBody>
          <a:bodyPr wrap="none" lIns="0" tIns="0" rIns="0" bIns="0" rtlCol="0" anchor="t"/>
          <a:lstStyle/>
          <a:p>
            <a:pPr marL="0" indent="0" algn="l">
              <a:lnSpc>
                <a:spcPct val="104000"/>
              </a:lnSpc>
              <a:buNone/>
            </a:pPr>
            <a:r>
              <a:rPr lang="en-US" sz="1200" b="1" dirty="0">
                <a:solidFill>
                  <a:srgbClr val="1B1B27"/>
                </a:solidFill>
                <a:latin typeface="Raleway Bold" pitchFamily="34" charset="0"/>
                <a:ea typeface="Raleway Bold" pitchFamily="34" charset="-122"/>
                <a:cs typeface="Raleway Bold" pitchFamily="34" charset="-120"/>
              </a:rPr>
              <a:t>Why Smart Workload Management?</a:t>
            </a:r>
            <a:endParaRPr lang="en-US" sz="1200" dirty="0"/>
          </a:p>
        </p:txBody>
      </p:sp>
      <p:sp>
        <p:nvSpPr>
          <p:cNvPr id="4" name="Shape 2"/>
          <p:cNvSpPr/>
          <p:nvPr/>
        </p:nvSpPr>
        <p:spPr>
          <a:xfrm>
            <a:off x="496119" y="1170756"/>
            <a:ext cx="235446" cy="235446"/>
          </a:xfrm>
          <a:prstGeom prst="roundRect">
            <a:avLst>
              <a:gd name="adj" fmla="val 18671"/>
            </a:avLst>
          </a:prstGeom>
          <a:solidFill>
            <a:srgbClr val="E1E1EA"/>
          </a:solidFill>
          <a:ln w="4763">
            <a:solidFill>
              <a:srgbClr val="C7C7D0"/>
            </a:solidFill>
            <a:prstDash val="solid"/>
          </a:ln>
        </p:spPr>
        <p:txBody>
          <a:bodyPr/>
          <a:lstStyle/>
          <a:p>
            <a:endParaRPr lang="en-IN"/>
          </a:p>
        </p:txBody>
      </p:sp>
      <p:sp>
        <p:nvSpPr>
          <p:cNvPr id="5" name="Text 3"/>
          <p:cNvSpPr/>
          <p:nvPr/>
        </p:nvSpPr>
        <p:spPr>
          <a:xfrm>
            <a:off x="819820" y="1206698"/>
            <a:ext cx="4044851" cy="163488"/>
          </a:xfrm>
          <a:prstGeom prst="rect">
            <a:avLst/>
          </a:prstGeom>
          <a:noFill/>
          <a:ln/>
        </p:spPr>
        <p:txBody>
          <a:bodyPr wrap="none" lIns="0" tIns="0" rIns="0" bIns="0" rtlCol="0" anchor="t"/>
          <a:lstStyle/>
          <a:p>
            <a:pPr marL="0" indent="0" algn="l">
              <a:lnSpc>
                <a:spcPct val="104000"/>
              </a:lnSpc>
              <a:buNone/>
            </a:pPr>
            <a:r>
              <a:rPr lang="en-US" sz="1000" b="1" dirty="0">
                <a:solidFill>
                  <a:srgbClr val="3C3939"/>
                </a:solidFill>
                <a:latin typeface="Raleway Bold" pitchFamily="34" charset="0"/>
                <a:ea typeface="Raleway Bold" pitchFamily="34" charset="-122"/>
                <a:cs typeface="Raleway Bold" pitchFamily="34" charset="-120"/>
              </a:rPr>
              <a:t>Resource Competition</a:t>
            </a:r>
            <a:endParaRPr lang="en-US" sz="1000" dirty="0"/>
          </a:p>
        </p:txBody>
      </p:sp>
      <p:sp>
        <p:nvSpPr>
          <p:cNvPr id="6" name="Text 4"/>
          <p:cNvSpPr/>
          <p:nvPr/>
        </p:nvSpPr>
        <p:spPr>
          <a:xfrm>
            <a:off x="819820" y="1458441"/>
            <a:ext cx="4044851" cy="463228"/>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3C3939"/>
                </a:solidFill>
                <a:latin typeface="Roboto" pitchFamily="34" charset="0"/>
                <a:ea typeface="Roboto" pitchFamily="34" charset="-122"/>
                <a:cs typeface="Roboto" pitchFamily="34" charset="-120"/>
              </a:rPr>
              <a:t>Modern computers execute multiple applications simultaneously. Applications compete for CPU and memory resources, and high resource consumption can reduce system responsiveness.</a:t>
            </a:r>
            <a:endParaRPr lang="en-US" sz="800" dirty="0"/>
          </a:p>
        </p:txBody>
      </p:sp>
      <p:sp>
        <p:nvSpPr>
          <p:cNvPr id="7" name="Shape 5"/>
          <p:cNvSpPr/>
          <p:nvPr/>
        </p:nvSpPr>
        <p:spPr>
          <a:xfrm>
            <a:off x="496119" y="2098253"/>
            <a:ext cx="235446" cy="235446"/>
          </a:xfrm>
          <a:prstGeom prst="roundRect">
            <a:avLst>
              <a:gd name="adj" fmla="val 18671"/>
            </a:avLst>
          </a:prstGeom>
          <a:solidFill>
            <a:srgbClr val="E1E1EA"/>
          </a:solidFill>
          <a:ln w="4763">
            <a:solidFill>
              <a:srgbClr val="C7C7D0"/>
            </a:solidFill>
            <a:prstDash val="solid"/>
          </a:ln>
        </p:spPr>
        <p:txBody>
          <a:bodyPr/>
          <a:lstStyle/>
          <a:p>
            <a:endParaRPr lang="en-IN"/>
          </a:p>
        </p:txBody>
      </p:sp>
      <p:sp>
        <p:nvSpPr>
          <p:cNvPr id="8" name="Text 6"/>
          <p:cNvSpPr/>
          <p:nvPr/>
        </p:nvSpPr>
        <p:spPr>
          <a:xfrm>
            <a:off x="819820" y="2134195"/>
            <a:ext cx="4044851" cy="163488"/>
          </a:xfrm>
          <a:prstGeom prst="rect">
            <a:avLst/>
          </a:prstGeom>
          <a:noFill/>
          <a:ln/>
        </p:spPr>
        <p:txBody>
          <a:bodyPr wrap="none" lIns="0" tIns="0" rIns="0" bIns="0" rtlCol="0" anchor="t"/>
          <a:lstStyle/>
          <a:p>
            <a:pPr marL="0" indent="0" algn="l">
              <a:lnSpc>
                <a:spcPct val="104000"/>
              </a:lnSpc>
              <a:buNone/>
            </a:pPr>
            <a:r>
              <a:rPr lang="en-US" sz="1000" b="1" dirty="0">
                <a:solidFill>
                  <a:srgbClr val="3C3939"/>
                </a:solidFill>
                <a:latin typeface="Raleway Bold" pitchFamily="34" charset="0"/>
                <a:ea typeface="Raleway Bold" pitchFamily="34" charset="-122"/>
                <a:cs typeface="Raleway Bold" pitchFamily="34" charset="-120"/>
              </a:rPr>
              <a:t>Limitations of Existing Tools</a:t>
            </a:r>
            <a:endParaRPr lang="en-US" sz="1000" dirty="0"/>
          </a:p>
        </p:txBody>
      </p:sp>
      <p:sp>
        <p:nvSpPr>
          <p:cNvPr id="9" name="Text 7"/>
          <p:cNvSpPr/>
          <p:nvPr/>
        </p:nvSpPr>
        <p:spPr>
          <a:xfrm>
            <a:off x="819820" y="2385938"/>
            <a:ext cx="4044851" cy="308818"/>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3C3939"/>
                </a:solidFill>
                <a:latin typeface="Roboto" pitchFamily="34" charset="0"/>
                <a:ea typeface="Roboto" pitchFamily="34" charset="-122"/>
                <a:cs typeface="Roboto" pitchFamily="34" charset="-120"/>
              </a:rPr>
              <a:t>Existing tools mainly show resource usage. Users still need to manually identify and manage problematic applications — there is no intelligent guidance built in.</a:t>
            </a:r>
            <a:endParaRPr lang="en-US" sz="800" dirty="0"/>
          </a:p>
        </p:txBody>
      </p:sp>
      <p:sp>
        <p:nvSpPr>
          <p:cNvPr id="10" name="Shape 8"/>
          <p:cNvSpPr/>
          <p:nvPr/>
        </p:nvSpPr>
        <p:spPr>
          <a:xfrm>
            <a:off x="496119" y="2871341"/>
            <a:ext cx="235446" cy="235446"/>
          </a:xfrm>
          <a:prstGeom prst="roundRect">
            <a:avLst>
              <a:gd name="adj" fmla="val 18671"/>
            </a:avLst>
          </a:prstGeom>
          <a:solidFill>
            <a:srgbClr val="E1E1EA"/>
          </a:solidFill>
          <a:ln w="4763">
            <a:solidFill>
              <a:srgbClr val="C7C7D0"/>
            </a:solidFill>
            <a:prstDash val="solid"/>
          </a:ln>
        </p:spPr>
        <p:txBody>
          <a:bodyPr/>
          <a:lstStyle/>
          <a:p>
            <a:endParaRPr lang="en-IN"/>
          </a:p>
        </p:txBody>
      </p:sp>
      <p:sp>
        <p:nvSpPr>
          <p:cNvPr id="11" name="Text 9"/>
          <p:cNvSpPr/>
          <p:nvPr/>
        </p:nvSpPr>
        <p:spPr>
          <a:xfrm>
            <a:off x="819820" y="2907283"/>
            <a:ext cx="4044851" cy="163488"/>
          </a:xfrm>
          <a:prstGeom prst="rect">
            <a:avLst/>
          </a:prstGeom>
          <a:noFill/>
          <a:ln/>
        </p:spPr>
        <p:txBody>
          <a:bodyPr wrap="none" lIns="0" tIns="0" rIns="0" bIns="0" rtlCol="0" anchor="t"/>
          <a:lstStyle/>
          <a:p>
            <a:pPr marL="0" indent="0" algn="l">
              <a:lnSpc>
                <a:spcPct val="104000"/>
              </a:lnSpc>
              <a:buNone/>
            </a:pPr>
            <a:r>
              <a:rPr lang="en-US" sz="1000" b="1" dirty="0">
                <a:solidFill>
                  <a:srgbClr val="3C3939"/>
                </a:solidFill>
                <a:latin typeface="Raleway Bold" pitchFamily="34" charset="0"/>
                <a:ea typeface="Raleway Bold" pitchFamily="34" charset="-122"/>
                <a:cs typeface="Raleway Bold" pitchFamily="34" charset="-120"/>
              </a:rPr>
              <a:t>The Opportunity</a:t>
            </a:r>
            <a:endParaRPr lang="en-US" sz="1000" dirty="0"/>
          </a:p>
        </p:txBody>
      </p:sp>
      <p:sp>
        <p:nvSpPr>
          <p:cNvPr id="12" name="Text 10"/>
          <p:cNvSpPr/>
          <p:nvPr/>
        </p:nvSpPr>
        <p:spPr>
          <a:xfrm>
            <a:off x="819820" y="3159026"/>
            <a:ext cx="4044851" cy="308818"/>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3C3939"/>
                </a:solidFill>
                <a:latin typeface="Roboto" pitchFamily="34" charset="0"/>
                <a:ea typeface="Roboto" pitchFamily="34" charset="-122"/>
                <a:cs typeface="Roboto" pitchFamily="34" charset="-120"/>
              </a:rPr>
              <a:t>Intelligent workload management can make this process more effective by automating analysis and surfacing actionable recommendations.</a:t>
            </a:r>
            <a:endParaRPr lang="en-US" sz="800" dirty="0"/>
          </a:p>
        </p:txBody>
      </p:sp>
      <p:pic>
        <p:nvPicPr>
          <p:cNvPr id="13" name="Image 0" descr="preencoded.png"/>
          <p:cNvPicPr>
            <a:picLocks noChangeAspect="1"/>
          </p:cNvPicPr>
          <p:nvPr/>
        </p:nvPicPr>
        <p:blipFill>
          <a:blip r:embed="rId3"/>
          <a:stretch>
            <a:fillRect/>
          </a:stretch>
        </p:blipFill>
        <p:spPr>
          <a:xfrm>
            <a:off x="5124673" y="1170756"/>
            <a:ext cx="313953" cy="714375"/>
          </a:xfrm>
          <a:prstGeom prst="rect">
            <a:avLst/>
          </a:prstGeom>
        </p:spPr>
      </p:pic>
      <p:sp>
        <p:nvSpPr>
          <p:cNvPr id="14" name="Text 11"/>
          <p:cNvSpPr/>
          <p:nvPr/>
        </p:nvSpPr>
        <p:spPr>
          <a:xfrm>
            <a:off x="5526881" y="1275383"/>
            <a:ext cx="3125688" cy="163488"/>
          </a:xfrm>
          <a:prstGeom prst="rect">
            <a:avLst/>
          </a:prstGeom>
          <a:noFill/>
          <a:ln/>
        </p:spPr>
        <p:txBody>
          <a:bodyPr wrap="none" lIns="0" tIns="0" rIns="0" bIns="0" rtlCol="0" anchor="t"/>
          <a:lstStyle/>
          <a:p>
            <a:pPr marL="0" indent="0" algn="l">
              <a:lnSpc>
                <a:spcPct val="104000"/>
              </a:lnSpc>
              <a:buNone/>
            </a:pPr>
            <a:r>
              <a:rPr lang="en-US" sz="1000" dirty="0">
                <a:solidFill>
                  <a:srgbClr val="3C3939"/>
                </a:solidFill>
                <a:latin typeface="Raleway" pitchFamily="34" charset="0"/>
                <a:ea typeface="Raleway" pitchFamily="34" charset="-122"/>
                <a:cs typeface="Raleway" pitchFamily="34" charset="-120"/>
              </a:rPr>
              <a:t>Multiple Applications</a:t>
            </a:r>
            <a:endParaRPr lang="en-US" sz="1000" dirty="0"/>
          </a:p>
        </p:txBody>
      </p:sp>
      <p:pic>
        <p:nvPicPr>
          <p:cNvPr id="15" name="Image 1" descr="preencoded.png"/>
          <p:cNvPicPr>
            <a:picLocks noChangeAspect="1"/>
          </p:cNvPicPr>
          <p:nvPr/>
        </p:nvPicPr>
        <p:blipFill>
          <a:blip r:embed="rId3"/>
          <a:stretch>
            <a:fillRect/>
          </a:stretch>
        </p:blipFill>
        <p:spPr>
          <a:xfrm>
            <a:off x="5281613" y="1886992"/>
            <a:ext cx="313953" cy="714375"/>
          </a:xfrm>
          <a:prstGeom prst="rect">
            <a:avLst/>
          </a:prstGeom>
        </p:spPr>
      </p:pic>
      <p:sp>
        <p:nvSpPr>
          <p:cNvPr id="16" name="Text 12"/>
          <p:cNvSpPr/>
          <p:nvPr/>
        </p:nvSpPr>
        <p:spPr>
          <a:xfrm>
            <a:off x="5683821" y="1991618"/>
            <a:ext cx="2968749" cy="163488"/>
          </a:xfrm>
          <a:prstGeom prst="rect">
            <a:avLst/>
          </a:prstGeom>
          <a:noFill/>
          <a:ln/>
        </p:spPr>
        <p:txBody>
          <a:bodyPr wrap="none" lIns="0" tIns="0" rIns="0" bIns="0" rtlCol="0" anchor="t"/>
          <a:lstStyle/>
          <a:p>
            <a:pPr marL="0" indent="0" algn="l">
              <a:lnSpc>
                <a:spcPct val="104000"/>
              </a:lnSpc>
              <a:buNone/>
            </a:pPr>
            <a:r>
              <a:rPr lang="en-US" sz="1000" dirty="0">
                <a:solidFill>
                  <a:srgbClr val="3C3939"/>
                </a:solidFill>
                <a:latin typeface="Raleway" pitchFamily="34" charset="0"/>
                <a:ea typeface="Raleway" pitchFamily="34" charset="-122"/>
                <a:cs typeface="Raleway" pitchFamily="34" charset="-120"/>
              </a:rPr>
              <a:t>Resource Competition</a:t>
            </a:r>
            <a:endParaRPr lang="en-US" sz="1000" dirty="0"/>
          </a:p>
        </p:txBody>
      </p:sp>
      <p:pic>
        <p:nvPicPr>
          <p:cNvPr id="17" name="Image 2" descr="preencoded.png"/>
          <p:cNvPicPr>
            <a:picLocks noChangeAspect="1"/>
          </p:cNvPicPr>
          <p:nvPr/>
        </p:nvPicPr>
        <p:blipFill>
          <a:blip r:embed="rId3"/>
          <a:stretch>
            <a:fillRect/>
          </a:stretch>
        </p:blipFill>
        <p:spPr>
          <a:xfrm>
            <a:off x="5438626" y="2603227"/>
            <a:ext cx="313953" cy="714375"/>
          </a:xfrm>
          <a:prstGeom prst="rect">
            <a:avLst/>
          </a:prstGeom>
        </p:spPr>
      </p:pic>
      <p:sp>
        <p:nvSpPr>
          <p:cNvPr id="18" name="Text 13"/>
          <p:cNvSpPr/>
          <p:nvPr/>
        </p:nvSpPr>
        <p:spPr>
          <a:xfrm>
            <a:off x="5840834" y="2707853"/>
            <a:ext cx="2811735" cy="163488"/>
          </a:xfrm>
          <a:prstGeom prst="rect">
            <a:avLst/>
          </a:prstGeom>
          <a:noFill/>
          <a:ln/>
        </p:spPr>
        <p:txBody>
          <a:bodyPr wrap="none" lIns="0" tIns="0" rIns="0" bIns="0" rtlCol="0" anchor="t"/>
          <a:lstStyle/>
          <a:p>
            <a:pPr marL="0" indent="0" algn="l">
              <a:lnSpc>
                <a:spcPct val="104000"/>
              </a:lnSpc>
              <a:buNone/>
            </a:pPr>
            <a:r>
              <a:rPr lang="en-US" sz="1000" dirty="0">
                <a:solidFill>
                  <a:srgbClr val="3C3939"/>
                </a:solidFill>
                <a:latin typeface="Raleway" pitchFamily="34" charset="0"/>
                <a:ea typeface="Raleway" pitchFamily="34" charset="-122"/>
                <a:cs typeface="Raleway" pitchFamily="34" charset="-120"/>
              </a:rPr>
              <a:t>High CPU / Memory Usage</a:t>
            </a:r>
            <a:endParaRPr lang="en-US" sz="1000" dirty="0"/>
          </a:p>
        </p:txBody>
      </p:sp>
      <p:pic>
        <p:nvPicPr>
          <p:cNvPr id="19" name="Image 3" descr="preencoded.png"/>
          <p:cNvPicPr>
            <a:picLocks noChangeAspect="1"/>
          </p:cNvPicPr>
          <p:nvPr/>
        </p:nvPicPr>
        <p:blipFill>
          <a:blip r:embed="rId3"/>
          <a:stretch>
            <a:fillRect/>
          </a:stretch>
        </p:blipFill>
        <p:spPr>
          <a:xfrm>
            <a:off x="5595640" y="3319463"/>
            <a:ext cx="313953" cy="714375"/>
          </a:xfrm>
          <a:prstGeom prst="rect">
            <a:avLst/>
          </a:prstGeom>
        </p:spPr>
      </p:pic>
      <p:sp>
        <p:nvSpPr>
          <p:cNvPr id="20" name="Text 14"/>
          <p:cNvSpPr/>
          <p:nvPr/>
        </p:nvSpPr>
        <p:spPr>
          <a:xfrm>
            <a:off x="5997848" y="3424089"/>
            <a:ext cx="2654722" cy="163488"/>
          </a:xfrm>
          <a:prstGeom prst="rect">
            <a:avLst/>
          </a:prstGeom>
          <a:noFill/>
          <a:ln/>
        </p:spPr>
        <p:txBody>
          <a:bodyPr wrap="none" lIns="0" tIns="0" rIns="0" bIns="0" rtlCol="0" anchor="t"/>
          <a:lstStyle/>
          <a:p>
            <a:pPr marL="0" indent="0" algn="l">
              <a:lnSpc>
                <a:spcPct val="104000"/>
              </a:lnSpc>
              <a:buNone/>
            </a:pPr>
            <a:r>
              <a:rPr lang="en-US" sz="1000" dirty="0">
                <a:solidFill>
                  <a:srgbClr val="3C3939"/>
                </a:solidFill>
                <a:latin typeface="Raleway" pitchFamily="34" charset="0"/>
                <a:ea typeface="Raleway" pitchFamily="34" charset="-122"/>
                <a:cs typeface="Raleway" pitchFamily="34" charset="-120"/>
              </a:rPr>
              <a:t>System Slowdown</a:t>
            </a:r>
            <a:endParaRPr lang="en-US" sz="1000" dirty="0"/>
          </a:p>
        </p:txBody>
      </p:sp>
      <p:pic>
        <p:nvPicPr>
          <p:cNvPr id="21" name="Image 4" descr="preencoded.png"/>
          <p:cNvPicPr>
            <a:picLocks noChangeAspect="1"/>
          </p:cNvPicPr>
          <p:nvPr/>
        </p:nvPicPr>
        <p:blipFill>
          <a:blip r:embed="rId3"/>
          <a:stretch>
            <a:fillRect/>
          </a:stretch>
        </p:blipFill>
        <p:spPr>
          <a:xfrm>
            <a:off x="5438626" y="4035698"/>
            <a:ext cx="313953" cy="714375"/>
          </a:xfrm>
          <a:prstGeom prst="rect">
            <a:avLst/>
          </a:prstGeom>
        </p:spPr>
      </p:pic>
      <p:sp>
        <p:nvSpPr>
          <p:cNvPr id="22" name="Text 15"/>
          <p:cNvSpPr/>
          <p:nvPr/>
        </p:nvSpPr>
        <p:spPr>
          <a:xfrm>
            <a:off x="5840834" y="4140324"/>
            <a:ext cx="2811735" cy="163488"/>
          </a:xfrm>
          <a:prstGeom prst="rect">
            <a:avLst/>
          </a:prstGeom>
          <a:noFill/>
          <a:ln/>
        </p:spPr>
        <p:txBody>
          <a:bodyPr wrap="none" lIns="0" tIns="0" rIns="0" bIns="0" rtlCol="0" anchor="t"/>
          <a:lstStyle/>
          <a:p>
            <a:pPr marL="0" indent="0" algn="l">
              <a:lnSpc>
                <a:spcPct val="104000"/>
              </a:lnSpc>
              <a:buNone/>
            </a:pPr>
            <a:r>
              <a:rPr lang="en-US" sz="1000" dirty="0">
                <a:solidFill>
                  <a:srgbClr val="3C3939"/>
                </a:solidFill>
                <a:latin typeface="Raleway" pitchFamily="34" charset="0"/>
                <a:ea typeface="Raleway" pitchFamily="34" charset="-122"/>
                <a:cs typeface="Raleway" pitchFamily="34" charset="-120"/>
              </a:rPr>
              <a:t>Need for Intelligent Monitoring &amp; Management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790501"/>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Raleway" pitchFamily="34" charset="0"/>
                <a:ea typeface="Raleway" pitchFamily="34" charset="-122"/>
                <a:cs typeface="Raleway" pitchFamily="34" charset="-120"/>
              </a:rPr>
              <a:t>Existing Systems</a:t>
            </a:r>
            <a:endParaRPr lang="en-US" sz="2400" dirty="0"/>
          </a:p>
        </p:txBody>
      </p:sp>
      <p:sp>
        <p:nvSpPr>
          <p:cNvPr id="3" name="Text 1"/>
          <p:cNvSpPr/>
          <p:nvPr/>
        </p:nvSpPr>
        <p:spPr>
          <a:xfrm>
            <a:off x="496119" y="1426071"/>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3C3939"/>
                </a:solidFill>
                <a:latin typeface="Roboto" pitchFamily="34" charset="0"/>
                <a:ea typeface="Roboto" pitchFamily="34" charset="-122"/>
                <a:cs typeface="Roboto" pitchFamily="34" charset="-120"/>
              </a:rPr>
              <a:t>What current tools provide</a:t>
            </a:r>
            <a:endParaRPr lang="en-US" sz="950" dirty="0"/>
          </a:p>
        </p:txBody>
      </p:sp>
      <p:sp>
        <p:nvSpPr>
          <p:cNvPr id="4" name="Text 2"/>
          <p:cNvSpPr/>
          <p:nvPr/>
        </p:nvSpPr>
        <p:spPr>
          <a:xfrm>
            <a:off x="496119" y="1888034"/>
            <a:ext cx="3924598" cy="232544"/>
          </a:xfrm>
          <a:prstGeom prst="rect">
            <a:avLst/>
          </a:prstGeom>
          <a:noFill/>
          <a:ln/>
        </p:spPr>
        <p:txBody>
          <a:bodyPr wrap="none" lIns="0" tIns="0" rIns="0" bIns="0" rtlCol="0" anchor="t"/>
          <a:lstStyle/>
          <a:p>
            <a:pPr marL="0" indent="0" algn="l">
              <a:lnSpc>
                <a:spcPct val="104000"/>
              </a:lnSpc>
              <a:buNone/>
            </a:pPr>
            <a:r>
              <a:rPr lang="en-US" sz="1450" dirty="0">
                <a:solidFill>
                  <a:srgbClr val="1B1B27"/>
                </a:solidFill>
                <a:latin typeface="Raleway" pitchFamily="34" charset="0"/>
                <a:ea typeface="Raleway" pitchFamily="34" charset="-122"/>
                <a:cs typeface="Raleway" pitchFamily="34" charset="-120"/>
              </a:rPr>
              <a:t>Examples of Current Tools</a:t>
            </a:r>
            <a:endParaRPr lang="en-US" sz="1450" dirty="0"/>
          </a:p>
        </p:txBody>
      </p:sp>
      <p:sp>
        <p:nvSpPr>
          <p:cNvPr id="5" name="Text 3"/>
          <p:cNvSpPr/>
          <p:nvPr/>
        </p:nvSpPr>
        <p:spPr>
          <a:xfrm>
            <a:off x="496119" y="2244551"/>
            <a:ext cx="3924598" cy="923999"/>
          </a:xfrm>
          <a:prstGeom prst="rect">
            <a:avLst/>
          </a:prstGeom>
          <a:noFill/>
          <a:ln/>
        </p:spPr>
        <p:txBody>
          <a:bodyPr wrap="square" lIns="0" tIns="49619" rIns="0" bIns="0" rtlCol="0" anchor="t">
            <a:normAutofit/>
          </a:bodyPr>
          <a:lstStyle/>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Windows Task Manager</a:t>
            </a:r>
            <a:endParaRPr lang="en-US" sz="950" dirty="0"/>
          </a:p>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Linux top</a:t>
            </a:r>
            <a:endParaRPr lang="en-US" sz="950" dirty="0"/>
          </a:p>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Linux htop</a:t>
            </a:r>
            <a:endParaRPr lang="en-US" sz="950" dirty="0"/>
          </a:p>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System Monitor</a:t>
            </a:r>
            <a:endParaRPr lang="en-US" sz="950" dirty="0"/>
          </a:p>
        </p:txBody>
      </p:sp>
      <p:sp>
        <p:nvSpPr>
          <p:cNvPr id="6" name="Text 4"/>
          <p:cNvSpPr/>
          <p:nvPr/>
        </p:nvSpPr>
        <p:spPr>
          <a:xfrm>
            <a:off x="4728046" y="1888034"/>
            <a:ext cx="3924598" cy="232544"/>
          </a:xfrm>
          <a:prstGeom prst="rect">
            <a:avLst/>
          </a:prstGeom>
          <a:noFill/>
          <a:ln/>
        </p:spPr>
        <p:txBody>
          <a:bodyPr wrap="none" lIns="0" tIns="0" rIns="0" bIns="0" rtlCol="0" anchor="t"/>
          <a:lstStyle/>
          <a:p>
            <a:pPr marL="0" indent="0" algn="l">
              <a:lnSpc>
                <a:spcPct val="104000"/>
              </a:lnSpc>
              <a:buNone/>
            </a:pPr>
            <a:r>
              <a:rPr lang="en-US" sz="1450" dirty="0">
                <a:solidFill>
                  <a:srgbClr val="1B1B27"/>
                </a:solidFill>
                <a:latin typeface="Raleway" pitchFamily="34" charset="0"/>
                <a:ea typeface="Raleway" pitchFamily="34" charset="-122"/>
                <a:cs typeface="Raleway" pitchFamily="34" charset="-120"/>
              </a:rPr>
              <a:t>What They Provide</a:t>
            </a:r>
            <a:endParaRPr lang="en-US" sz="1450" dirty="0"/>
          </a:p>
        </p:txBody>
      </p:sp>
      <p:sp>
        <p:nvSpPr>
          <p:cNvPr id="7" name="Text 5"/>
          <p:cNvSpPr/>
          <p:nvPr/>
        </p:nvSpPr>
        <p:spPr>
          <a:xfrm>
            <a:off x="4728046" y="2244551"/>
            <a:ext cx="3924598" cy="923999"/>
          </a:xfrm>
          <a:prstGeom prst="rect">
            <a:avLst/>
          </a:prstGeom>
          <a:noFill/>
          <a:ln/>
        </p:spPr>
        <p:txBody>
          <a:bodyPr wrap="square" lIns="0" tIns="49619" rIns="0" bIns="0" rtlCol="0" anchor="t">
            <a:normAutofit/>
          </a:bodyPr>
          <a:lstStyle/>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Running processes</a:t>
            </a:r>
            <a:endParaRPr lang="en-US" sz="950" dirty="0"/>
          </a:p>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CPU usage</a:t>
            </a:r>
            <a:endParaRPr lang="en-US" sz="950" dirty="0"/>
          </a:p>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Memory usage</a:t>
            </a:r>
            <a:endParaRPr lang="en-US" sz="950" dirty="0"/>
          </a:p>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Process information</a:t>
            </a:r>
            <a:endParaRPr lang="en-US" sz="950" dirty="0"/>
          </a:p>
        </p:txBody>
      </p:sp>
      <p:sp>
        <p:nvSpPr>
          <p:cNvPr id="8" name="Text 6"/>
          <p:cNvSpPr/>
          <p:nvPr/>
        </p:nvSpPr>
        <p:spPr>
          <a:xfrm>
            <a:off x="496119" y="3397969"/>
            <a:ext cx="8151763" cy="232544"/>
          </a:xfrm>
          <a:prstGeom prst="rect">
            <a:avLst/>
          </a:prstGeom>
          <a:noFill/>
          <a:ln/>
        </p:spPr>
        <p:txBody>
          <a:bodyPr wrap="none" lIns="0" tIns="0" rIns="0" bIns="0" rtlCol="0" anchor="t"/>
          <a:lstStyle/>
          <a:p>
            <a:pPr marL="0" indent="0" algn="l">
              <a:lnSpc>
                <a:spcPct val="104000"/>
              </a:lnSpc>
              <a:buNone/>
            </a:pPr>
            <a:r>
              <a:rPr lang="en-US" sz="1450" dirty="0">
                <a:solidFill>
                  <a:srgbClr val="1B1B27"/>
                </a:solidFill>
                <a:latin typeface="Raleway" pitchFamily="34" charset="0"/>
                <a:ea typeface="Raleway" pitchFamily="34" charset="-122"/>
                <a:cs typeface="Raleway" pitchFamily="34" charset="-120"/>
              </a:rPr>
              <a:t>Limitation</a:t>
            </a:r>
            <a:endParaRPr lang="en-US" sz="1450" dirty="0"/>
          </a:p>
        </p:txBody>
      </p:sp>
      <p:sp>
        <p:nvSpPr>
          <p:cNvPr id="9" name="Text 7"/>
          <p:cNvSpPr/>
          <p:nvPr/>
        </p:nvSpPr>
        <p:spPr>
          <a:xfrm>
            <a:off x="496119" y="3816548"/>
            <a:ext cx="8151763" cy="536451"/>
          </a:xfrm>
          <a:prstGeom prst="rect">
            <a:avLst/>
          </a:prstGeom>
          <a:noFill/>
          <a:ln/>
        </p:spPr>
        <p:txBody>
          <a:bodyPr wrap="square" lIns="0" tIns="0" rIns="0" bIns="0" rtlCol="0" anchor="t"/>
          <a:lstStyle/>
          <a:p>
            <a:pPr marL="0" indent="0" algn="l">
              <a:lnSpc>
                <a:spcPct val="133000"/>
              </a:lnSpc>
              <a:spcAft>
                <a:spcPts val="1050"/>
              </a:spcAft>
              <a:buNone/>
            </a:pPr>
            <a:r>
              <a:rPr lang="en-US" sz="950" dirty="0">
                <a:solidFill>
                  <a:srgbClr val="3C3939"/>
                </a:solidFill>
                <a:latin typeface="Roboto" pitchFamily="34" charset="0"/>
                <a:ea typeface="Roboto" pitchFamily="34" charset="-122"/>
                <a:cs typeface="Roboto" pitchFamily="34" charset="-120"/>
              </a:rPr>
              <a:t>They mainly show information. The user still has to: </a:t>
            </a:r>
            <a:r>
              <a:rPr lang="en-US" sz="950" b="1" dirty="0">
                <a:solidFill>
                  <a:srgbClr val="3C3939"/>
                </a:solidFill>
                <a:latin typeface="Roboto Bold" pitchFamily="34" charset="0"/>
                <a:ea typeface="Roboto Bold" pitchFamily="34" charset="-122"/>
                <a:cs typeface="Roboto Bold" pitchFamily="34" charset="-120"/>
              </a:rPr>
              <a:t>Observe → Understand → Decide → Act</a:t>
            </a:r>
            <a:endParaRPr lang="en-US" sz="950" dirty="0"/>
          </a:p>
          <a:p>
            <a:pPr marL="0" indent="0" algn="l">
              <a:lnSpc>
                <a:spcPct val="133000"/>
              </a:lnSpc>
              <a:buNone/>
            </a:pPr>
            <a:r>
              <a:rPr lang="en-US" sz="950" dirty="0">
                <a:solidFill>
                  <a:srgbClr val="3C3939"/>
                </a:solidFill>
                <a:latin typeface="Roboto" pitchFamily="34" charset="0"/>
                <a:ea typeface="Roboto" pitchFamily="34" charset="-122"/>
                <a:cs typeface="Roboto" pitchFamily="34" charset="-120"/>
              </a:rPr>
              <a:t>This is where the project begins.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75270"/>
            <a:ext cx="8151763" cy="357336"/>
          </a:xfrm>
          <a:prstGeom prst="rect">
            <a:avLst/>
          </a:prstGeom>
          <a:noFill/>
          <a:ln/>
        </p:spPr>
        <p:txBody>
          <a:bodyPr wrap="none" lIns="0" tIns="0" rIns="0" bIns="0" rtlCol="0" anchor="t"/>
          <a:lstStyle/>
          <a:p>
            <a:pPr marL="0" indent="0" algn="l">
              <a:lnSpc>
                <a:spcPct val="104000"/>
              </a:lnSpc>
              <a:buNone/>
            </a:pPr>
            <a:r>
              <a:rPr lang="en-US" sz="2250" dirty="0">
                <a:solidFill>
                  <a:srgbClr val="1B1B27"/>
                </a:solidFill>
                <a:latin typeface="Raleway" pitchFamily="34" charset="0"/>
                <a:ea typeface="Raleway" pitchFamily="34" charset="-122"/>
                <a:cs typeface="Raleway" pitchFamily="34" charset="-120"/>
              </a:rPr>
              <a:t>Literature Review: Existing Research</a:t>
            </a:r>
            <a:endParaRPr lang="en-US" sz="2250" dirty="0"/>
          </a:p>
        </p:txBody>
      </p:sp>
      <p:sp>
        <p:nvSpPr>
          <p:cNvPr id="3" name="Text 1"/>
          <p:cNvSpPr/>
          <p:nvPr/>
        </p:nvSpPr>
        <p:spPr>
          <a:xfrm>
            <a:off x="496119" y="774725"/>
            <a:ext cx="8151763" cy="178668"/>
          </a:xfrm>
          <a:prstGeom prst="rect">
            <a:avLst/>
          </a:prstGeom>
          <a:noFill/>
          <a:ln/>
        </p:spPr>
        <p:txBody>
          <a:bodyPr wrap="none" lIns="0" tIns="0" rIns="0" bIns="0" rtlCol="0" anchor="t"/>
          <a:lstStyle/>
          <a:p>
            <a:pPr marL="0" indent="0" algn="l">
              <a:lnSpc>
                <a:spcPct val="104000"/>
              </a:lnSpc>
              <a:buNone/>
            </a:pPr>
            <a:r>
              <a:rPr lang="en-US" sz="1100" dirty="0">
                <a:solidFill>
                  <a:srgbClr val="1B1B27"/>
                </a:solidFill>
                <a:latin typeface="Raleway" pitchFamily="34" charset="0"/>
                <a:ea typeface="Raleway" pitchFamily="34" charset="-122"/>
                <a:cs typeface="Raleway" pitchFamily="34" charset="-120"/>
              </a:rPr>
              <a:t>Four Key Research Works Informing This Project</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111523"/>
            <a:ext cx="4023196" cy="1775668"/>
          </a:xfrm>
          <a:prstGeom prst="rect">
            <a:avLst/>
          </a:prstGeom>
        </p:spPr>
      </p:pic>
      <p:sp>
        <p:nvSpPr>
          <p:cNvPr id="5" name="Text 2"/>
          <p:cNvSpPr/>
          <p:nvPr/>
        </p:nvSpPr>
        <p:spPr>
          <a:xfrm>
            <a:off x="2421954" y="1187723"/>
            <a:ext cx="171524" cy="214387"/>
          </a:xfrm>
          <a:prstGeom prst="rect">
            <a:avLst/>
          </a:prstGeom>
          <a:noFill/>
          <a:ln/>
        </p:spPr>
        <p:txBody>
          <a:bodyPr wrap="none" lIns="0" tIns="0" rIns="0" bIns="0" rtlCol="0" anchor="ctr"/>
          <a:lstStyle/>
          <a:p>
            <a:pPr marL="0" indent="0" algn="ctr">
              <a:lnSpc>
                <a:spcPct val="100000"/>
              </a:lnSpc>
              <a:buNone/>
            </a:pPr>
            <a:r>
              <a:rPr lang="en-US" sz="1350" dirty="0">
                <a:solidFill>
                  <a:srgbClr val="3C3939"/>
                </a:solidFill>
                <a:latin typeface="Raleway" pitchFamily="34" charset="0"/>
                <a:ea typeface="Raleway" pitchFamily="34" charset="-122"/>
                <a:cs typeface="Raleway" pitchFamily="34" charset="-120"/>
              </a:rPr>
              <a:t>1</a:t>
            </a:r>
            <a:endParaRPr lang="en-US" sz="1350" dirty="0"/>
          </a:p>
        </p:txBody>
      </p:sp>
      <p:sp>
        <p:nvSpPr>
          <p:cNvPr id="6" name="Text 3"/>
          <p:cNvSpPr/>
          <p:nvPr/>
        </p:nvSpPr>
        <p:spPr>
          <a:xfrm>
            <a:off x="624706" y="1574229"/>
            <a:ext cx="3766021" cy="178668"/>
          </a:xfrm>
          <a:prstGeom prst="rect">
            <a:avLst/>
          </a:prstGeom>
          <a:noFill/>
          <a:ln/>
        </p:spPr>
        <p:txBody>
          <a:bodyPr wrap="none" lIns="0" tIns="0" rIns="0" bIns="0" rtlCol="0" anchor="t"/>
          <a:lstStyle/>
          <a:p>
            <a:pPr marL="0" indent="0" algn="l">
              <a:lnSpc>
                <a:spcPct val="104000"/>
              </a:lnSpc>
              <a:buNone/>
            </a:pPr>
            <a:r>
              <a:rPr lang="en-US" sz="1100" dirty="0">
                <a:solidFill>
                  <a:srgbClr val="3C3939"/>
                </a:solidFill>
                <a:latin typeface="Raleway" pitchFamily="34" charset="0"/>
                <a:ea typeface="Raleway" pitchFamily="34" charset="-122"/>
                <a:cs typeface="Raleway" pitchFamily="34" charset="-120"/>
              </a:rPr>
              <a:t>Jain – OS &amp; Process Monitoring</a:t>
            </a:r>
            <a:endParaRPr lang="en-US" sz="1100" dirty="0"/>
          </a:p>
        </p:txBody>
      </p:sp>
      <p:sp>
        <p:nvSpPr>
          <p:cNvPr id="7" name="Text 4"/>
          <p:cNvSpPr/>
          <p:nvPr/>
        </p:nvSpPr>
        <p:spPr>
          <a:xfrm>
            <a:off x="624706" y="1816150"/>
            <a:ext cx="3766021" cy="942454"/>
          </a:xfrm>
          <a:prstGeom prst="rect">
            <a:avLst/>
          </a:prstGeom>
          <a:noFill/>
          <a:ln/>
        </p:spPr>
        <p:txBody>
          <a:bodyPr wrap="square" lIns="0" tIns="0" rIns="0" bIns="0" rtlCol="0" anchor="t"/>
          <a:lstStyle/>
          <a:p>
            <a:pPr marL="0" indent="0" algn="l">
              <a:lnSpc>
                <a:spcPct val="128000"/>
              </a:lnSpc>
              <a:spcAft>
                <a:spcPts val="450"/>
              </a:spcAft>
              <a:buNone/>
            </a:pPr>
            <a:r>
              <a:rPr lang="en-US" sz="900" b="1" dirty="0">
                <a:solidFill>
                  <a:srgbClr val="3C3939"/>
                </a:solidFill>
                <a:latin typeface="Roboto Bold" pitchFamily="34" charset="0"/>
                <a:ea typeface="Roboto Bold" pitchFamily="34" charset="-122"/>
                <a:cs typeface="Roboto Bold" pitchFamily="34" charset="-120"/>
              </a:rPr>
              <a:t>Main Idea:</a:t>
            </a:r>
            <a:r>
              <a:rPr lang="en-US" sz="900" dirty="0">
                <a:solidFill>
                  <a:srgbClr val="3C3939"/>
                </a:solidFill>
                <a:latin typeface="Roboto" pitchFamily="34" charset="0"/>
                <a:ea typeface="Roboto" pitchFamily="34" charset="-122"/>
                <a:cs typeface="Roboto" pitchFamily="34" charset="-120"/>
              </a:rPr>
              <a:t> Process and resource monitoring</a:t>
            </a:r>
            <a:endParaRPr lang="en-US" sz="900" dirty="0"/>
          </a:p>
          <a:p>
            <a:pPr marL="0" indent="0" algn="l">
              <a:lnSpc>
                <a:spcPct val="128000"/>
              </a:lnSpc>
              <a:buNone/>
            </a:pPr>
            <a:r>
              <a:rPr lang="en-US" sz="900" b="1" dirty="0">
                <a:solidFill>
                  <a:srgbClr val="3C3939"/>
                </a:solidFill>
                <a:latin typeface="Roboto Bold" pitchFamily="34" charset="0"/>
                <a:ea typeface="Roboto Bold" pitchFamily="34" charset="-122"/>
                <a:cs typeface="Roboto Bold" pitchFamily="34" charset="-120"/>
              </a:rPr>
              <a:t>Key Contribution:</a:t>
            </a:r>
            <a:r>
              <a:rPr lang="en-US" sz="900" dirty="0">
                <a:solidFill>
                  <a:srgbClr val="3C3939"/>
                </a:solidFill>
                <a:latin typeface="Roboto" pitchFamily="34" charset="0"/>
                <a:ea typeface="Roboto" pitchFamily="34" charset="-122"/>
                <a:cs typeface="Roboto" pitchFamily="34" charset="-120"/>
              </a:rPr>
              <a:t> Demonstrates the importance of monitoring CPU, memory, and processes. Process-level monitoring is critical because processes are the major resource consumers; monitoring data supports scheduling, memory management, and performance analysis.</a:t>
            </a:r>
            <a:endParaRPr lang="en-US" sz="9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24685" y="1111523"/>
            <a:ext cx="4023196" cy="1775668"/>
          </a:xfrm>
          <a:prstGeom prst="rect">
            <a:avLst/>
          </a:prstGeom>
        </p:spPr>
      </p:pic>
      <p:sp>
        <p:nvSpPr>
          <p:cNvPr id="9" name="Text 5"/>
          <p:cNvSpPr/>
          <p:nvPr/>
        </p:nvSpPr>
        <p:spPr>
          <a:xfrm>
            <a:off x="6550521" y="1187723"/>
            <a:ext cx="171524" cy="214387"/>
          </a:xfrm>
          <a:prstGeom prst="rect">
            <a:avLst/>
          </a:prstGeom>
          <a:noFill/>
          <a:ln/>
        </p:spPr>
        <p:txBody>
          <a:bodyPr wrap="none" lIns="0" tIns="0" rIns="0" bIns="0" rtlCol="0" anchor="ctr"/>
          <a:lstStyle/>
          <a:p>
            <a:pPr marL="0" indent="0" algn="ctr">
              <a:lnSpc>
                <a:spcPct val="100000"/>
              </a:lnSpc>
              <a:buNone/>
            </a:pPr>
            <a:r>
              <a:rPr lang="en-US" sz="1350" dirty="0">
                <a:solidFill>
                  <a:srgbClr val="3C3939"/>
                </a:solidFill>
                <a:latin typeface="Raleway" pitchFamily="34" charset="0"/>
                <a:ea typeface="Raleway" pitchFamily="34" charset="-122"/>
                <a:cs typeface="Raleway" pitchFamily="34" charset="-120"/>
              </a:rPr>
              <a:t>2</a:t>
            </a:r>
            <a:endParaRPr lang="en-US" sz="1350" dirty="0"/>
          </a:p>
        </p:txBody>
      </p:sp>
      <p:sp>
        <p:nvSpPr>
          <p:cNvPr id="10" name="Text 6"/>
          <p:cNvSpPr/>
          <p:nvPr/>
        </p:nvSpPr>
        <p:spPr>
          <a:xfrm>
            <a:off x="4753273" y="1574229"/>
            <a:ext cx="3766021" cy="178668"/>
          </a:xfrm>
          <a:prstGeom prst="rect">
            <a:avLst/>
          </a:prstGeom>
          <a:noFill/>
          <a:ln/>
        </p:spPr>
        <p:txBody>
          <a:bodyPr wrap="none" lIns="0" tIns="0" rIns="0" bIns="0" rtlCol="0" anchor="t"/>
          <a:lstStyle/>
          <a:p>
            <a:pPr marL="0" indent="0" algn="l">
              <a:lnSpc>
                <a:spcPct val="104000"/>
              </a:lnSpc>
              <a:buNone/>
            </a:pPr>
            <a:r>
              <a:rPr lang="en-US" sz="1100" dirty="0">
                <a:solidFill>
                  <a:srgbClr val="3C3939"/>
                </a:solidFill>
                <a:latin typeface="Raleway" pitchFamily="34" charset="0"/>
                <a:ea typeface="Raleway" pitchFamily="34" charset="-122"/>
                <a:cs typeface="Raleway" pitchFamily="34" charset="-120"/>
              </a:rPr>
              <a:t>Eads et al. – Adaptive OS</a:t>
            </a:r>
            <a:endParaRPr lang="en-US" sz="1100" dirty="0"/>
          </a:p>
        </p:txBody>
      </p:sp>
      <p:sp>
        <p:nvSpPr>
          <p:cNvPr id="11" name="Text 7"/>
          <p:cNvSpPr/>
          <p:nvPr/>
        </p:nvSpPr>
        <p:spPr>
          <a:xfrm>
            <a:off x="4753273" y="1816150"/>
            <a:ext cx="3766021" cy="942454"/>
          </a:xfrm>
          <a:prstGeom prst="rect">
            <a:avLst/>
          </a:prstGeom>
          <a:noFill/>
          <a:ln/>
        </p:spPr>
        <p:txBody>
          <a:bodyPr wrap="square" lIns="0" tIns="0" rIns="0" bIns="0" rtlCol="0" anchor="t"/>
          <a:lstStyle/>
          <a:p>
            <a:pPr marL="0" indent="0" algn="l">
              <a:lnSpc>
                <a:spcPct val="128000"/>
              </a:lnSpc>
              <a:spcAft>
                <a:spcPts val="450"/>
              </a:spcAft>
              <a:buNone/>
            </a:pPr>
            <a:r>
              <a:rPr lang="en-US" sz="900" b="1" dirty="0">
                <a:solidFill>
                  <a:srgbClr val="3C3939"/>
                </a:solidFill>
                <a:latin typeface="Roboto Bold" pitchFamily="34" charset="0"/>
                <a:ea typeface="Roboto Bold" pitchFamily="34" charset="-122"/>
                <a:cs typeface="Roboto Bold" pitchFamily="34" charset="-120"/>
              </a:rPr>
              <a:t>Main Idea:</a:t>
            </a:r>
            <a:r>
              <a:rPr lang="en-US" sz="900" dirty="0">
                <a:solidFill>
                  <a:srgbClr val="3C3939"/>
                </a:solidFill>
                <a:latin typeface="Roboto" pitchFamily="34" charset="0"/>
                <a:ea typeface="Roboto" pitchFamily="34" charset="-122"/>
                <a:cs typeface="Roboto" pitchFamily="34" charset="-120"/>
              </a:rPr>
              <a:t> Dynamic resource allocation</a:t>
            </a:r>
            <a:endParaRPr lang="en-US" sz="900" dirty="0"/>
          </a:p>
          <a:p>
            <a:pPr marL="0" indent="0" algn="l">
              <a:lnSpc>
                <a:spcPct val="128000"/>
              </a:lnSpc>
              <a:buNone/>
            </a:pPr>
            <a:r>
              <a:rPr lang="en-US" sz="900" b="1" dirty="0">
                <a:solidFill>
                  <a:srgbClr val="3C3939"/>
                </a:solidFill>
                <a:latin typeface="Roboto Bold" pitchFamily="34" charset="0"/>
                <a:ea typeface="Roboto Bold" pitchFamily="34" charset="-122"/>
                <a:cs typeface="Roboto Bold" pitchFamily="34" charset="-120"/>
              </a:rPr>
              <a:t>Key Contribution:</a:t>
            </a:r>
            <a:r>
              <a:rPr lang="en-US" sz="900" dirty="0">
                <a:solidFill>
                  <a:srgbClr val="3C3939"/>
                </a:solidFill>
                <a:latin typeface="Roboto" pitchFamily="34" charset="0"/>
                <a:ea typeface="Roboto" pitchFamily="34" charset="-122"/>
                <a:cs typeface="Roboto" pitchFamily="34" charset="-120"/>
              </a:rPr>
              <a:t> Proposes Adaptive Resource Centric Computing, where resource allocation changes according to application conditions and workload changes — resources can be adjusted to match application requirements in real time.</a:t>
            </a:r>
            <a:endParaRPr lang="en-US" sz="9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992562"/>
            <a:ext cx="4023196" cy="1775668"/>
          </a:xfrm>
          <a:prstGeom prst="rect">
            <a:avLst/>
          </a:prstGeom>
        </p:spPr>
      </p:pic>
      <p:sp>
        <p:nvSpPr>
          <p:cNvPr id="13" name="Text 8"/>
          <p:cNvSpPr/>
          <p:nvPr/>
        </p:nvSpPr>
        <p:spPr>
          <a:xfrm>
            <a:off x="2421954" y="3068762"/>
            <a:ext cx="171524" cy="214387"/>
          </a:xfrm>
          <a:prstGeom prst="rect">
            <a:avLst/>
          </a:prstGeom>
          <a:noFill/>
          <a:ln/>
        </p:spPr>
        <p:txBody>
          <a:bodyPr wrap="none" lIns="0" tIns="0" rIns="0" bIns="0" rtlCol="0" anchor="ctr"/>
          <a:lstStyle/>
          <a:p>
            <a:pPr marL="0" indent="0" algn="ctr">
              <a:lnSpc>
                <a:spcPct val="100000"/>
              </a:lnSpc>
              <a:buNone/>
            </a:pPr>
            <a:r>
              <a:rPr lang="en-US" sz="1350" dirty="0">
                <a:solidFill>
                  <a:srgbClr val="3C3939"/>
                </a:solidFill>
                <a:latin typeface="Raleway" pitchFamily="34" charset="0"/>
                <a:ea typeface="Raleway" pitchFamily="34" charset="-122"/>
                <a:cs typeface="Raleway" pitchFamily="34" charset="-120"/>
              </a:rPr>
              <a:t>3</a:t>
            </a:r>
            <a:endParaRPr lang="en-US" sz="1350" dirty="0"/>
          </a:p>
        </p:txBody>
      </p:sp>
      <p:sp>
        <p:nvSpPr>
          <p:cNvPr id="14" name="Text 9"/>
          <p:cNvSpPr/>
          <p:nvPr/>
        </p:nvSpPr>
        <p:spPr>
          <a:xfrm>
            <a:off x="624706" y="3455268"/>
            <a:ext cx="3766021" cy="178668"/>
          </a:xfrm>
          <a:prstGeom prst="rect">
            <a:avLst/>
          </a:prstGeom>
          <a:noFill/>
          <a:ln/>
        </p:spPr>
        <p:txBody>
          <a:bodyPr wrap="none" lIns="0" tIns="0" rIns="0" bIns="0" rtlCol="0" anchor="t"/>
          <a:lstStyle/>
          <a:p>
            <a:pPr marL="0" indent="0" algn="l">
              <a:lnSpc>
                <a:spcPct val="104000"/>
              </a:lnSpc>
              <a:buNone/>
            </a:pPr>
            <a:r>
              <a:rPr lang="en-US" sz="1100" dirty="0">
                <a:solidFill>
                  <a:srgbClr val="3C3939"/>
                </a:solidFill>
                <a:latin typeface="Raleway" pitchFamily="34" charset="0"/>
                <a:ea typeface="Raleway" pitchFamily="34" charset="-122"/>
                <a:cs typeface="Raleway" pitchFamily="34" charset="-120"/>
              </a:rPr>
              <a:t>Goodarzy et al. – SmartOS</a:t>
            </a:r>
            <a:endParaRPr lang="en-US" sz="1100" dirty="0"/>
          </a:p>
        </p:txBody>
      </p:sp>
      <p:sp>
        <p:nvSpPr>
          <p:cNvPr id="15" name="Text 10"/>
          <p:cNvSpPr/>
          <p:nvPr/>
        </p:nvSpPr>
        <p:spPr>
          <a:xfrm>
            <a:off x="624706" y="3697188"/>
            <a:ext cx="3766021" cy="942454"/>
          </a:xfrm>
          <a:prstGeom prst="rect">
            <a:avLst/>
          </a:prstGeom>
          <a:noFill/>
          <a:ln/>
        </p:spPr>
        <p:txBody>
          <a:bodyPr wrap="square" lIns="0" tIns="0" rIns="0" bIns="0" rtlCol="0" anchor="t"/>
          <a:lstStyle/>
          <a:p>
            <a:pPr marL="0" indent="0" algn="l">
              <a:lnSpc>
                <a:spcPct val="128000"/>
              </a:lnSpc>
              <a:spcAft>
                <a:spcPts val="450"/>
              </a:spcAft>
              <a:buNone/>
            </a:pPr>
            <a:r>
              <a:rPr lang="en-US" sz="900" b="1" dirty="0">
                <a:solidFill>
                  <a:srgbClr val="3C3939"/>
                </a:solidFill>
                <a:latin typeface="Roboto Bold" pitchFamily="34" charset="0"/>
                <a:ea typeface="Roboto Bold" pitchFamily="34" charset="-122"/>
                <a:cs typeface="Roboto Bold" pitchFamily="34" charset="-120"/>
              </a:rPr>
              <a:t>Main Idea:</a:t>
            </a:r>
            <a:r>
              <a:rPr lang="en-US" sz="900" dirty="0">
                <a:solidFill>
                  <a:srgbClr val="3C3939"/>
                </a:solidFill>
                <a:latin typeface="Roboto" pitchFamily="34" charset="0"/>
                <a:ea typeface="Roboto" pitchFamily="34" charset="-122"/>
                <a:cs typeface="Roboto" pitchFamily="34" charset="-120"/>
              </a:rPr>
              <a:t> Learning-based resource management</a:t>
            </a:r>
            <a:endParaRPr lang="en-US" sz="900" dirty="0"/>
          </a:p>
          <a:p>
            <a:pPr marL="0" indent="0" algn="l">
              <a:lnSpc>
                <a:spcPct val="128000"/>
              </a:lnSpc>
              <a:buNone/>
            </a:pPr>
            <a:r>
              <a:rPr lang="en-US" sz="900" b="1" dirty="0">
                <a:solidFill>
                  <a:srgbClr val="3C3939"/>
                </a:solidFill>
                <a:latin typeface="Roboto Bold" pitchFamily="34" charset="0"/>
                <a:ea typeface="Roboto Bold" pitchFamily="34" charset="-122"/>
                <a:cs typeface="Roboto Bold" pitchFamily="34" charset="-120"/>
              </a:rPr>
              <a:t>Key Contribution:</a:t>
            </a:r>
            <a:r>
              <a:rPr lang="en-US" sz="900" dirty="0">
                <a:solidFill>
                  <a:srgbClr val="3C3939"/>
                </a:solidFill>
                <a:latin typeface="Roboto" pitchFamily="34" charset="0"/>
                <a:ea typeface="Roboto" pitchFamily="34" charset="-122"/>
                <a:cs typeface="Roboto" pitchFamily="34" charset="-120"/>
              </a:rPr>
              <a:t> The OS learns which tasks the user considers important and adjusts CPU, memory, I/O, and network allocation accordingly — demonstrating that user preferences can be incorporated into resource decisions.</a:t>
            </a:r>
            <a:endParaRPr lang="en-US" sz="9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24685" y="2992562"/>
            <a:ext cx="4023196" cy="1775668"/>
          </a:xfrm>
          <a:prstGeom prst="rect">
            <a:avLst/>
          </a:prstGeom>
        </p:spPr>
      </p:pic>
      <p:sp>
        <p:nvSpPr>
          <p:cNvPr id="17" name="Text 11"/>
          <p:cNvSpPr/>
          <p:nvPr/>
        </p:nvSpPr>
        <p:spPr>
          <a:xfrm>
            <a:off x="6550521" y="3068762"/>
            <a:ext cx="171524" cy="214387"/>
          </a:xfrm>
          <a:prstGeom prst="rect">
            <a:avLst/>
          </a:prstGeom>
          <a:noFill/>
          <a:ln/>
        </p:spPr>
        <p:txBody>
          <a:bodyPr wrap="none" lIns="0" tIns="0" rIns="0" bIns="0" rtlCol="0" anchor="ctr"/>
          <a:lstStyle/>
          <a:p>
            <a:pPr marL="0" indent="0" algn="ctr">
              <a:lnSpc>
                <a:spcPct val="100000"/>
              </a:lnSpc>
              <a:buNone/>
            </a:pPr>
            <a:r>
              <a:rPr lang="en-US" sz="1350" dirty="0">
                <a:solidFill>
                  <a:srgbClr val="3C3939"/>
                </a:solidFill>
                <a:latin typeface="Raleway" pitchFamily="34" charset="0"/>
                <a:ea typeface="Raleway" pitchFamily="34" charset="-122"/>
                <a:cs typeface="Raleway" pitchFamily="34" charset="-120"/>
              </a:rPr>
              <a:t>4</a:t>
            </a:r>
            <a:endParaRPr lang="en-US" sz="1350" dirty="0"/>
          </a:p>
        </p:txBody>
      </p:sp>
      <p:sp>
        <p:nvSpPr>
          <p:cNvPr id="18" name="Text 12"/>
          <p:cNvSpPr/>
          <p:nvPr/>
        </p:nvSpPr>
        <p:spPr>
          <a:xfrm>
            <a:off x="4753273" y="3455268"/>
            <a:ext cx="3766021" cy="178668"/>
          </a:xfrm>
          <a:prstGeom prst="rect">
            <a:avLst/>
          </a:prstGeom>
          <a:noFill/>
          <a:ln/>
        </p:spPr>
        <p:txBody>
          <a:bodyPr wrap="none" lIns="0" tIns="0" rIns="0" bIns="0" rtlCol="0" anchor="t"/>
          <a:lstStyle/>
          <a:p>
            <a:pPr marL="0" indent="0" algn="l">
              <a:lnSpc>
                <a:spcPct val="104000"/>
              </a:lnSpc>
              <a:buNone/>
            </a:pPr>
            <a:r>
              <a:rPr lang="en-US" sz="1100" dirty="0">
                <a:solidFill>
                  <a:srgbClr val="3C3939"/>
                </a:solidFill>
                <a:latin typeface="Raleway" pitchFamily="34" charset="0"/>
                <a:ea typeface="Raleway" pitchFamily="34" charset="-122"/>
                <a:cs typeface="Raleway" pitchFamily="34" charset="-120"/>
              </a:rPr>
              <a:t>Shao et al. – Workload Prediction</a:t>
            </a:r>
            <a:endParaRPr lang="en-US" sz="1100" dirty="0"/>
          </a:p>
        </p:txBody>
      </p:sp>
      <p:sp>
        <p:nvSpPr>
          <p:cNvPr id="19" name="Text 13"/>
          <p:cNvSpPr/>
          <p:nvPr/>
        </p:nvSpPr>
        <p:spPr>
          <a:xfrm>
            <a:off x="4753273" y="3697188"/>
            <a:ext cx="3766021" cy="942454"/>
          </a:xfrm>
          <a:prstGeom prst="rect">
            <a:avLst/>
          </a:prstGeom>
          <a:noFill/>
          <a:ln/>
        </p:spPr>
        <p:txBody>
          <a:bodyPr wrap="square" lIns="0" tIns="0" rIns="0" bIns="0" rtlCol="0" anchor="t"/>
          <a:lstStyle/>
          <a:p>
            <a:pPr marL="0" indent="0" algn="l">
              <a:lnSpc>
                <a:spcPct val="128000"/>
              </a:lnSpc>
              <a:spcAft>
                <a:spcPts val="450"/>
              </a:spcAft>
              <a:buNone/>
            </a:pPr>
            <a:r>
              <a:rPr lang="en-US" sz="900" b="1" dirty="0">
                <a:solidFill>
                  <a:srgbClr val="3C3939"/>
                </a:solidFill>
                <a:latin typeface="Roboto Bold" pitchFamily="34" charset="0"/>
                <a:ea typeface="Roboto Bold" pitchFamily="34" charset="-122"/>
                <a:cs typeface="Roboto Bold" pitchFamily="34" charset="-120"/>
              </a:rPr>
              <a:t>Main Idea:</a:t>
            </a:r>
            <a:r>
              <a:rPr lang="en-US" sz="900" dirty="0">
                <a:solidFill>
                  <a:srgbClr val="3C3939"/>
                </a:solidFill>
                <a:latin typeface="Roboto" pitchFamily="34" charset="0"/>
                <a:ea typeface="Roboto" pitchFamily="34" charset="-122"/>
                <a:cs typeface="Roboto" pitchFamily="34" charset="-120"/>
              </a:rPr>
              <a:t> Workload prediction + dynamic allocation</a:t>
            </a:r>
            <a:endParaRPr lang="en-US" sz="900" dirty="0"/>
          </a:p>
          <a:p>
            <a:pPr marL="0" indent="0" algn="l">
              <a:lnSpc>
                <a:spcPct val="128000"/>
              </a:lnSpc>
              <a:buNone/>
            </a:pPr>
            <a:r>
              <a:rPr lang="en-US" sz="900" b="1" dirty="0">
                <a:solidFill>
                  <a:srgbClr val="3C3939"/>
                </a:solidFill>
                <a:latin typeface="Roboto Bold" pitchFamily="34" charset="0"/>
                <a:ea typeface="Roboto Bold" pitchFamily="34" charset="-122"/>
                <a:cs typeface="Roboto Bold" pitchFamily="34" charset="-120"/>
              </a:rPr>
              <a:t>Key Contribution:</a:t>
            </a:r>
            <a:r>
              <a:rPr lang="en-US" sz="900" dirty="0">
                <a:solidFill>
                  <a:srgbClr val="3C3939"/>
                </a:solidFill>
                <a:latin typeface="Roboto" pitchFamily="34" charset="0"/>
                <a:ea typeface="Roboto" pitchFamily="34" charset="-122"/>
                <a:cs typeface="Roboto" pitchFamily="34" charset="-120"/>
              </a:rPr>
              <a:t> This 2026 research combines attention-based workload prediction with dynamic resource allocation for changing computing workloads, showing that predictive methods can improve resource allocation proactively.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597322"/>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Raleway" pitchFamily="34" charset="0"/>
                <a:ea typeface="Raleway" pitchFamily="34" charset="-122"/>
                <a:cs typeface="Raleway" pitchFamily="34" charset="-120"/>
              </a:rPr>
              <a:t>Detailed Literature Analysis</a:t>
            </a:r>
            <a:endParaRPr lang="en-US" sz="2400" dirty="0"/>
          </a:p>
        </p:txBody>
      </p:sp>
      <p:sp>
        <p:nvSpPr>
          <p:cNvPr id="3" name="Text 1"/>
          <p:cNvSpPr/>
          <p:nvPr/>
        </p:nvSpPr>
        <p:spPr>
          <a:xfrm>
            <a:off x="496119" y="1034430"/>
            <a:ext cx="8151763" cy="193849"/>
          </a:xfrm>
          <a:prstGeom prst="rect">
            <a:avLst/>
          </a:prstGeom>
          <a:noFill/>
          <a:ln/>
        </p:spPr>
        <p:txBody>
          <a:bodyPr wrap="none" lIns="0" tIns="0" rIns="0" bIns="0" rtlCol="0" anchor="t"/>
          <a:lstStyle/>
          <a:p>
            <a:pPr marL="0" indent="0" algn="l">
              <a:lnSpc>
                <a:spcPct val="104000"/>
              </a:lnSpc>
              <a:buNone/>
            </a:pPr>
            <a:r>
              <a:rPr lang="en-US" sz="1200" dirty="0">
                <a:solidFill>
                  <a:srgbClr val="1B1B27"/>
                </a:solidFill>
                <a:latin typeface="Raleway" pitchFamily="34" charset="0"/>
                <a:ea typeface="Raleway" pitchFamily="34" charset="-122"/>
                <a:cs typeface="Raleway" pitchFamily="34" charset="-120"/>
              </a:rPr>
              <a:t>What We Learned From Previous Research</a:t>
            </a:r>
            <a:endParaRPr lang="en-US" sz="1200" dirty="0"/>
          </a:p>
        </p:txBody>
      </p:sp>
      <p:sp>
        <p:nvSpPr>
          <p:cNvPr id="4" name="Shape 2"/>
          <p:cNvSpPr/>
          <p:nvPr/>
        </p:nvSpPr>
        <p:spPr>
          <a:xfrm>
            <a:off x="496119" y="1414314"/>
            <a:ext cx="4013895" cy="1207889"/>
          </a:xfrm>
          <a:prstGeom prst="roundRect">
            <a:avLst>
              <a:gd name="adj" fmla="val 4313"/>
            </a:avLst>
          </a:prstGeom>
          <a:solidFill>
            <a:srgbClr val="E1E1EA"/>
          </a:solidFill>
          <a:ln w="4763">
            <a:solidFill>
              <a:srgbClr val="C7C7D0"/>
            </a:solidFill>
            <a:prstDash val="solid"/>
          </a:ln>
        </p:spPr>
        <p:txBody>
          <a:bodyPr/>
          <a:lstStyle/>
          <a:p>
            <a:endParaRPr lang="en-IN"/>
          </a:p>
        </p:txBody>
      </p:sp>
      <p:sp>
        <p:nvSpPr>
          <p:cNvPr id="5" name="Text 3"/>
          <p:cNvSpPr/>
          <p:nvPr/>
        </p:nvSpPr>
        <p:spPr>
          <a:xfrm>
            <a:off x="624855" y="1543050"/>
            <a:ext cx="3756422" cy="193849"/>
          </a:xfrm>
          <a:prstGeom prst="rect">
            <a:avLst/>
          </a:prstGeom>
          <a:noFill/>
          <a:ln/>
        </p:spPr>
        <p:txBody>
          <a:bodyPr wrap="none" lIns="0" tIns="0" rIns="0" bIns="0" rtlCol="0" anchor="t"/>
          <a:lstStyle/>
          <a:p>
            <a:pPr marL="0" indent="0" algn="l">
              <a:lnSpc>
                <a:spcPct val="104000"/>
              </a:lnSpc>
              <a:buNone/>
            </a:pPr>
            <a:r>
              <a:rPr lang="en-US" sz="1200" dirty="0">
                <a:solidFill>
                  <a:srgbClr val="3C3939"/>
                </a:solidFill>
                <a:latin typeface="Raleway" pitchFamily="34" charset="0"/>
                <a:ea typeface="Raleway" pitchFamily="34" charset="-122"/>
                <a:cs typeface="Raleway" pitchFamily="34" charset="-120"/>
              </a:rPr>
              <a:t>1. Process Monitoring</a:t>
            </a:r>
            <a:endParaRPr lang="en-US" sz="1200" dirty="0"/>
          </a:p>
        </p:txBody>
      </p:sp>
      <p:sp>
        <p:nvSpPr>
          <p:cNvPr id="6" name="Text 4"/>
          <p:cNvSpPr/>
          <p:nvPr/>
        </p:nvSpPr>
        <p:spPr>
          <a:xfrm>
            <a:off x="624855" y="1811313"/>
            <a:ext cx="3756422" cy="682154"/>
          </a:xfrm>
          <a:prstGeom prst="rect">
            <a:avLst/>
          </a:prstGeom>
          <a:noFill/>
          <a:ln/>
        </p:spPr>
        <p:txBody>
          <a:bodyPr wrap="square" lIns="0" tIns="49619" rIns="0" bIns="0" rtlCol="0" anchor="t">
            <a:normAutofit/>
          </a:bodyPr>
          <a:lstStyle/>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Identifies currently running processes</a:t>
            </a:r>
            <a:endParaRPr lang="en-US" sz="950" dirty="0"/>
          </a:p>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Provides information about resource consumption</a:t>
            </a:r>
            <a:endParaRPr lang="en-US" sz="950" dirty="0"/>
          </a:p>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Forms the foundation for workload analysis</a:t>
            </a:r>
            <a:endParaRPr lang="en-US" sz="950" dirty="0"/>
          </a:p>
        </p:txBody>
      </p:sp>
      <p:sp>
        <p:nvSpPr>
          <p:cNvPr id="7" name="Shape 5"/>
          <p:cNvSpPr/>
          <p:nvPr/>
        </p:nvSpPr>
        <p:spPr>
          <a:xfrm>
            <a:off x="4633987" y="1414314"/>
            <a:ext cx="4013895" cy="1207889"/>
          </a:xfrm>
          <a:prstGeom prst="roundRect">
            <a:avLst>
              <a:gd name="adj" fmla="val 4313"/>
            </a:avLst>
          </a:prstGeom>
          <a:solidFill>
            <a:srgbClr val="E1E1EA"/>
          </a:solidFill>
          <a:ln w="4763">
            <a:solidFill>
              <a:srgbClr val="C7C7D0"/>
            </a:solidFill>
            <a:prstDash val="solid"/>
          </a:ln>
        </p:spPr>
        <p:txBody>
          <a:bodyPr/>
          <a:lstStyle/>
          <a:p>
            <a:endParaRPr lang="en-IN"/>
          </a:p>
        </p:txBody>
      </p:sp>
      <p:sp>
        <p:nvSpPr>
          <p:cNvPr id="8" name="Text 6"/>
          <p:cNvSpPr/>
          <p:nvPr/>
        </p:nvSpPr>
        <p:spPr>
          <a:xfrm>
            <a:off x="4762723" y="1543050"/>
            <a:ext cx="3756422" cy="193849"/>
          </a:xfrm>
          <a:prstGeom prst="rect">
            <a:avLst/>
          </a:prstGeom>
          <a:noFill/>
          <a:ln/>
        </p:spPr>
        <p:txBody>
          <a:bodyPr wrap="none" lIns="0" tIns="0" rIns="0" bIns="0" rtlCol="0" anchor="t"/>
          <a:lstStyle/>
          <a:p>
            <a:pPr marL="0" indent="0" algn="l">
              <a:lnSpc>
                <a:spcPct val="104000"/>
              </a:lnSpc>
              <a:buNone/>
            </a:pPr>
            <a:r>
              <a:rPr lang="en-US" sz="1200" dirty="0">
                <a:solidFill>
                  <a:srgbClr val="3C3939"/>
                </a:solidFill>
                <a:latin typeface="Raleway" pitchFamily="34" charset="0"/>
                <a:ea typeface="Raleway" pitchFamily="34" charset="-122"/>
                <a:cs typeface="Raleway" pitchFamily="34" charset="-120"/>
              </a:rPr>
              <a:t>2. Adaptive Resource Management</a:t>
            </a:r>
            <a:endParaRPr lang="en-US" sz="1200" dirty="0"/>
          </a:p>
        </p:txBody>
      </p:sp>
      <p:sp>
        <p:nvSpPr>
          <p:cNvPr id="9" name="Text 7"/>
          <p:cNvSpPr/>
          <p:nvPr/>
        </p:nvSpPr>
        <p:spPr>
          <a:xfrm>
            <a:off x="4762723" y="1811313"/>
            <a:ext cx="3756422" cy="638770"/>
          </a:xfrm>
          <a:prstGeom prst="rect">
            <a:avLst/>
          </a:prstGeom>
          <a:noFill/>
          <a:ln/>
        </p:spPr>
        <p:txBody>
          <a:bodyPr wrap="square" lIns="0" tIns="49619" rIns="0" bIns="0" rtlCol="0" anchor="t">
            <a:normAutofit/>
          </a:bodyPr>
          <a:lstStyle/>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Resources should change according to workload conditions</a:t>
            </a:r>
            <a:endParaRPr lang="en-US" sz="950" dirty="0"/>
          </a:p>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Static resource allocation may not work well for changing workloads</a:t>
            </a:r>
            <a:endParaRPr lang="en-US" sz="950" dirty="0"/>
          </a:p>
        </p:txBody>
      </p:sp>
      <p:sp>
        <p:nvSpPr>
          <p:cNvPr id="10" name="Shape 8"/>
          <p:cNvSpPr/>
          <p:nvPr/>
        </p:nvSpPr>
        <p:spPr>
          <a:xfrm>
            <a:off x="496119" y="2746177"/>
            <a:ext cx="4013895" cy="966043"/>
          </a:xfrm>
          <a:prstGeom prst="roundRect">
            <a:avLst>
              <a:gd name="adj" fmla="val 5393"/>
            </a:avLst>
          </a:prstGeom>
          <a:solidFill>
            <a:srgbClr val="E1E1EA"/>
          </a:solidFill>
          <a:ln w="4763">
            <a:solidFill>
              <a:srgbClr val="C7C7D0"/>
            </a:solidFill>
            <a:prstDash val="solid"/>
          </a:ln>
        </p:spPr>
        <p:txBody>
          <a:bodyPr/>
          <a:lstStyle/>
          <a:p>
            <a:endParaRPr lang="en-IN"/>
          </a:p>
        </p:txBody>
      </p:sp>
      <p:sp>
        <p:nvSpPr>
          <p:cNvPr id="11" name="Text 9"/>
          <p:cNvSpPr/>
          <p:nvPr/>
        </p:nvSpPr>
        <p:spPr>
          <a:xfrm>
            <a:off x="624855" y="2874913"/>
            <a:ext cx="3756422" cy="193849"/>
          </a:xfrm>
          <a:prstGeom prst="rect">
            <a:avLst/>
          </a:prstGeom>
          <a:noFill/>
          <a:ln/>
        </p:spPr>
        <p:txBody>
          <a:bodyPr wrap="none" lIns="0" tIns="0" rIns="0" bIns="0" rtlCol="0" anchor="t"/>
          <a:lstStyle/>
          <a:p>
            <a:pPr marL="0" indent="0" algn="l">
              <a:lnSpc>
                <a:spcPct val="104000"/>
              </a:lnSpc>
              <a:buNone/>
            </a:pPr>
            <a:r>
              <a:rPr lang="en-US" sz="1200" dirty="0">
                <a:solidFill>
                  <a:srgbClr val="3C3939"/>
                </a:solidFill>
                <a:latin typeface="Raleway" pitchFamily="34" charset="0"/>
                <a:ea typeface="Raleway" pitchFamily="34" charset="-122"/>
                <a:cs typeface="Raleway" pitchFamily="34" charset="-120"/>
              </a:rPr>
              <a:t>3. User-Aware Management</a:t>
            </a:r>
            <a:endParaRPr lang="en-US" sz="1200" dirty="0"/>
          </a:p>
        </p:txBody>
      </p:sp>
      <p:sp>
        <p:nvSpPr>
          <p:cNvPr id="12" name="Text 10"/>
          <p:cNvSpPr/>
          <p:nvPr/>
        </p:nvSpPr>
        <p:spPr>
          <a:xfrm>
            <a:off x="624855" y="3143176"/>
            <a:ext cx="3756422" cy="440308"/>
          </a:xfrm>
          <a:prstGeom prst="rect">
            <a:avLst/>
          </a:prstGeom>
          <a:noFill/>
          <a:ln/>
        </p:spPr>
        <p:txBody>
          <a:bodyPr wrap="square" lIns="0" tIns="49619" rIns="0" bIns="0" rtlCol="0" anchor="t">
            <a:normAutofit/>
          </a:bodyPr>
          <a:lstStyle/>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Different applications have different importance</a:t>
            </a:r>
            <a:endParaRPr lang="en-US" sz="950" dirty="0"/>
          </a:p>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User preferences can be considered while allocating resources</a:t>
            </a:r>
            <a:endParaRPr lang="en-US" sz="950" dirty="0"/>
          </a:p>
        </p:txBody>
      </p:sp>
      <p:sp>
        <p:nvSpPr>
          <p:cNvPr id="13" name="Shape 11"/>
          <p:cNvSpPr/>
          <p:nvPr/>
        </p:nvSpPr>
        <p:spPr>
          <a:xfrm>
            <a:off x="4633987" y="2746177"/>
            <a:ext cx="4013895" cy="966043"/>
          </a:xfrm>
          <a:prstGeom prst="roundRect">
            <a:avLst>
              <a:gd name="adj" fmla="val 5393"/>
            </a:avLst>
          </a:prstGeom>
          <a:solidFill>
            <a:srgbClr val="E1E1EA"/>
          </a:solidFill>
          <a:ln w="4763">
            <a:solidFill>
              <a:srgbClr val="C7C7D0"/>
            </a:solidFill>
            <a:prstDash val="solid"/>
          </a:ln>
        </p:spPr>
        <p:txBody>
          <a:bodyPr/>
          <a:lstStyle/>
          <a:p>
            <a:endParaRPr lang="en-IN"/>
          </a:p>
        </p:txBody>
      </p:sp>
      <p:sp>
        <p:nvSpPr>
          <p:cNvPr id="14" name="Text 12"/>
          <p:cNvSpPr/>
          <p:nvPr/>
        </p:nvSpPr>
        <p:spPr>
          <a:xfrm>
            <a:off x="4762723" y="2874913"/>
            <a:ext cx="3756422" cy="193849"/>
          </a:xfrm>
          <a:prstGeom prst="rect">
            <a:avLst/>
          </a:prstGeom>
          <a:noFill/>
          <a:ln/>
        </p:spPr>
        <p:txBody>
          <a:bodyPr wrap="none" lIns="0" tIns="0" rIns="0" bIns="0" rtlCol="0" anchor="t"/>
          <a:lstStyle/>
          <a:p>
            <a:pPr marL="0" indent="0" algn="l">
              <a:lnSpc>
                <a:spcPct val="104000"/>
              </a:lnSpc>
              <a:buNone/>
            </a:pPr>
            <a:r>
              <a:rPr lang="en-US" sz="1200" dirty="0">
                <a:solidFill>
                  <a:srgbClr val="3C3939"/>
                </a:solidFill>
                <a:latin typeface="Raleway" pitchFamily="34" charset="0"/>
                <a:ea typeface="Raleway" pitchFamily="34" charset="-122"/>
                <a:cs typeface="Raleway" pitchFamily="34" charset="-120"/>
              </a:rPr>
              <a:t>4. Predictive Management</a:t>
            </a:r>
            <a:endParaRPr lang="en-US" sz="1200" dirty="0"/>
          </a:p>
        </p:txBody>
      </p:sp>
      <p:sp>
        <p:nvSpPr>
          <p:cNvPr id="15" name="Text 13"/>
          <p:cNvSpPr/>
          <p:nvPr/>
        </p:nvSpPr>
        <p:spPr>
          <a:xfrm>
            <a:off x="4762723" y="3143176"/>
            <a:ext cx="3756422" cy="440308"/>
          </a:xfrm>
          <a:prstGeom prst="rect">
            <a:avLst/>
          </a:prstGeom>
          <a:noFill/>
          <a:ln/>
        </p:spPr>
        <p:txBody>
          <a:bodyPr wrap="square" lIns="0" tIns="49619" rIns="0" bIns="0" rtlCol="0" anchor="t">
            <a:normAutofit/>
          </a:bodyPr>
          <a:lstStyle/>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Historical resource usage can be used to predict future workload</a:t>
            </a:r>
            <a:endParaRPr lang="en-US" sz="950" dirty="0"/>
          </a:p>
          <a:p>
            <a:pPr marL="193040" indent="-193040" algn="l">
              <a:lnSpc>
                <a:spcPct val="133000"/>
              </a:lnSpc>
              <a:buSzPct val="100000"/>
              <a:buChar char="•"/>
            </a:pPr>
            <a:r>
              <a:rPr lang="en-US" sz="950" dirty="0">
                <a:solidFill>
                  <a:srgbClr val="3C3939"/>
                </a:solidFill>
                <a:latin typeface="Roboto" pitchFamily="34" charset="0"/>
                <a:ea typeface="Roboto" pitchFamily="34" charset="-122"/>
                <a:cs typeface="Roboto" pitchFamily="34" charset="-120"/>
              </a:rPr>
              <a:t>Prediction can support proactive resource management</a:t>
            </a:r>
            <a:endParaRPr lang="en-US" sz="950" dirty="0"/>
          </a:p>
        </p:txBody>
      </p:sp>
      <p:sp>
        <p:nvSpPr>
          <p:cNvPr id="16" name="Shape 14"/>
          <p:cNvSpPr/>
          <p:nvPr/>
        </p:nvSpPr>
        <p:spPr>
          <a:xfrm>
            <a:off x="496119" y="3851746"/>
            <a:ext cx="8151763" cy="694432"/>
          </a:xfrm>
          <a:prstGeom prst="roundRect">
            <a:avLst>
              <a:gd name="adj" fmla="val 7502"/>
            </a:avLst>
          </a:prstGeom>
          <a:solidFill>
            <a:srgbClr val="E1E1EA"/>
          </a:solidFill>
          <a:ln/>
        </p:spPr>
        <p:txBody>
          <a:bodyPr/>
          <a:lstStyle/>
          <a:p>
            <a:endParaRPr lang="en-IN"/>
          </a:p>
        </p:txBody>
      </p:sp>
      <p:pic>
        <p:nvPicPr>
          <p:cNvPr id="17" name="Image 0" descr="preencoded.png"/>
          <p:cNvPicPr>
            <a:picLocks noChangeAspect="1"/>
          </p:cNvPicPr>
          <p:nvPr/>
        </p:nvPicPr>
        <p:blipFill>
          <a:blip r:embed="rId3"/>
          <a:stretch>
            <a:fillRect/>
          </a:stretch>
        </p:blipFill>
        <p:spPr>
          <a:xfrm>
            <a:off x="620092" y="4031531"/>
            <a:ext cx="155004" cy="123974"/>
          </a:xfrm>
          <a:prstGeom prst="rect">
            <a:avLst/>
          </a:prstGeom>
        </p:spPr>
      </p:pic>
      <p:sp>
        <p:nvSpPr>
          <p:cNvPr id="18" name="Text 15"/>
          <p:cNvSpPr/>
          <p:nvPr/>
        </p:nvSpPr>
        <p:spPr>
          <a:xfrm>
            <a:off x="899071" y="4006676"/>
            <a:ext cx="7624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Roboto" pitchFamily="34" charset="0"/>
                <a:ea typeface="Roboto" pitchFamily="34" charset="-122"/>
                <a:cs typeface="Roboto" pitchFamily="34" charset="-120"/>
              </a:rPr>
              <a:t>Each research layer builds on the previous: monitoring enables analysis, analysis enables adaptation, adaptation enables prediction — forming a progressive maturity model for intelligent resource management.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458912"/>
            <a:ext cx="8151763" cy="363364"/>
          </a:xfrm>
          <a:prstGeom prst="rect">
            <a:avLst/>
          </a:prstGeom>
          <a:noFill/>
          <a:ln/>
        </p:spPr>
        <p:txBody>
          <a:bodyPr wrap="none" lIns="0" tIns="0" rIns="0" bIns="0" rtlCol="0" anchor="t"/>
          <a:lstStyle/>
          <a:p>
            <a:pPr marL="0" indent="0" algn="l">
              <a:lnSpc>
                <a:spcPct val="104000"/>
              </a:lnSpc>
              <a:buNone/>
            </a:pPr>
            <a:r>
              <a:rPr lang="en-US" sz="2250" dirty="0">
                <a:solidFill>
                  <a:srgbClr val="1B1B27"/>
                </a:solidFill>
                <a:latin typeface="Raleway" pitchFamily="34" charset="0"/>
                <a:ea typeface="Raleway" pitchFamily="34" charset="-122"/>
                <a:cs typeface="Raleway" pitchFamily="34" charset="-120"/>
              </a:rPr>
              <a:t>Comparison of Existing Approaches</a:t>
            </a:r>
            <a:endParaRPr lang="en-US" sz="2250" dirty="0"/>
          </a:p>
        </p:txBody>
      </p:sp>
      <p:sp>
        <p:nvSpPr>
          <p:cNvPr id="3" name="Text 1"/>
          <p:cNvSpPr/>
          <p:nvPr/>
        </p:nvSpPr>
        <p:spPr>
          <a:xfrm>
            <a:off x="496119" y="865882"/>
            <a:ext cx="8151763" cy="181645"/>
          </a:xfrm>
          <a:prstGeom prst="rect">
            <a:avLst/>
          </a:prstGeom>
          <a:noFill/>
          <a:ln/>
        </p:spPr>
        <p:txBody>
          <a:bodyPr wrap="none" lIns="0" tIns="0" rIns="0" bIns="0" rtlCol="0" anchor="t"/>
          <a:lstStyle/>
          <a:p>
            <a:pPr marL="0" indent="0" algn="l">
              <a:lnSpc>
                <a:spcPct val="104000"/>
              </a:lnSpc>
              <a:buNone/>
            </a:pPr>
            <a:r>
              <a:rPr lang="en-US" sz="1100" dirty="0">
                <a:solidFill>
                  <a:srgbClr val="1B1B27"/>
                </a:solidFill>
                <a:latin typeface="Raleway" pitchFamily="34" charset="0"/>
                <a:ea typeface="Raleway" pitchFamily="34" charset="-122"/>
                <a:cs typeface="Raleway" pitchFamily="34" charset="-120"/>
              </a:rPr>
              <a:t>Feature-by-Feature Analysis Across Tools and Research</a:t>
            </a:r>
            <a:endParaRPr lang="en-US" sz="1100" dirty="0"/>
          </a:p>
        </p:txBody>
      </p:sp>
      <p:sp>
        <p:nvSpPr>
          <p:cNvPr id="4" name="Shape 2"/>
          <p:cNvSpPr/>
          <p:nvPr/>
        </p:nvSpPr>
        <p:spPr>
          <a:xfrm>
            <a:off x="496119" y="1211014"/>
            <a:ext cx="8151763" cy="3473500"/>
          </a:xfrm>
          <a:prstGeom prst="roundRect">
            <a:avLst>
              <a:gd name="adj" fmla="val 1406"/>
            </a:avLst>
          </a:prstGeom>
          <a:noFill/>
          <a:ln w="4763">
            <a:solidFill>
              <a:srgbClr val="000000">
                <a:alpha val="8000"/>
              </a:srgbClr>
            </a:solidFill>
            <a:prstDash val="solid"/>
          </a:ln>
        </p:spPr>
        <p:txBody>
          <a:bodyPr/>
          <a:lstStyle/>
          <a:p>
            <a:endParaRPr lang="en-IN"/>
          </a:p>
        </p:txBody>
      </p:sp>
      <p:sp>
        <p:nvSpPr>
          <p:cNvPr id="5" name="Shape 3"/>
          <p:cNvSpPr/>
          <p:nvPr/>
        </p:nvSpPr>
        <p:spPr>
          <a:xfrm>
            <a:off x="496119" y="1718965"/>
            <a:ext cx="8151763" cy="7268"/>
          </a:xfrm>
          <a:prstGeom prst="rect">
            <a:avLst/>
          </a:prstGeom>
          <a:solidFill>
            <a:srgbClr val="000000">
              <a:alpha val="8000"/>
            </a:srgbClr>
          </a:solidFill>
          <a:ln/>
        </p:spPr>
        <p:txBody>
          <a:bodyPr/>
          <a:lstStyle/>
          <a:p>
            <a:endParaRPr lang="en-IN"/>
          </a:p>
        </p:txBody>
      </p:sp>
      <p:sp>
        <p:nvSpPr>
          <p:cNvPr id="6" name="Shape 4"/>
          <p:cNvSpPr/>
          <p:nvPr/>
        </p:nvSpPr>
        <p:spPr>
          <a:xfrm>
            <a:off x="496119" y="2044303"/>
            <a:ext cx="8151763" cy="7268"/>
          </a:xfrm>
          <a:prstGeom prst="rect">
            <a:avLst/>
          </a:prstGeom>
          <a:solidFill>
            <a:srgbClr val="000000">
              <a:alpha val="8000"/>
            </a:srgbClr>
          </a:solidFill>
          <a:ln/>
        </p:spPr>
        <p:txBody>
          <a:bodyPr/>
          <a:lstStyle/>
          <a:p>
            <a:endParaRPr lang="en-IN"/>
          </a:p>
        </p:txBody>
      </p:sp>
      <p:sp>
        <p:nvSpPr>
          <p:cNvPr id="7" name="Shape 5"/>
          <p:cNvSpPr/>
          <p:nvPr/>
        </p:nvSpPr>
        <p:spPr>
          <a:xfrm>
            <a:off x="496119" y="2369641"/>
            <a:ext cx="8151763" cy="7268"/>
          </a:xfrm>
          <a:prstGeom prst="rect">
            <a:avLst/>
          </a:prstGeom>
          <a:solidFill>
            <a:srgbClr val="000000">
              <a:alpha val="8000"/>
            </a:srgbClr>
          </a:solidFill>
          <a:ln/>
        </p:spPr>
        <p:txBody>
          <a:bodyPr/>
          <a:lstStyle/>
          <a:p>
            <a:endParaRPr lang="en-IN"/>
          </a:p>
        </p:txBody>
      </p:sp>
      <p:sp>
        <p:nvSpPr>
          <p:cNvPr id="8" name="Shape 6"/>
          <p:cNvSpPr/>
          <p:nvPr/>
        </p:nvSpPr>
        <p:spPr>
          <a:xfrm>
            <a:off x="496119" y="2694980"/>
            <a:ext cx="8151763" cy="7268"/>
          </a:xfrm>
          <a:prstGeom prst="rect">
            <a:avLst/>
          </a:prstGeom>
          <a:solidFill>
            <a:srgbClr val="000000">
              <a:alpha val="8000"/>
            </a:srgbClr>
          </a:solidFill>
          <a:ln/>
        </p:spPr>
        <p:txBody>
          <a:bodyPr/>
          <a:lstStyle/>
          <a:p>
            <a:endParaRPr lang="en-IN"/>
          </a:p>
        </p:txBody>
      </p:sp>
      <p:sp>
        <p:nvSpPr>
          <p:cNvPr id="9" name="Shape 7"/>
          <p:cNvSpPr/>
          <p:nvPr/>
        </p:nvSpPr>
        <p:spPr>
          <a:xfrm>
            <a:off x="496119" y="3020318"/>
            <a:ext cx="8151763" cy="7268"/>
          </a:xfrm>
          <a:prstGeom prst="rect">
            <a:avLst/>
          </a:prstGeom>
          <a:solidFill>
            <a:srgbClr val="000000">
              <a:alpha val="8000"/>
            </a:srgbClr>
          </a:solidFill>
          <a:ln/>
        </p:spPr>
        <p:txBody>
          <a:bodyPr/>
          <a:lstStyle/>
          <a:p>
            <a:endParaRPr lang="en-IN"/>
          </a:p>
        </p:txBody>
      </p:sp>
      <p:sp>
        <p:nvSpPr>
          <p:cNvPr id="10" name="Shape 8"/>
          <p:cNvSpPr/>
          <p:nvPr/>
        </p:nvSpPr>
        <p:spPr>
          <a:xfrm>
            <a:off x="496119" y="3345656"/>
            <a:ext cx="8151763" cy="7268"/>
          </a:xfrm>
          <a:prstGeom prst="rect">
            <a:avLst/>
          </a:prstGeom>
          <a:solidFill>
            <a:srgbClr val="000000">
              <a:alpha val="8000"/>
            </a:srgbClr>
          </a:solidFill>
          <a:ln/>
        </p:spPr>
        <p:txBody>
          <a:bodyPr/>
          <a:lstStyle/>
          <a:p>
            <a:endParaRPr lang="en-IN"/>
          </a:p>
        </p:txBody>
      </p:sp>
      <p:sp>
        <p:nvSpPr>
          <p:cNvPr id="11" name="Shape 9"/>
          <p:cNvSpPr/>
          <p:nvPr/>
        </p:nvSpPr>
        <p:spPr>
          <a:xfrm>
            <a:off x="496119" y="3851225"/>
            <a:ext cx="8151763" cy="7268"/>
          </a:xfrm>
          <a:prstGeom prst="rect">
            <a:avLst/>
          </a:prstGeom>
          <a:solidFill>
            <a:srgbClr val="000000">
              <a:alpha val="8000"/>
            </a:srgbClr>
          </a:solidFill>
          <a:ln/>
        </p:spPr>
        <p:txBody>
          <a:bodyPr/>
          <a:lstStyle/>
          <a:p>
            <a:endParaRPr lang="en-IN"/>
          </a:p>
        </p:txBody>
      </p:sp>
      <p:sp>
        <p:nvSpPr>
          <p:cNvPr id="12" name="Shape 10"/>
          <p:cNvSpPr/>
          <p:nvPr/>
        </p:nvSpPr>
        <p:spPr>
          <a:xfrm>
            <a:off x="496119" y="4176564"/>
            <a:ext cx="8151763" cy="7268"/>
          </a:xfrm>
          <a:prstGeom prst="rect">
            <a:avLst/>
          </a:prstGeom>
          <a:solidFill>
            <a:srgbClr val="000000">
              <a:alpha val="8000"/>
            </a:srgbClr>
          </a:solidFill>
          <a:ln/>
        </p:spPr>
        <p:txBody>
          <a:bodyPr/>
          <a:lstStyle/>
          <a:p>
            <a:endParaRPr lang="en-IN"/>
          </a:p>
        </p:txBody>
      </p:sp>
      <p:sp>
        <p:nvSpPr>
          <p:cNvPr id="13" name="Shape 11"/>
          <p:cNvSpPr/>
          <p:nvPr/>
        </p:nvSpPr>
        <p:spPr>
          <a:xfrm>
            <a:off x="1858491" y="1211014"/>
            <a:ext cx="7268" cy="3473500"/>
          </a:xfrm>
          <a:prstGeom prst="rect">
            <a:avLst/>
          </a:prstGeom>
          <a:solidFill>
            <a:srgbClr val="000000">
              <a:alpha val="8000"/>
            </a:srgbClr>
          </a:solidFill>
          <a:ln/>
        </p:spPr>
        <p:txBody>
          <a:bodyPr/>
          <a:lstStyle/>
          <a:p>
            <a:endParaRPr lang="en-IN"/>
          </a:p>
        </p:txBody>
      </p:sp>
      <p:sp>
        <p:nvSpPr>
          <p:cNvPr id="14" name="Shape 12"/>
          <p:cNvSpPr/>
          <p:nvPr/>
        </p:nvSpPr>
        <p:spPr>
          <a:xfrm>
            <a:off x="3215729" y="1211014"/>
            <a:ext cx="7268" cy="3473500"/>
          </a:xfrm>
          <a:prstGeom prst="rect">
            <a:avLst/>
          </a:prstGeom>
          <a:solidFill>
            <a:srgbClr val="000000">
              <a:alpha val="8000"/>
            </a:srgbClr>
          </a:solidFill>
          <a:ln/>
        </p:spPr>
        <p:txBody>
          <a:bodyPr/>
          <a:lstStyle/>
          <a:p>
            <a:endParaRPr lang="en-IN"/>
          </a:p>
        </p:txBody>
      </p:sp>
      <p:sp>
        <p:nvSpPr>
          <p:cNvPr id="15" name="Shape 13"/>
          <p:cNvSpPr/>
          <p:nvPr/>
        </p:nvSpPr>
        <p:spPr>
          <a:xfrm>
            <a:off x="4572967" y="1211014"/>
            <a:ext cx="7268" cy="3473500"/>
          </a:xfrm>
          <a:prstGeom prst="rect">
            <a:avLst/>
          </a:prstGeom>
          <a:solidFill>
            <a:srgbClr val="000000">
              <a:alpha val="8000"/>
            </a:srgbClr>
          </a:solidFill>
          <a:ln/>
        </p:spPr>
        <p:txBody>
          <a:bodyPr/>
          <a:lstStyle/>
          <a:p>
            <a:endParaRPr lang="en-IN"/>
          </a:p>
        </p:txBody>
      </p:sp>
      <p:sp>
        <p:nvSpPr>
          <p:cNvPr id="16" name="Shape 14"/>
          <p:cNvSpPr/>
          <p:nvPr/>
        </p:nvSpPr>
        <p:spPr>
          <a:xfrm>
            <a:off x="5930205" y="1211014"/>
            <a:ext cx="7268" cy="3473500"/>
          </a:xfrm>
          <a:prstGeom prst="rect">
            <a:avLst/>
          </a:prstGeom>
          <a:solidFill>
            <a:srgbClr val="000000">
              <a:alpha val="8000"/>
            </a:srgbClr>
          </a:solidFill>
          <a:ln/>
        </p:spPr>
        <p:txBody>
          <a:bodyPr/>
          <a:lstStyle/>
          <a:p>
            <a:endParaRPr lang="en-IN"/>
          </a:p>
        </p:txBody>
      </p:sp>
      <p:sp>
        <p:nvSpPr>
          <p:cNvPr id="17" name="Shape 15"/>
          <p:cNvSpPr/>
          <p:nvPr/>
        </p:nvSpPr>
        <p:spPr>
          <a:xfrm>
            <a:off x="7287444" y="1211014"/>
            <a:ext cx="7268" cy="3473500"/>
          </a:xfrm>
          <a:prstGeom prst="rect">
            <a:avLst/>
          </a:prstGeom>
          <a:solidFill>
            <a:srgbClr val="000000">
              <a:alpha val="8000"/>
            </a:srgbClr>
          </a:solidFill>
          <a:ln/>
        </p:spPr>
        <p:txBody>
          <a:bodyPr/>
          <a:lstStyle/>
          <a:p>
            <a:endParaRPr lang="en-IN"/>
          </a:p>
        </p:txBody>
      </p:sp>
      <p:sp>
        <p:nvSpPr>
          <p:cNvPr id="18" name="Shape 16"/>
          <p:cNvSpPr/>
          <p:nvPr/>
        </p:nvSpPr>
        <p:spPr>
          <a:xfrm>
            <a:off x="501253" y="1215777"/>
            <a:ext cx="1357238" cy="503188"/>
          </a:xfrm>
          <a:custGeom>
            <a:avLst/>
            <a:gdLst/>
            <a:ahLst/>
            <a:cxnLst/>
            <a:rect l="l" t="t" r="r" b="b"/>
            <a:pathLst>
              <a:path w="1357238" h="503188">
                <a:moveTo>
                  <a:pt x="40703" y="0"/>
                </a:moveTo>
                <a:lnTo>
                  <a:pt x="1357238" y="0"/>
                </a:lnTo>
                <a:lnTo>
                  <a:pt x="1357238" y="503188"/>
                </a:lnTo>
                <a:lnTo>
                  <a:pt x="0" y="503188"/>
                </a:lnTo>
                <a:lnTo>
                  <a:pt x="0" y="40703"/>
                </a:lnTo>
                <a:arcTo wR="40703" hR="40703" stAng="10800000" swAng="5400000"/>
                <a:close/>
              </a:path>
            </a:pathLst>
          </a:custGeom>
          <a:solidFill>
            <a:srgbClr val="1B1B27"/>
          </a:solidFill>
          <a:ln/>
        </p:spPr>
        <p:txBody>
          <a:bodyPr/>
          <a:lstStyle/>
          <a:p>
            <a:endParaRPr lang="en-IN"/>
          </a:p>
        </p:txBody>
      </p:sp>
      <p:sp>
        <p:nvSpPr>
          <p:cNvPr id="19" name="Text 17"/>
          <p:cNvSpPr/>
          <p:nvPr/>
        </p:nvSpPr>
        <p:spPr>
          <a:xfrm>
            <a:off x="617488" y="1285949"/>
            <a:ext cx="1579587" cy="180231"/>
          </a:xfrm>
          <a:prstGeom prst="rect">
            <a:avLst/>
          </a:prstGeom>
          <a:noFill/>
          <a:ln/>
        </p:spPr>
        <p:txBody>
          <a:bodyPr wrap="none" lIns="0" tIns="0" rIns="0" bIns="0" rtlCol="0" anchor="t"/>
          <a:lstStyle/>
          <a:p>
            <a:pPr marL="0" indent="0" algn="l">
              <a:lnSpc>
                <a:spcPct val="129000"/>
              </a:lnSpc>
              <a:buNone/>
            </a:pPr>
            <a:r>
              <a:rPr lang="en-US" sz="900" b="1" dirty="0">
                <a:solidFill>
                  <a:srgbClr val="FFFFFF"/>
                </a:solidFill>
                <a:latin typeface="Roboto Bold" pitchFamily="34" charset="0"/>
                <a:ea typeface="Roboto Bold" pitchFamily="34" charset="-122"/>
                <a:cs typeface="Roboto Bold" pitchFamily="34" charset="-120"/>
              </a:rPr>
              <a:t>Feature</a:t>
            </a:r>
            <a:endParaRPr lang="en-US" sz="900" dirty="0"/>
          </a:p>
        </p:txBody>
      </p:sp>
      <p:sp>
        <p:nvSpPr>
          <p:cNvPr id="20" name="Shape 18"/>
          <p:cNvSpPr/>
          <p:nvPr/>
        </p:nvSpPr>
        <p:spPr>
          <a:xfrm>
            <a:off x="1858491" y="1215777"/>
            <a:ext cx="1357238" cy="503188"/>
          </a:xfrm>
          <a:prstGeom prst="rect">
            <a:avLst/>
          </a:prstGeom>
          <a:solidFill>
            <a:srgbClr val="1B1B27"/>
          </a:solidFill>
          <a:ln/>
        </p:spPr>
        <p:txBody>
          <a:bodyPr/>
          <a:lstStyle/>
          <a:p>
            <a:endParaRPr lang="en-IN"/>
          </a:p>
        </p:txBody>
      </p:sp>
      <p:sp>
        <p:nvSpPr>
          <p:cNvPr id="21" name="Text 19"/>
          <p:cNvSpPr/>
          <p:nvPr/>
        </p:nvSpPr>
        <p:spPr>
          <a:xfrm>
            <a:off x="1977107" y="1285949"/>
            <a:ext cx="1120006" cy="360462"/>
          </a:xfrm>
          <a:prstGeom prst="rect">
            <a:avLst/>
          </a:prstGeom>
          <a:noFill/>
          <a:ln/>
        </p:spPr>
        <p:txBody>
          <a:bodyPr wrap="square" lIns="0" tIns="0" rIns="0" bIns="0" rtlCol="0" anchor="t">
            <a:normAutofit/>
          </a:bodyPr>
          <a:lstStyle/>
          <a:p>
            <a:pPr marL="0" indent="0" algn="l">
              <a:lnSpc>
                <a:spcPct val="129000"/>
              </a:lnSpc>
              <a:buNone/>
            </a:pPr>
            <a:r>
              <a:rPr lang="en-US" sz="900" b="1" dirty="0">
                <a:solidFill>
                  <a:srgbClr val="FFFFFF"/>
                </a:solidFill>
                <a:latin typeface="Roboto Bold" pitchFamily="34" charset="0"/>
                <a:ea typeface="Roboto Bold" pitchFamily="34" charset="-122"/>
                <a:cs typeface="Roboto Bold" pitchFamily="34" charset="-120"/>
              </a:rPr>
              <a:t>Task Manager / System Monitor</a:t>
            </a:r>
            <a:endParaRPr lang="en-US" sz="900" dirty="0"/>
          </a:p>
        </p:txBody>
      </p:sp>
      <p:sp>
        <p:nvSpPr>
          <p:cNvPr id="22" name="Shape 20"/>
          <p:cNvSpPr/>
          <p:nvPr/>
        </p:nvSpPr>
        <p:spPr>
          <a:xfrm>
            <a:off x="3215729" y="1215777"/>
            <a:ext cx="1357238" cy="503188"/>
          </a:xfrm>
          <a:prstGeom prst="rect">
            <a:avLst/>
          </a:prstGeom>
          <a:solidFill>
            <a:srgbClr val="1B1B27"/>
          </a:solidFill>
          <a:ln/>
        </p:spPr>
        <p:txBody>
          <a:bodyPr/>
          <a:lstStyle/>
          <a:p>
            <a:endParaRPr lang="en-IN"/>
          </a:p>
        </p:txBody>
      </p:sp>
      <p:sp>
        <p:nvSpPr>
          <p:cNvPr id="23" name="Text 21"/>
          <p:cNvSpPr/>
          <p:nvPr/>
        </p:nvSpPr>
        <p:spPr>
          <a:xfrm>
            <a:off x="3334345" y="1285949"/>
            <a:ext cx="1577206" cy="180231"/>
          </a:xfrm>
          <a:prstGeom prst="rect">
            <a:avLst/>
          </a:prstGeom>
          <a:noFill/>
          <a:ln/>
        </p:spPr>
        <p:txBody>
          <a:bodyPr wrap="none" lIns="0" tIns="0" rIns="0" bIns="0" rtlCol="0" anchor="t"/>
          <a:lstStyle/>
          <a:p>
            <a:pPr marL="0" indent="0" algn="l">
              <a:lnSpc>
                <a:spcPct val="129000"/>
              </a:lnSpc>
              <a:buNone/>
            </a:pPr>
            <a:r>
              <a:rPr lang="en-US" sz="900" b="1" dirty="0">
                <a:solidFill>
                  <a:srgbClr val="FFFFFF"/>
                </a:solidFill>
                <a:latin typeface="Roboto Bold" pitchFamily="34" charset="0"/>
                <a:ea typeface="Roboto Bold" pitchFamily="34" charset="-122"/>
                <a:cs typeface="Roboto Bold" pitchFamily="34" charset="-120"/>
              </a:rPr>
              <a:t>Monitoring Research</a:t>
            </a:r>
            <a:endParaRPr lang="en-US" sz="900" dirty="0"/>
          </a:p>
        </p:txBody>
      </p:sp>
      <p:sp>
        <p:nvSpPr>
          <p:cNvPr id="24" name="Shape 22"/>
          <p:cNvSpPr/>
          <p:nvPr/>
        </p:nvSpPr>
        <p:spPr>
          <a:xfrm>
            <a:off x="4572967" y="1215777"/>
            <a:ext cx="1357238" cy="503188"/>
          </a:xfrm>
          <a:prstGeom prst="rect">
            <a:avLst/>
          </a:prstGeom>
          <a:solidFill>
            <a:srgbClr val="1B1B27"/>
          </a:solidFill>
          <a:ln/>
        </p:spPr>
        <p:txBody>
          <a:bodyPr/>
          <a:lstStyle/>
          <a:p>
            <a:endParaRPr lang="en-IN"/>
          </a:p>
        </p:txBody>
      </p:sp>
      <p:sp>
        <p:nvSpPr>
          <p:cNvPr id="25" name="Text 23"/>
          <p:cNvSpPr/>
          <p:nvPr/>
        </p:nvSpPr>
        <p:spPr>
          <a:xfrm>
            <a:off x="4691583" y="1285949"/>
            <a:ext cx="1120006" cy="360462"/>
          </a:xfrm>
          <a:prstGeom prst="rect">
            <a:avLst/>
          </a:prstGeom>
          <a:noFill/>
          <a:ln/>
        </p:spPr>
        <p:txBody>
          <a:bodyPr wrap="square" lIns="0" tIns="0" rIns="0" bIns="0" rtlCol="0" anchor="t">
            <a:normAutofit/>
          </a:bodyPr>
          <a:lstStyle/>
          <a:p>
            <a:pPr marL="0" indent="0" algn="l">
              <a:lnSpc>
                <a:spcPct val="129000"/>
              </a:lnSpc>
              <a:buNone/>
            </a:pPr>
            <a:r>
              <a:rPr lang="en-US" sz="900" b="1" dirty="0">
                <a:solidFill>
                  <a:srgbClr val="FFFFFF"/>
                </a:solidFill>
                <a:latin typeface="Roboto Bold" pitchFamily="34" charset="0"/>
                <a:ea typeface="Roboto Bold" pitchFamily="34" charset="-122"/>
                <a:cs typeface="Roboto Bold" pitchFamily="34" charset="-120"/>
              </a:rPr>
              <a:t>Adaptive OS Research</a:t>
            </a:r>
            <a:endParaRPr lang="en-US" sz="900" dirty="0"/>
          </a:p>
        </p:txBody>
      </p:sp>
      <p:sp>
        <p:nvSpPr>
          <p:cNvPr id="26" name="Shape 24"/>
          <p:cNvSpPr/>
          <p:nvPr/>
        </p:nvSpPr>
        <p:spPr>
          <a:xfrm>
            <a:off x="5930205" y="1215777"/>
            <a:ext cx="1357238" cy="503188"/>
          </a:xfrm>
          <a:prstGeom prst="rect">
            <a:avLst/>
          </a:prstGeom>
          <a:solidFill>
            <a:srgbClr val="1B1B27"/>
          </a:solidFill>
          <a:ln/>
        </p:spPr>
        <p:txBody>
          <a:bodyPr/>
          <a:lstStyle/>
          <a:p>
            <a:endParaRPr lang="en-IN"/>
          </a:p>
        </p:txBody>
      </p:sp>
      <p:sp>
        <p:nvSpPr>
          <p:cNvPr id="27" name="Text 25"/>
          <p:cNvSpPr/>
          <p:nvPr/>
        </p:nvSpPr>
        <p:spPr>
          <a:xfrm>
            <a:off x="6048821" y="1285949"/>
            <a:ext cx="1577206" cy="180231"/>
          </a:xfrm>
          <a:prstGeom prst="rect">
            <a:avLst/>
          </a:prstGeom>
          <a:noFill/>
          <a:ln/>
        </p:spPr>
        <p:txBody>
          <a:bodyPr wrap="none" lIns="0" tIns="0" rIns="0" bIns="0" rtlCol="0" anchor="t"/>
          <a:lstStyle/>
          <a:p>
            <a:pPr marL="0" indent="0" algn="l">
              <a:lnSpc>
                <a:spcPct val="129000"/>
              </a:lnSpc>
              <a:buNone/>
            </a:pPr>
            <a:r>
              <a:rPr lang="en-US" sz="900" b="1" dirty="0">
                <a:solidFill>
                  <a:srgbClr val="FFFFFF"/>
                </a:solidFill>
                <a:latin typeface="Roboto Bold" pitchFamily="34" charset="0"/>
                <a:ea typeface="Roboto Bold" pitchFamily="34" charset="-122"/>
                <a:cs typeface="Roboto Bold" pitchFamily="34" charset="-120"/>
              </a:rPr>
              <a:t>SmartOS</a:t>
            </a:r>
            <a:endParaRPr lang="en-US" sz="900" dirty="0"/>
          </a:p>
        </p:txBody>
      </p:sp>
      <p:sp>
        <p:nvSpPr>
          <p:cNvPr id="28" name="Shape 26"/>
          <p:cNvSpPr/>
          <p:nvPr/>
        </p:nvSpPr>
        <p:spPr>
          <a:xfrm>
            <a:off x="7287444" y="1215777"/>
            <a:ext cx="1357238" cy="503188"/>
          </a:xfrm>
          <a:custGeom>
            <a:avLst/>
            <a:gdLst/>
            <a:ahLst/>
            <a:cxnLst/>
            <a:rect l="l" t="t" r="r" b="b"/>
            <a:pathLst>
              <a:path w="1357238" h="503188">
                <a:moveTo>
                  <a:pt x="0" y="0"/>
                </a:moveTo>
                <a:lnTo>
                  <a:pt x="1316535" y="0"/>
                </a:lnTo>
                <a:arcTo wR="40703" hR="40703" stAng="16200000" swAng="5400000"/>
                <a:lnTo>
                  <a:pt x="1357238" y="503188"/>
                </a:lnTo>
                <a:lnTo>
                  <a:pt x="0" y="503188"/>
                </a:lnTo>
                <a:lnTo>
                  <a:pt x="0" y="0"/>
                </a:lnTo>
                <a:close/>
              </a:path>
            </a:pathLst>
          </a:custGeom>
          <a:solidFill>
            <a:srgbClr val="1B1B27"/>
          </a:solidFill>
          <a:ln/>
        </p:spPr>
        <p:txBody>
          <a:bodyPr/>
          <a:lstStyle/>
          <a:p>
            <a:endParaRPr lang="en-IN"/>
          </a:p>
        </p:txBody>
      </p:sp>
      <p:sp>
        <p:nvSpPr>
          <p:cNvPr id="29" name="Text 27"/>
          <p:cNvSpPr/>
          <p:nvPr/>
        </p:nvSpPr>
        <p:spPr>
          <a:xfrm>
            <a:off x="7406060" y="1285949"/>
            <a:ext cx="1579587" cy="180231"/>
          </a:xfrm>
          <a:prstGeom prst="rect">
            <a:avLst/>
          </a:prstGeom>
          <a:noFill/>
          <a:ln/>
        </p:spPr>
        <p:txBody>
          <a:bodyPr wrap="none" lIns="0" tIns="0" rIns="0" bIns="0" rtlCol="0" anchor="t"/>
          <a:lstStyle/>
          <a:p>
            <a:pPr marL="0" indent="0" algn="l">
              <a:lnSpc>
                <a:spcPct val="129000"/>
              </a:lnSpc>
              <a:buNone/>
            </a:pPr>
            <a:r>
              <a:rPr lang="en-US" sz="900" b="1" dirty="0">
                <a:solidFill>
                  <a:srgbClr val="FFFFFF"/>
                </a:solidFill>
                <a:latin typeface="Roboto Bold" pitchFamily="34" charset="0"/>
                <a:ea typeface="Roboto Bold" pitchFamily="34" charset="-122"/>
                <a:cs typeface="Roboto Bold" pitchFamily="34" charset="-120"/>
              </a:rPr>
              <a:t>Our Project</a:t>
            </a:r>
            <a:endParaRPr lang="en-US" sz="900" dirty="0"/>
          </a:p>
        </p:txBody>
      </p:sp>
      <p:sp>
        <p:nvSpPr>
          <p:cNvPr id="30" name="Text 28"/>
          <p:cNvSpPr/>
          <p:nvPr/>
        </p:nvSpPr>
        <p:spPr>
          <a:xfrm>
            <a:off x="617488" y="1791519"/>
            <a:ext cx="1579587" cy="180231"/>
          </a:xfrm>
          <a:prstGeom prst="rect">
            <a:avLst/>
          </a:prstGeom>
          <a:noFill/>
          <a:ln/>
        </p:spPr>
        <p:txBody>
          <a:bodyPr wrap="none" lIns="0" tIns="0" rIns="0" bIns="0" rtlCol="0" anchor="t"/>
          <a:lstStyle/>
          <a:p>
            <a:pPr marL="0" indent="0" algn="l">
              <a:lnSpc>
                <a:spcPct val="129000"/>
              </a:lnSpc>
              <a:buNone/>
            </a:pPr>
            <a:r>
              <a:rPr lang="en-US" sz="900" dirty="0">
                <a:solidFill>
                  <a:srgbClr val="3C3939"/>
                </a:solidFill>
                <a:latin typeface="Roboto" pitchFamily="34" charset="0"/>
                <a:ea typeface="Roboto" pitchFamily="34" charset="-122"/>
                <a:cs typeface="Roboto" pitchFamily="34" charset="-120"/>
              </a:rPr>
              <a:t>Process monitoring</a:t>
            </a:r>
            <a:endParaRPr lang="en-US" sz="900" dirty="0"/>
          </a:p>
        </p:txBody>
      </p:sp>
      <p:sp>
        <p:nvSpPr>
          <p:cNvPr id="31" name="Text 29"/>
          <p:cNvSpPr/>
          <p:nvPr/>
        </p:nvSpPr>
        <p:spPr>
          <a:xfrm>
            <a:off x="1748507" y="1791519"/>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32" name="Text 30"/>
          <p:cNvSpPr/>
          <p:nvPr/>
        </p:nvSpPr>
        <p:spPr>
          <a:xfrm>
            <a:off x="3105745" y="1791519"/>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33" name="Text 31"/>
          <p:cNvSpPr/>
          <p:nvPr/>
        </p:nvSpPr>
        <p:spPr>
          <a:xfrm>
            <a:off x="4462983" y="1791519"/>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34" name="Text 32"/>
          <p:cNvSpPr/>
          <p:nvPr/>
        </p:nvSpPr>
        <p:spPr>
          <a:xfrm>
            <a:off x="5820221" y="1791519"/>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35" name="Text 33"/>
          <p:cNvSpPr/>
          <p:nvPr/>
        </p:nvSpPr>
        <p:spPr>
          <a:xfrm>
            <a:off x="7177460" y="1791519"/>
            <a:ext cx="1579587"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Planned</a:t>
            </a:r>
            <a:endParaRPr lang="en-US" sz="900" dirty="0"/>
          </a:p>
        </p:txBody>
      </p:sp>
      <p:sp>
        <p:nvSpPr>
          <p:cNvPr id="36" name="Text 34"/>
          <p:cNvSpPr/>
          <p:nvPr/>
        </p:nvSpPr>
        <p:spPr>
          <a:xfrm>
            <a:off x="617488" y="2116857"/>
            <a:ext cx="1579587" cy="180231"/>
          </a:xfrm>
          <a:prstGeom prst="rect">
            <a:avLst/>
          </a:prstGeom>
          <a:noFill/>
          <a:ln/>
        </p:spPr>
        <p:txBody>
          <a:bodyPr wrap="none" lIns="0" tIns="0" rIns="0" bIns="0" rtlCol="0" anchor="t"/>
          <a:lstStyle/>
          <a:p>
            <a:pPr marL="0" indent="0" algn="l">
              <a:lnSpc>
                <a:spcPct val="129000"/>
              </a:lnSpc>
              <a:buNone/>
            </a:pPr>
            <a:r>
              <a:rPr lang="en-US" sz="900" dirty="0">
                <a:solidFill>
                  <a:srgbClr val="3C3939"/>
                </a:solidFill>
                <a:latin typeface="Roboto" pitchFamily="34" charset="0"/>
                <a:ea typeface="Roboto" pitchFamily="34" charset="-122"/>
                <a:cs typeface="Roboto" pitchFamily="34" charset="-120"/>
              </a:rPr>
              <a:t>CPU monitoring</a:t>
            </a:r>
            <a:endParaRPr lang="en-US" sz="900" dirty="0"/>
          </a:p>
        </p:txBody>
      </p:sp>
      <p:sp>
        <p:nvSpPr>
          <p:cNvPr id="37" name="Text 35"/>
          <p:cNvSpPr/>
          <p:nvPr/>
        </p:nvSpPr>
        <p:spPr>
          <a:xfrm>
            <a:off x="1748507" y="2116857"/>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38" name="Text 36"/>
          <p:cNvSpPr/>
          <p:nvPr/>
        </p:nvSpPr>
        <p:spPr>
          <a:xfrm>
            <a:off x="3105745" y="2116857"/>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39" name="Text 37"/>
          <p:cNvSpPr/>
          <p:nvPr/>
        </p:nvSpPr>
        <p:spPr>
          <a:xfrm>
            <a:off x="4462983" y="2116857"/>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40" name="Text 38"/>
          <p:cNvSpPr/>
          <p:nvPr/>
        </p:nvSpPr>
        <p:spPr>
          <a:xfrm>
            <a:off x="5820221" y="2116857"/>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41" name="Text 39"/>
          <p:cNvSpPr/>
          <p:nvPr/>
        </p:nvSpPr>
        <p:spPr>
          <a:xfrm>
            <a:off x="7177460" y="2116857"/>
            <a:ext cx="1579587"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Planned</a:t>
            </a:r>
            <a:endParaRPr lang="en-US" sz="900" dirty="0"/>
          </a:p>
        </p:txBody>
      </p:sp>
      <p:sp>
        <p:nvSpPr>
          <p:cNvPr id="42" name="Text 40"/>
          <p:cNvSpPr/>
          <p:nvPr/>
        </p:nvSpPr>
        <p:spPr>
          <a:xfrm>
            <a:off x="617488" y="2442195"/>
            <a:ext cx="1579587" cy="180231"/>
          </a:xfrm>
          <a:prstGeom prst="rect">
            <a:avLst/>
          </a:prstGeom>
          <a:noFill/>
          <a:ln/>
        </p:spPr>
        <p:txBody>
          <a:bodyPr wrap="none" lIns="0" tIns="0" rIns="0" bIns="0" rtlCol="0" anchor="t"/>
          <a:lstStyle/>
          <a:p>
            <a:pPr marL="0" indent="0" algn="l">
              <a:lnSpc>
                <a:spcPct val="129000"/>
              </a:lnSpc>
              <a:buNone/>
            </a:pPr>
            <a:r>
              <a:rPr lang="en-US" sz="900" dirty="0">
                <a:solidFill>
                  <a:srgbClr val="3C3939"/>
                </a:solidFill>
                <a:latin typeface="Roboto" pitchFamily="34" charset="0"/>
                <a:ea typeface="Roboto" pitchFamily="34" charset="-122"/>
                <a:cs typeface="Roboto" pitchFamily="34" charset="-120"/>
              </a:rPr>
              <a:t>Memory monitoring</a:t>
            </a:r>
            <a:endParaRPr lang="en-US" sz="900" dirty="0"/>
          </a:p>
        </p:txBody>
      </p:sp>
      <p:sp>
        <p:nvSpPr>
          <p:cNvPr id="43" name="Text 41"/>
          <p:cNvSpPr/>
          <p:nvPr/>
        </p:nvSpPr>
        <p:spPr>
          <a:xfrm>
            <a:off x="1748507" y="2442195"/>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44" name="Text 42"/>
          <p:cNvSpPr/>
          <p:nvPr/>
        </p:nvSpPr>
        <p:spPr>
          <a:xfrm>
            <a:off x="3105745" y="2442195"/>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45" name="Text 43"/>
          <p:cNvSpPr/>
          <p:nvPr/>
        </p:nvSpPr>
        <p:spPr>
          <a:xfrm>
            <a:off x="4462983" y="2442195"/>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46" name="Text 44"/>
          <p:cNvSpPr/>
          <p:nvPr/>
        </p:nvSpPr>
        <p:spPr>
          <a:xfrm>
            <a:off x="5820221" y="2442195"/>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47" name="Text 45"/>
          <p:cNvSpPr/>
          <p:nvPr/>
        </p:nvSpPr>
        <p:spPr>
          <a:xfrm>
            <a:off x="7177460" y="2442195"/>
            <a:ext cx="1579587"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Planned</a:t>
            </a:r>
            <a:endParaRPr lang="en-US" sz="900" dirty="0"/>
          </a:p>
        </p:txBody>
      </p:sp>
      <p:sp>
        <p:nvSpPr>
          <p:cNvPr id="48" name="Text 46"/>
          <p:cNvSpPr/>
          <p:nvPr/>
        </p:nvSpPr>
        <p:spPr>
          <a:xfrm>
            <a:off x="617488" y="2767533"/>
            <a:ext cx="1579587" cy="180231"/>
          </a:xfrm>
          <a:prstGeom prst="rect">
            <a:avLst/>
          </a:prstGeom>
          <a:noFill/>
          <a:ln/>
        </p:spPr>
        <p:txBody>
          <a:bodyPr wrap="none" lIns="0" tIns="0" rIns="0" bIns="0" rtlCol="0" anchor="t"/>
          <a:lstStyle/>
          <a:p>
            <a:pPr marL="0" indent="0" algn="l">
              <a:lnSpc>
                <a:spcPct val="129000"/>
              </a:lnSpc>
              <a:buNone/>
            </a:pPr>
            <a:r>
              <a:rPr lang="en-US" sz="900" dirty="0">
                <a:solidFill>
                  <a:srgbClr val="3C3939"/>
                </a:solidFill>
                <a:latin typeface="Roboto" pitchFamily="34" charset="0"/>
                <a:ea typeface="Roboto" pitchFamily="34" charset="-122"/>
                <a:cs typeface="Roboto" pitchFamily="34" charset="-120"/>
              </a:rPr>
              <a:t>Workload analysis</a:t>
            </a:r>
            <a:endParaRPr lang="en-US" sz="900" dirty="0"/>
          </a:p>
        </p:txBody>
      </p:sp>
      <p:sp>
        <p:nvSpPr>
          <p:cNvPr id="49" name="Text 47"/>
          <p:cNvSpPr/>
          <p:nvPr/>
        </p:nvSpPr>
        <p:spPr>
          <a:xfrm>
            <a:off x="1748507" y="2767533"/>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Limited</a:t>
            </a:r>
            <a:endParaRPr lang="en-US" sz="900" dirty="0"/>
          </a:p>
        </p:txBody>
      </p:sp>
      <p:sp>
        <p:nvSpPr>
          <p:cNvPr id="50" name="Text 48"/>
          <p:cNvSpPr/>
          <p:nvPr/>
        </p:nvSpPr>
        <p:spPr>
          <a:xfrm>
            <a:off x="3105745" y="2767533"/>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51" name="Text 49"/>
          <p:cNvSpPr/>
          <p:nvPr/>
        </p:nvSpPr>
        <p:spPr>
          <a:xfrm>
            <a:off x="4462983" y="2767533"/>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52" name="Text 50"/>
          <p:cNvSpPr/>
          <p:nvPr/>
        </p:nvSpPr>
        <p:spPr>
          <a:xfrm>
            <a:off x="5820221" y="2767533"/>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53" name="Text 51"/>
          <p:cNvSpPr/>
          <p:nvPr/>
        </p:nvSpPr>
        <p:spPr>
          <a:xfrm>
            <a:off x="7177460" y="2767533"/>
            <a:ext cx="1579587"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Planned</a:t>
            </a:r>
            <a:endParaRPr lang="en-US" sz="900" dirty="0"/>
          </a:p>
        </p:txBody>
      </p:sp>
      <p:sp>
        <p:nvSpPr>
          <p:cNvPr id="54" name="Text 52"/>
          <p:cNvSpPr/>
          <p:nvPr/>
        </p:nvSpPr>
        <p:spPr>
          <a:xfrm>
            <a:off x="617488" y="3092872"/>
            <a:ext cx="1579587" cy="180231"/>
          </a:xfrm>
          <a:prstGeom prst="rect">
            <a:avLst/>
          </a:prstGeom>
          <a:noFill/>
          <a:ln/>
        </p:spPr>
        <p:txBody>
          <a:bodyPr wrap="none" lIns="0" tIns="0" rIns="0" bIns="0" rtlCol="0" anchor="t"/>
          <a:lstStyle/>
          <a:p>
            <a:pPr marL="0" indent="0" algn="l">
              <a:lnSpc>
                <a:spcPct val="129000"/>
              </a:lnSpc>
              <a:buNone/>
            </a:pPr>
            <a:r>
              <a:rPr lang="en-US" sz="900" dirty="0">
                <a:solidFill>
                  <a:srgbClr val="3C3939"/>
                </a:solidFill>
                <a:latin typeface="Roboto" pitchFamily="34" charset="0"/>
                <a:ea typeface="Roboto" pitchFamily="34" charset="-122"/>
                <a:cs typeface="Roboto" pitchFamily="34" charset="-120"/>
              </a:rPr>
              <a:t>User-aware decisions</a:t>
            </a:r>
            <a:endParaRPr lang="en-US" sz="900" dirty="0"/>
          </a:p>
        </p:txBody>
      </p:sp>
      <p:sp>
        <p:nvSpPr>
          <p:cNvPr id="55" name="Text 53"/>
          <p:cNvSpPr/>
          <p:nvPr/>
        </p:nvSpPr>
        <p:spPr>
          <a:xfrm>
            <a:off x="1748507" y="3092872"/>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56" name="Text 54"/>
          <p:cNvSpPr/>
          <p:nvPr/>
        </p:nvSpPr>
        <p:spPr>
          <a:xfrm>
            <a:off x="3105745" y="3092872"/>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57" name="Text 55"/>
          <p:cNvSpPr/>
          <p:nvPr/>
        </p:nvSpPr>
        <p:spPr>
          <a:xfrm>
            <a:off x="4462983" y="3092872"/>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Limited</a:t>
            </a:r>
            <a:endParaRPr lang="en-US" sz="900" dirty="0"/>
          </a:p>
        </p:txBody>
      </p:sp>
      <p:sp>
        <p:nvSpPr>
          <p:cNvPr id="58" name="Text 56"/>
          <p:cNvSpPr/>
          <p:nvPr/>
        </p:nvSpPr>
        <p:spPr>
          <a:xfrm>
            <a:off x="5820221" y="3092872"/>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59" name="Text 57"/>
          <p:cNvSpPr/>
          <p:nvPr/>
        </p:nvSpPr>
        <p:spPr>
          <a:xfrm>
            <a:off x="7177460" y="3092872"/>
            <a:ext cx="1579587"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Planned</a:t>
            </a:r>
            <a:endParaRPr lang="en-US" sz="900" dirty="0"/>
          </a:p>
        </p:txBody>
      </p:sp>
      <p:sp>
        <p:nvSpPr>
          <p:cNvPr id="60" name="Text 58"/>
          <p:cNvSpPr/>
          <p:nvPr/>
        </p:nvSpPr>
        <p:spPr>
          <a:xfrm>
            <a:off x="617488" y="3418210"/>
            <a:ext cx="1122387"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3C3939"/>
                </a:solidFill>
                <a:latin typeface="Roboto" pitchFamily="34" charset="0"/>
                <a:ea typeface="Roboto" pitchFamily="34" charset="-122"/>
                <a:cs typeface="Roboto" pitchFamily="34" charset="-120"/>
              </a:rPr>
              <a:t>Intelligent suggestions</a:t>
            </a:r>
            <a:endParaRPr lang="en-US" sz="900" dirty="0"/>
          </a:p>
        </p:txBody>
      </p:sp>
      <p:sp>
        <p:nvSpPr>
          <p:cNvPr id="61" name="Text 59"/>
          <p:cNvSpPr/>
          <p:nvPr/>
        </p:nvSpPr>
        <p:spPr>
          <a:xfrm>
            <a:off x="1748507" y="3418210"/>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62" name="Text 60"/>
          <p:cNvSpPr/>
          <p:nvPr/>
        </p:nvSpPr>
        <p:spPr>
          <a:xfrm>
            <a:off x="3105745" y="3418210"/>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63" name="Text 61"/>
          <p:cNvSpPr/>
          <p:nvPr/>
        </p:nvSpPr>
        <p:spPr>
          <a:xfrm>
            <a:off x="4462983" y="3418210"/>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Limited</a:t>
            </a:r>
            <a:endParaRPr lang="en-US" sz="900" dirty="0"/>
          </a:p>
        </p:txBody>
      </p:sp>
      <p:sp>
        <p:nvSpPr>
          <p:cNvPr id="64" name="Text 62"/>
          <p:cNvSpPr/>
          <p:nvPr/>
        </p:nvSpPr>
        <p:spPr>
          <a:xfrm>
            <a:off x="5820221" y="3418210"/>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65" name="Text 63"/>
          <p:cNvSpPr/>
          <p:nvPr/>
        </p:nvSpPr>
        <p:spPr>
          <a:xfrm>
            <a:off x="7177460" y="3418210"/>
            <a:ext cx="1579587"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Planned</a:t>
            </a:r>
            <a:endParaRPr lang="en-US" sz="900" dirty="0"/>
          </a:p>
        </p:txBody>
      </p:sp>
      <p:sp>
        <p:nvSpPr>
          <p:cNvPr id="66" name="Text 64"/>
          <p:cNvSpPr/>
          <p:nvPr/>
        </p:nvSpPr>
        <p:spPr>
          <a:xfrm>
            <a:off x="617488" y="3923779"/>
            <a:ext cx="1579587" cy="180231"/>
          </a:xfrm>
          <a:prstGeom prst="rect">
            <a:avLst/>
          </a:prstGeom>
          <a:noFill/>
          <a:ln/>
        </p:spPr>
        <p:txBody>
          <a:bodyPr wrap="none" lIns="0" tIns="0" rIns="0" bIns="0" rtlCol="0" anchor="t"/>
          <a:lstStyle/>
          <a:p>
            <a:pPr marL="0" indent="0" algn="l">
              <a:lnSpc>
                <a:spcPct val="129000"/>
              </a:lnSpc>
              <a:buNone/>
            </a:pPr>
            <a:r>
              <a:rPr lang="en-US" sz="900" dirty="0">
                <a:solidFill>
                  <a:srgbClr val="3C3939"/>
                </a:solidFill>
                <a:latin typeface="Roboto" pitchFamily="34" charset="0"/>
                <a:ea typeface="Roboto" pitchFamily="34" charset="-122"/>
                <a:cs typeface="Roboto" pitchFamily="34" charset="-120"/>
              </a:rPr>
              <a:t>Activity logging</a:t>
            </a:r>
            <a:endParaRPr lang="en-US" sz="900" dirty="0"/>
          </a:p>
        </p:txBody>
      </p:sp>
      <p:sp>
        <p:nvSpPr>
          <p:cNvPr id="67" name="Text 65"/>
          <p:cNvSpPr/>
          <p:nvPr/>
        </p:nvSpPr>
        <p:spPr>
          <a:xfrm>
            <a:off x="1748507" y="3923779"/>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Limited</a:t>
            </a:r>
            <a:endParaRPr lang="en-US" sz="900" dirty="0"/>
          </a:p>
        </p:txBody>
      </p:sp>
      <p:sp>
        <p:nvSpPr>
          <p:cNvPr id="68" name="Text 66"/>
          <p:cNvSpPr/>
          <p:nvPr/>
        </p:nvSpPr>
        <p:spPr>
          <a:xfrm>
            <a:off x="3105745" y="3923779"/>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69" name="Text 67"/>
          <p:cNvSpPr/>
          <p:nvPr/>
        </p:nvSpPr>
        <p:spPr>
          <a:xfrm>
            <a:off x="4462983" y="3923779"/>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70" name="Text 68"/>
          <p:cNvSpPr/>
          <p:nvPr/>
        </p:nvSpPr>
        <p:spPr>
          <a:xfrm>
            <a:off x="5820221" y="3923779"/>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71" name="Text 69"/>
          <p:cNvSpPr/>
          <p:nvPr/>
        </p:nvSpPr>
        <p:spPr>
          <a:xfrm>
            <a:off x="7177460" y="3923779"/>
            <a:ext cx="1579587"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Planned</a:t>
            </a:r>
            <a:endParaRPr lang="en-US" sz="900" dirty="0"/>
          </a:p>
        </p:txBody>
      </p:sp>
      <p:sp>
        <p:nvSpPr>
          <p:cNvPr id="72" name="Text 70"/>
          <p:cNvSpPr/>
          <p:nvPr/>
        </p:nvSpPr>
        <p:spPr>
          <a:xfrm>
            <a:off x="617488" y="4249117"/>
            <a:ext cx="1122387"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3C3939"/>
                </a:solidFill>
                <a:latin typeface="Roboto" pitchFamily="34" charset="0"/>
                <a:ea typeface="Roboto" pitchFamily="34" charset="-122"/>
                <a:cs typeface="Roboto" pitchFamily="34" charset="-120"/>
              </a:rPr>
              <a:t>Simple user-oriented system</a:t>
            </a:r>
            <a:endParaRPr lang="en-US" sz="900" dirty="0"/>
          </a:p>
        </p:txBody>
      </p:sp>
      <p:sp>
        <p:nvSpPr>
          <p:cNvPr id="73" name="Text 71"/>
          <p:cNvSpPr/>
          <p:nvPr/>
        </p:nvSpPr>
        <p:spPr>
          <a:xfrm>
            <a:off x="1748507" y="4249117"/>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74" name="Text 72"/>
          <p:cNvSpPr/>
          <p:nvPr/>
        </p:nvSpPr>
        <p:spPr>
          <a:xfrm>
            <a:off x="3105745" y="4249117"/>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75" name="Text 73"/>
          <p:cNvSpPr/>
          <p:nvPr/>
        </p:nvSpPr>
        <p:spPr>
          <a:xfrm>
            <a:off x="4462983" y="4249117"/>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76" name="Text 74"/>
          <p:cNvSpPr/>
          <p:nvPr/>
        </p:nvSpPr>
        <p:spPr>
          <a:xfrm>
            <a:off x="5820221" y="4249117"/>
            <a:ext cx="1577206"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a:t>
            </a:r>
            <a:endParaRPr lang="en-US" sz="900" dirty="0"/>
          </a:p>
        </p:txBody>
      </p:sp>
      <p:sp>
        <p:nvSpPr>
          <p:cNvPr id="77" name="Text 75"/>
          <p:cNvSpPr/>
          <p:nvPr/>
        </p:nvSpPr>
        <p:spPr>
          <a:xfrm>
            <a:off x="7177460" y="4249117"/>
            <a:ext cx="1579587" cy="180231"/>
          </a:xfrm>
          <a:prstGeom prst="rect">
            <a:avLst/>
          </a:prstGeom>
          <a:noFill/>
          <a:ln/>
        </p:spPr>
        <p:txBody>
          <a:bodyPr wrap="none" lIns="0" tIns="0" rIns="0" bIns="0" rtlCol="0" anchor="t"/>
          <a:lstStyle/>
          <a:p>
            <a:pPr marL="0" indent="0" algn="ctr">
              <a:lnSpc>
                <a:spcPct val="129000"/>
              </a:lnSpc>
              <a:buNone/>
            </a:pPr>
            <a:r>
              <a:rPr lang="en-US" sz="900" dirty="0">
                <a:solidFill>
                  <a:srgbClr val="3C3939"/>
                </a:solidFill>
                <a:latin typeface="Roboto" pitchFamily="34" charset="0"/>
                <a:ea typeface="Roboto" pitchFamily="34" charset="-122"/>
                <a:cs typeface="Roboto" pitchFamily="34" charset="-120"/>
              </a:rPr>
              <a:t>Planned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82712"/>
            <a:ext cx="8151763" cy="272504"/>
          </a:xfrm>
          <a:prstGeom prst="rect">
            <a:avLst/>
          </a:prstGeom>
          <a:noFill/>
          <a:ln/>
        </p:spPr>
        <p:txBody>
          <a:bodyPr wrap="none" lIns="0" tIns="0" rIns="0" bIns="0" rtlCol="0" anchor="t"/>
          <a:lstStyle/>
          <a:p>
            <a:pPr marL="0" indent="0" algn="l">
              <a:lnSpc>
                <a:spcPct val="104000"/>
              </a:lnSpc>
              <a:buNone/>
            </a:pPr>
            <a:r>
              <a:rPr lang="en-US" sz="1700" dirty="0">
                <a:solidFill>
                  <a:srgbClr val="1B1B27"/>
                </a:solidFill>
                <a:latin typeface="Raleway" pitchFamily="34" charset="0"/>
                <a:ea typeface="Raleway" pitchFamily="34" charset="-122"/>
                <a:cs typeface="Raleway" pitchFamily="34" charset="-120"/>
              </a:rPr>
              <a:t>Critical Analysis &amp; Synthesis</a:t>
            </a:r>
            <a:endParaRPr lang="en-US" sz="1700" dirty="0"/>
          </a:p>
        </p:txBody>
      </p:sp>
      <p:sp>
        <p:nvSpPr>
          <p:cNvPr id="3" name="Text 1"/>
          <p:cNvSpPr/>
          <p:nvPr/>
        </p:nvSpPr>
        <p:spPr>
          <a:xfrm>
            <a:off x="496119" y="808509"/>
            <a:ext cx="3969544" cy="136252"/>
          </a:xfrm>
          <a:prstGeom prst="rect">
            <a:avLst/>
          </a:prstGeom>
          <a:noFill/>
          <a:ln/>
        </p:spPr>
        <p:txBody>
          <a:bodyPr wrap="none" lIns="0" tIns="0" rIns="0" bIns="0" rtlCol="0" anchor="t"/>
          <a:lstStyle/>
          <a:p>
            <a:pPr marL="0" indent="0" algn="l">
              <a:lnSpc>
                <a:spcPct val="104000"/>
              </a:lnSpc>
              <a:buNone/>
            </a:pPr>
            <a:r>
              <a:rPr lang="en-US" sz="850" dirty="0">
                <a:solidFill>
                  <a:srgbClr val="1B1B27"/>
                </a:solidFill>
                <a:latin typeface="Raleway" pitchFamily="34" charset="0"/>
                <a:ea typeface="Raleway" pitchFamily="34" charset="-122"/>
                <a:cs typeface="Raleway" pitchFamily="34" charset="-120"/>
              </a:rPr>
              <a:t>Strengths Found in Literature</a:t>
            </a:r>
            <a:endParaRPr lang="en-US" sz="8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786" y="1018022"/>
            <a:ext cx="130820" cy="130820"/>
          </a:xfrm>
          <a:prstGeom prst="rect">
            <a:avLst/>
          </a:prstGeom>
        </p:spPr>
      </p:pic>
      <p:sp>
        <p:nvSpPr>
          <p:cNvPr id="5" name="Text 2"/>
          <p:cNvSpPr/>
          <p:nvPr/>
        </p:nvSpPr>
        <p:spPr>
          <a:xfrm>
            <a:off x="779562" y="1013743"/>
            <a:ext cx="3686101"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Real-time monitoring provides immediate system information.</a:t>
            </a:r>
            <a:endParaRPr lang="en-US" sz="6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786" y="1406612"/>
            <a:ext cx="130820" cy="130820"/>
          </a:xfrm>
          <a:prstGeom prst="rect">
            <a:avLst/>
          </a:prstGeom>
        </p:spPr>
      </p:pic>
      <p:sp>
        <p:nvSpPr>
          <p:cNvPr id="7" name="Text 3"/>
          <p:cNvSpPr/>
          <p:nvPr/>
        </p:nvSpPr>
        <p:spPr>
          <a:xfrm>
            <a:off x="779562" y="1402333"/>
            <a:ext cx="3686101"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Adaptive systems respond to changing workloads.</a:t>
            </a:r>
            <a:endParaRPr lang="en-US" sz="6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786" y="1795202"/>
            <a:ext cx="130820" cy="130820"/>
          </a:xfrm>
          <a:prstGeom prst="rect">
            <a:avLst/>
          </a:prstGeom>
        </p:spPr>
      </p:pic>
      <p:sp>
        <p:nvSpPr>
          <p:cNvPr id="9" name="Text 4"/>
          <p:cNvSpPr/>
          <p:nvPr/>
        </p:nvSpPr>
        <p:spPr>
          <a:xfrm>
            <a:off x="779562" y="1790923"/>
            <a:ext cx="3686101"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Learning-based approaches can consider user priorities.</a:t>
            </a:r>
            <a:endParaRPr lang="en-US" sz="6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786" y="2183792"/>
            <a:ext cx="130820" cy="130820"/>
          </a:xfrm>
          <a:prstGeom prst="rect">
            <a:avLst/>
          </a:prstGeom>
        </p:spPr>
      </p:pic>
      <p:sp>
        <p:nvSpPr>
          <p:cNvPr id="11" name="Text 5"/>
          <p:cNvSpPr/>
          <p:nvPr/>
        </p:nvSpPr>
        <p:spPr>
          <a:xfrm>
            <a:off x="779562" y="2179513"/>
            <a:ext cx="3686101"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Prediction can support proactive resource management.</a:t>
            </a:r>
            <a:endParaRPr lang="en-US" sz="650" dirty="0"/>
          </a:p>
        </p:txBody>
      </p:sp>
      <p:sp>
        <p:nvSpPr>
          <p:cNvPr id="12" name="Text 6"/>
          <p:cNvSpPr/>
          <p:nvPr/>
        </p:nvSpPr>
        <p:spPr>
          <a:xfrm>
            <a:off x="4683100" y="808509"/>
            <a:ext cx="3969544" cy="136252"/>
          </a:xfrm>
          <a:prstGeom prst="rect">
            <a:avLst/>
          </a:prstGeom>
          <a:noFill/>
          <a:ln/>
        </p:spPr>
        <p:txBody>
          <a:bodyPr wrap="none" lIns="0" tIns="0" rIns="0" bIns="0" rtlCol="0" anchor="t"/>
          <a:lstStyle/>
          <a:p>
            <a:pPr marL="0" indent="0" algn="l">
              <a:lnSpc>
                <a:spcPct val="104000"/>
              </a:lnSpc>
              <a:buNone/>
            </a:pPr>
            <a:r>
              <a:rPr lang="en-US" sz="850" dirty="0">
                <a:solidFill>
                  <a:srgbClr val="1B1B27"/>
                </a:solidFill>
                <a:latin typeface="Raleway" pitchFamily="34" charset="0"/>
                <a:ea typeface="Raleway" pitchFamily="34" charset="-122"/>
                <a:cs typeface="Raleway" pitchFamily="34" charset="-120"/>
              </a:rPr>
              <a:t>Limitations Found in Literature</a:t>
            </a:r>
            <a:endParaRPr lang="en-US" sz="85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5768" y="1018022"/>
            <a:ext cx="130820" cy="130820"/>
          </a:xfrm>
          <a:prstGeom prst="rect">
            <a:avLst/>
          </a:prstGeom>
        </p:spPr>
      </p:pic>
      <p:sp>
        <p:nvSpPr>
          <p:cNvPr id="14" name="Text 7"/>
          <p:cNvSpPr/>
          <p:nvPr/>
        </p:nvSpPr>
        <p:spPr>
          <a:xfrm>
            <a:off x="4966543" y="1013743"/>
            <a:ext cx="3686101"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Advanced approaches can be complex to implement.</a:t>
            </a:r>
            <a:endParaRPr lang="en-US" sz="650" dirty="0"/>
          </a:p>
        </p:txBody>
      </p:sp>
      <p:pic>
        <p:nvPicPr>
          <p:cNvPr id="15"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5768" y="1406612"/>
            <a:ext cx="130820" cy="130820"/>
          </a:xfrm>
          <a:prstGeom prst="rect">
            <a:avLst/>
          </a:prstGeom>
        </p:spPr>
      </p:pic>
      <p:sp>
        <p:nvSpPr>
          <p:cNvPr id="16" name="Text 8"/>
          <p:cNvSpPr/>
          <p:nvPr/>
        </p:nvSpPr>
        <p:spPr>
          <a:xfrm>
            <a:off x="4966543" y="1402333"/>
            <a:ext cx="3686101"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Some research focuses on large-scale or specialized environments.</a:t>
            </a:r>
            <a:endParaRPr lang="en-US" sz="650" dirty="0"/>
          </a:p>
        </p:txBody>
      </p:sp>
      <p:pic>
        <p:nvPicPr>
          <p:cNvPr id="17"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5768" y="1795202"/>
            <a:ext cx="130820" cy="130820"/>
          </a:xfrm>
          <a:prstGeom prst="rect">
            <a:avLst/>
          </a:prstGeom>
        </p:spPr>
      </p:pic>
      <p:sp>
        <p:nvSpPr>
          <p:cNvPr id="18" name="Text 9"/>
          <p:cNvSpPr/>
          <p:nvPr/>
        </p:nvSpPr>
        <p:spPr>
          <a:xfrm>
            <a:off x="4966543" y="1790923"/>
            <a:ext cx="3686101"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Machine-learning approaches may require training data.</a:t>
            </a:r>
            <a:endParaRPr lang="en-US" sz="650" dirty="0"/>
          </a:p>
        </p:txBody>
      </p:sp>
      <p:pic>
        <p:nvPicPr>
          <p:cNvPr id="19" name="Image 7"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5768" y="2183792"/>
            <a:ext cx="130820" cy="130820"/>
          </a:xfrm>
          <a:prstGeom prst="rect">
            <a:avLst/>
          </a:prstGeom>
        </p:spPr>
      </p:pic>
      <p:sp>
        <p:nvSpPr>
          <p:cNvPr id="20" name="Text 10"/>
          <p:cNvSpPr/>
          <p:nvPr/>
        </p:nvSpPr>
        <p:spPr>
          <a:xfrm>
            <a:off x="4966543" y="2179513"/>
            <a:ext cx="3686101"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Automatic resource changes can introduce additional complexity.</a:t>
            </a:r>
            <a:endParaRPr lang="en-US" sz="650" dirty="0"/>
          </a:p>
        </p:txBody>
      </p:sp>
      <p:sp>
        <p:nvSpPr>
          <p:cNvPr id="21" name="Shape 11"/>
          <p:cNvSpPr/>
          <p:nvPr/>
        </p:nvSpPr>
        <p:spPr>
          <a:xfrm>
            <a:off x="496119" y="2583433"/>
            <a:ext cx="8151763" cy="278829"/>
          </a:xfrm>
          <a:prstGeom prst="roundRect">
            <a:avLst>
              <a:gd name="adj" fmla="val 13138"/>
            </a:avLst>
          </a:prstGeom>
          <a:solidFill>
            <a:srgbClr val="E1E1EA"/>
          </a:solidFill>
          <a:ln/>
        </p:spPr>
        <p:txBody>
          <a:bodyPr/>
          <a:lstStyle/>
          <a:p>
            <a:endParaRPr lang="en-IN"/>
          </a:p>
        </p:txBody>
      </p:sp>
      <p:pic>
        <p:nvPicPr>
          <p:cNvPr id="22" name="Image 8" descr="preencoded.png"/>
          <p:cNvPicPr>
            <a:picLocks noChangeAspect="1"/>
          </p:cNvPicPr>
          <p:nvPr/>
        </p:nvPicPr>
        <p:blipFill>
          <a:blip r:embed="rId4"/>
          <a:stretch>
            <a:fillRect/>
          </a:stretch>
        </p:blipFill>
        <p:spPr>
          <a:xfrm>
            <a:off x="583332" y="2671167"/>
            <a:ext cx="109017" cy="87213"/>
          </a:xfrm>
          <a:prstGeom prst="rect">
            <a:avLst/>
          </a:prstGeom>
        </p:spPr>
      </p:pic>
      <p:sp>
        <p:nvSpPr>
          <p:cNvPr id="23" name="Text 12"/>
          <p:cNvSpPr/>
          <p:nvPr/>
        </p:nvSpPr>
        <p:spPr>
          <a:xfrm>
            <a:off x="779562" y="2666554"/>
            <a:ext cx="8238306" cy="118765"/>
          </a:xfrm>
          <a:prstGeom prst="rect">
            <a:avLst/>
          </a:prstGeom>
          <a:noFill/>
          <a:ln/>
        </p:spPr>
        <p:txBody>
          <a:bodyPr wrap="none" lIns="0" tIns="0" rIns="0" bIns="0" rtlCol="0" anchor="t"/>
          <a:lstStyle/>
          <a:p>
            <a:pPr marL="0" indent="0" algn="l">
              <a:lnSpc>
                <a:spcPct val="114000"/>
              </a:lnSpc>
              <a:buNone/>
            </a:pPr>
            <a:r>
              <a:rPr lang="en-US" sz="650" dirty="0">
                <a:solidFill>
                  <a:srgbClr val="000000"/>
                </a:solidFill>
                <a:latin typeface="Roboto" pitchFamily="34" charset="0"/>
                <a:ea typeface="Roboto" pitchFamily="34" charset="-122"/>
                <a:cs typeface="Roboto" pitchFamily="34" charset="-120"/>
              </a:rPr>
              <a:t>A lightweight user-oriented monitoring and recommendation system is still useful — and fills the gap left by complex, large-scale research approaches.</a:t>
            </a:r>
            <a:endParaRPr lang="en-US" sz="650" dirty="0"/>
          </a:p>
        </p:txBody>
      </p:sp>
      <p:sp>
        <p:nvSpPr>
          <p:cNvPr id="24" name="Text 13"/>
          <p:cNvSpPr/>
          <p:nvPr/>
        </p:nvSpPr>
        <p:spPr>
          <a:xfrm>
            <a:off x="496119" y="2954238"/>
            <a:ext cx="8151763" cy="136252"/>
          </a:xfrm>
          <a:prstGeom prst="rect">
            <a:avLst/>
          </a:prstGeom>
          <a:noFill/>
          <a:ln/>
        </p:spPr>
        <p:txBody>
          <a:bodyPr wrap="none" lIns="0" tIns="0" rIns="0" bIns="0" rtlCol="0" anchor="t"/>
          <a:lstStyle/>
          <a:p>
            <a:pPr marL="0" indent="0" algn="l">
              <a:lnSpc>
                <a:spcPct val="104000"/>
              </a:lnSpc>
              <a:buNone/>
            </a:pPr>
            <a:r>
              <a:rPr lang="en-US" sz="850" dirty="0">
                <a:solidFill>
                  <a:srgbClr val="1B1B27"/>
                </a:solidFill>
                <a:latin typeface="Raleway" pitchFamily="34" charset="0"/>
                <a:ea typeface="Raleway" pitchFamily="34" charset="-122"/>
                <a:cs typeface="Raleway" pitchFamily="34" charset="-120"/>
              </a:rPr>
              <a:t>Our Interpretation: The Core Pipeline</a:t>
            </a:r>
            <a:endParaRPr lang="en-US" sz="850" dirty="0"/>
          </a:p>
        </p:txBody>
      </p:sp>
      <p:pic>
        <p:nvPicPr>
          <p:cNvPr id="25" name="Image 9" descr="preencoded.png"/>
          <p:cNvPicPr>
            <a:picLocks noChangeAspect="1"/>
          </p:cNvPicPr>
          <p:nvPr/>
        </p:nvPicPr>
        <p:blipFill>
          <a:blip r:embed="rId5"/>
          <a:stretch>
            <a:fillRect/>
          </a:stretch>
        </p:blipFill>
        <p:spPr>
          <a:xfrm>
            <a:off x="496119" y="3182466"/>
            <a:ext cx="4075881" cy="348853"/>
          </a:xfrm>
          <a:prstGeom prst="rect">
            <a:avLst/>
          </a:prstGeom>
        </p:spPr>
      </p:pic>
      <p:sp>
        <p:nvSpPr>
          <p:cNvPr id="26" name="Text 14"/>
          <p:cNvSpPr/>
          <p:nvPr/>
        </p:nvSpPr>
        <p:spPr>
          <a:xfrm>
            <a:off x="583332" y="3592637"/>
            <a:ext cx="3901455" cy="136252"/>
          </a:xfrm>
          <a:prstGeom prst="rect">
            <a:avLst/>
          </a:prstGeom>
          <a:noFill/>
          <a:ln/>
        </p:spPr>
        <p:txBody>
          <a:bodyPr wrap="none" lIns="0" tIns="0" rIns="0" bIns="0" rtlCol="0" anchor="t"/>
          <a:lstStyle/>
          <a:p>
            <a:pPr marL="0" indent="0" algn="l">
              <a:lnSpc>
                <a:spcPct val="104000"/>
              </a:lnSpc>
              <a:buNone/>
            </a:pPr>
            <a:r>
              <a:rPr lang="en-US" sz="850" dirty="0">
                <a:solidFill>
                  <a:srgbClr val="3C3939"/>
                </a:solidFill>
                <a:latin typeface="Raleway" pitchFamily="34" charset="0"/>
                <a:ea typeface="Raleway" pitchFamily="34" charset="-122"/>
                <a:cs typeface="Raleway" pitchFamily="34" charset="-120"/>
              </a:rPr>
              <a:t>Monitoring</a:t>
            </a:r>
            <a:endParaRPr lang="en-US" sz="850" dirty="0"/>
          </a:p>
        </p:txBody>
      </p:sp>
      <p:sp>
        <p:nvSpPr>
          <p:cNvPr id="27" name="Text 15"/>
          <p:cNvSpPr/>
          <p:nvPr/>
        </p:nvSpPr>
        <p:spPr>
          <a:xfrm>
            <a:off x="583332" y="3765649"/>
            <a:ext cx="3901455"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Collect real-time process and resource data</a:t>
            </a:r>
            <a:endParaRPr lang="en-US" sz="650" dirty="0"/>
          </a:p>
        </p:txBody>
      </p:sp>
      <p:pic>
        <p:nvPicPr>
          <p:cNvPr id="28" name="Image 10" descr="preencoded.png"/>
          <p:cNvPicPr>
            <a:picLocks noChangeAspect="1"/>
          </p:cNvPicPr>
          <p:nvPr/>
        </p:nvPicPr>
        <p:blipFill>
          <a:blip r:embed="rId6"/>
          <a:stretch>
            <a:fillRect/>
          </a:stretch>
        </p:blipFill>
        <p:spPr>
          <a:xfrm>
            <a:off x="4572000" y="3182466"/>
            <a:ext cx="4075881" cy="348853"/>
          </a:xfrm>
          <a:prstGeom prst="rect">
            <a:avLst/>
          </a:prstGeom>
        </p:spPr>
      </p:pic>
      <p:sp>
        <p:nvSpPr>
          <p:cNvPr id="29" name="Text 16"/>
          <p:cNvSpPr/>
          <p:nvPr/>
        </p:nvSpPr>
        <p:spPr>
          <a:xfrm>
            <a:off x="4659213" y="3592637"/>
            <a:ext cx="3901455" cy="136252"/>
          </a:xfrm>
          <a:prstGeom prst="rect">
            <a:avLst/>
          </a:prstGeom>
          <a:noFill/>
          <a:ln/>
        </p:spPr>
        <p:txBody>
          <a:bodyPr wrap="none" lIns="0" tIns="0" rIns="0" bIns="0" rtlCol="0" anchor="t"/>
          <a:lstStyle/>
          <a:p>
            <a:pPr marL="0" indent="0" algn="l">
              <a:lnSpc>
                <a:spcPct val="104000"/>
              </a:lnSpc>
              <a:buNone/>
            </a:pPr>
            <a:r>
              <a:rPr lang="en-US" sz="850" dirty="0">
                <a:solidFill>
                  <a:srgbClr val="3C3939"/>
                </a:solidFill>
                <a:latin typeface="Raleway" pitchFamily="34" charset="0"/>
                <a:ea typeface="Raleway" pitchFamily="34" charset="-122"/>
                <a:cs typeface="Raleway" pitchFamily="34" charset="-120"/>
              </a:rPr>
              <a:t>Analysis</a:t>
            </a:r>
            <a:endParaRPr lang="en-US" sz="850" dirty="0"/>
          </a:p>
        </p:txBody>
      </p:sp>
      <p:sp>
        <p:nvSpPr>
          <p:cNvPr id="30" name="Text 17"/>
          <p:cNvSpPr/>
          <p:nvPr/>
        </p:nvSpPr>
        <p:spPr>
          <a:xfrm>
            <a:off x="4659213" y="3765649"/>
            <a:ext cx="3901455"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Identify high-load applications and patterns</a:t>
            </a:r>
            <a:endParaRPr lang="en-US" sz="650" dirty="0"/>
          </a:p>
        </p:txBody>
      </p:sp>
      <p:pic>
        <p:nvPicPr>
          <p:cNvPr id="31" name="Image 11" descr="preencoded.png"/>
          <p:cNvPicPr>
            <a:picLocks noChangeAspect="1"/>
          </p:cNvPicPr>
          <p:nvPr/>
        </p:nvPicPr>
        <p:blipFill>
          <a:blip r:embed="rId7"/>
          <a:stretch>
            <a:fillRect/>
          </a:stretch>
        </p:blipFill>
        <p:spPr>
          <a:xfrm>
            <a:off x="496119" y="3971627"/>
            <a:ext cx="4075881" cy="348853"/>
          </a:xfrm>
          <a:prstGeom prst="rect">
            <a:avLst/>
          </a:prstGeom>
        </p:spPr>
      </p:pic>
      <p:sp>
        <p:nvSpPr>
          <p:cNvPr id="32" name="Text 18"/>
          <p:cNvSpPr/>
          <p:nvPr/>
        </p:nvSpPr>
        <p:spPr>
          <a:xfrm>
            <a:off x="583332" y="4381798"/>
            <a:ext cx="3901455" cy="136252"/>
          </a:xfrm>
          <a:prstGeom prst="rect">
            <a:avLst/>
          </a:prstGeom>
          <a:noFill/>
          <a:ln/>
        </p:spPr>
        <p:txBody>
          <a:bodyPr wrap="none" lIns="0" tIns="0" rIns="0" bIns="0" rtlCol="0" anchor="t"/>
          <a:lstStyle/>
          <a:p>
            <a:pPr marL="0" indent="0" algn="l">
              <a:lnSpc>
                <a:spcPct val="104000"/>
              </a:lnSpc>
              <a:buNone/>
            </a:pPr>
            <a:r>
              <a:rPr lang="en-US" sz="850" dirty="0">
                <a:solidFill>
                  <a:srgbClr val="3C3939"/>
                </a:solidFill>
                <a:latin typeface="Raleway" pitchFamily="34" charset="0"/>
                <a:ea typeface="Raleway" pitchFamily="34" charset="-122"/>
                <a:cs typeface="Raleway" pitchFamily="34" charset="-120"/>
              </a:rPr>
              <a:t>Decision</a:t>
            </a:r>
            <a:endParaRPr lang="en-US" sz="850" dirty="0"/>
          </a:p>
        </p:txBody>
      </p:sp>
      <p:sp>
        <p:nvSpPr>
          <p:cNvPr id="33" name="Text 19"/>
          <p:cNvSpPr/>
          <p:nvPr/>
        </p:nvSpPr>
        <p:spPr>
          <a:xfrm>
            <a:off x="583332" y="4554810"/>
            <a:ext cx="3901455"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Determine which processes need attention</a:t>
            </a:r>
            <a:endParaRPr lang="en-US" sz="650" dirty="0"/>
          </a:p>
        </p:txBody>
      </p:sp>
      <p:pic>
        <p:nvPicPr>
          <p:cNvPr id="34" name="Image 12" descr="preencoded.png"/>
          <p:cNvPicPr>
            <a:picLocks noChangeAspect="1"/>
          </p:cNvPicPr>
          <p:nvPr/>
        </p:nvPicPr>
        <p:blipFill>
          <a:blip r:embed="rId8"/>
          <a:stretch>
            <a:fillRect/>
          </a:stretch>
        </p:blipFill>
        <p:spPr>
          <a:xfrm>
            <a:off x="4572000" y="3971627"/>
            <a:ext cx="4075881" cy="348853"/>
          </a:xfrm>
          <a:prstGeom prst="rect">
            <a:avLst/>
          </a:prstGeom>
        </p:spPr>
      </p:pic>
      <p:sp>
        <p:nvSpPr>
          <p:cNvPr id="35" name="Text 20"/>
          <p:cNvSpPr/>
          <p:nvPr/>
        </p:nvSpPr>
        <p:spPr>
          <a:xfrm>
            <a:off x="4659213" y="4381798"/>
            <a:ext cx="3901455" cy="136252"/>
          </a:xfrm>
          <a:prstGeom prst="rect">
            <a:avLst/>
          </a:prstGeom>
          <a:noFill/>
          <a:ln/>
        </p:spPr>
        <p:txBody>
          <a:bodyPr wrap="none" lIns="0" tIns="0" rIns="0" bIns="0" rtlCol="0" anchor="t"/>
          <a:lstStyle/>
          <a:p>
            <a:pPr marL="0" indent="0" algn="l">
              <a:lnSpc>
                <a:spcPct val="104000"/>
              </a:lnSpc>
              <a:buNone/>
            </a:pPr>
            <a:r>
              <a:rPr lang="en-US" sz="850" dirty="0">
                <a:solidFill>
                  <a:srgbClr val="3C3939"/>
                </a:solidFill>
                <a:latin typeface="Raleway" pitchFamily="34" charset="0"/>
                <a:ea typeface="Raleway" pitchFamily="34" charset="-122"/>
                <a:cs typeface="Raleway" pitchFamily="34" charset="-120"/>
              </a:rPr>
              <a:t>Recommendation</a:t>
            </a:r>
            <a:endParaRPr lang="en-US" sz="850" dirty="0"/>
          </a:p>
        </p:txBody>
      </p:sp>
      <p:sp>
        <p:nvSpPr>
          <p:cNvPr id="36" name="Text 21"/>
          <p:cNvSpPr/>
          <p:nvPr/>
        </p:nvSpPr>
        <p:spPr>
          <a:xfrm>
            <a:off x="4659213" y="4554810"/>
            <a:ext cx="3901455" cy="118765"/>
          </a:xfrm>
          <a:prstGeom prst="rect">
            <a:avLst/>
          </a:prstGeom>
          <a:noFill/>
          <a:ln/>
        </p:spPr>
        <p:txBody>
          <a:bodyPr wrap="none" lIns="0" tIns="0" rIns="0" bIns="0" rtlCol="0" anchor="t"/>
          <a:lstStyle/>
          <a:p>
            <a:pPr marL="0" indent="0" algn="l">
              <a:lnSpc>
                <a:spcPct val="114000"/>
              </a:lnSpc>
              <a:buNone/>
            </a:pPr>
            <a:r>
              <a:rPr lang="en-US" sz="650" dirty="0">
                <a:solidFill>
                  <a:srgbClr val="3C3939"/>
                </a:solidFill>
                <a:latin typeface="Roboto" pitchFamily="34" charset="0"/>
                <a:ea typeface="Roboto" pitchFamily="34" charset="-122"/>
                <a:cs typeface="Roboto" pitchFamily="34" charset="-120"/>
              </a:rPr>
              <a:t>Surface actionable guidance to the user</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74675"/>
            <a:ext cx="8151763" cy="308893"/>
          </a:xfrm>
          <a:prstGeom prst="rect">
            <a:avLst/>
          </a:prstGeom>
          <a:noFill/>
          <a:ln/>
        </p:spPr>
        <p:txBody>
          <a:bodyPr wrap="none" lIns="0" tIns="0" rIns="0" bIns="0" rtlCol="0" anchor="t"/>
          <a:lstStyle/>
          <a:p>
            <a:pPr marL="0" indent="0" algn="l">
              <a:lnSpc>
                <a:spcPct val="104000"/>
              </a:lnSpc>
              <a:buNone/>
            </a:pPr>
            <a:r>
              <a:rPr lang="en-US" sz="1900" dirty="0">
                <a:solidFill>
                  <a:srgbClr val="1B1B27"/>
                </a:solidFill>
                <a:latin typeface="Raleway" pitchFamily="34" charset="0"/>
                <a:ea typeface="Raleway" pitchFamily="34" charset="-122"/>
                <a:cs typeface="Raleway" pitchFamily="34" charset="-120"/>
              </a:rPr>
              <a:t>Research Gap</a:t>
            </a:r>
            <a:endParaRPr lang="en-US" sz="1900" dirty="0"/>
          </a:p>
        </p:txBody>
      </p:sp>
      <p:sp>
        <p:nvSpPr>
          <p:cNvPr id="3" name="Text 1"/>
          <p:cNvSpPr/>
          <p:nvPr/>
        </p:nvSpPr>
        <p:spPr>
          <a:xfrm>
            <a:off x="496119" y="880393"/>
            <a:ext cx="3535635" cy="154409"/>
          </a:xfrm>
          <a:prstGeom prst="rect">
            <a:avLst/>
          </a:prstGeom>
          <a:noFill/>
          <a:ln/>
        </p:spPr>
        <p:txBody>
          <a:bodyPr wrap="none" lIns="0" tIns="0" rIns="0" bIns="0" rtlCol="0" anchor="t"/>
          <a:lstStyle/>
          <a:p>
            <a:pPr marL="0" indent="0" algn="l">
              <a:lnSpc>
                <a:spcPct val="104000"/>
              </a:lnSpc>
              <a:buNone/>
            </a:pPr>
            <a:r>
              <a:rPr lang="en-US" sz="950" dirty="0">
                <a:solidFill>
                  <a:srgbClr val="1B1B27"/>
                </a:solidFill>
                <a:latin typeface="Raleway" pitchFamily="34" charset="0"/>
                <a:ea typeface="Raleway" pitchFamily="34" charset="-122"/>
                <a:cs typeface="Raleway" pitchFamily="34" charset="-120"/>
              </a:rPr>
              <a:t>What Existing Systems Do</a:t>
            </a:r>
            <a:endParaRPr lang="en-US" sz="9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123355"/>
            <a:ext cx="1728415" cy="510332"/>
          </a:xfrm>
          <a:prstGeom prst="rect">
            <a:avLst/>
          </a:prstGeom>
        </p:spPr>
      </p:pic>
      <p:sp>
        <p:nvSpPr>
          <p:cNvPr id="5" name="Text 2"/>
          <p:cNvSpPr/>
          <p:nvPr/>
        </p:nvSpPr>
        <p:spPr>
          <a:xfrm>
            <a:off x="666378" y="1236464"/>
            <a:ext cx="1445047"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3C3939"/>
                </a:solidFill>
                <a:latin typeface="Roboto" pitchFamily="34" charset="0"/>
                <a:ea typeface="Roboto" pitchFamily="34" charset="-122"/>
                <a:cs typeface="Roboto" pitchFamily="34" charset="-120"/>
              </a:rPr>
              <a:t>Primarily provide monitoring information only</a:t>
            </a:r>
            <a:endParaRPr lang="en-US" sz="7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3264" y="1123355"/>
            <a:ext cx="1728490" cy="510332"/>
          </a:xfrm>
          <a:prstGeom prst="rect">
            <a:avLst/>
          </a:prstGeom>
        </p:spPr>
      </p:pic>
      <p:sp>
        <p:nvSpPr>
          <p:cNvPr id="7" name="Text 3"/>
          <p:cNvSpPr/>
          <p:nvPr/>
        </p:nvSpPr>
        <p:spPr>
          <a:xfrm>
            <a:off x="2473523" y="1236464"/>
            <a:ext cx="1445121"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3C3939"/>
                </a:solidFill>
                <a:latin typeface="Roboto" pitchFamily="34" charset="0"/>
                <a:ea typeface="Roboto" pitchFamily="34" charset="-122"/>
                <a:cs typeface="Roboto" pitchFamily="34" charset="-120"/>
              </a:rPr>
              <a:t>Require users to interpret CPU and memory usage manually</a:t>
            </a:r>
            <a:endParaRPr lang="en-US" sz="7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712416"/>
            <a:ext cx="1728415" cy="510332"/>
          </a:xfrm>
          <a:prstGeom prst="rect">
            <a:avLst/>
          </a:prstGeom>
        </p:spPr>
      </p:pic>
      <p:sp>
        <p:nvSpPr>
          <p:cNvPr id="9" name="Text 4"/>
          <p:cNvSpPr/>
          <p:nvPr/>
        </p:nvSpPr>
        <p:spPr>
          <a:xfrm>
            <a:off x="666378" y="1825526"/>
            <a:ext cx="1445047"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3C3939"/>
                </a:solidFill>
                <a:latin typeface="Roboto" pitchFamily="34" charset="0"/>
                <a:ea typeface="Roboto" pitchFamily="34" charset="-122"/>
                <a:cs typeface="Roboto" pitchFamily="34" charset="-120"/>
              </a:rPr>
              <a:t>Do not always connect workload information with user activity</a:t>
            </a:r>
            <a:endParaRPr lang="en-US" sz="7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3264" y="1712416"/>
            <a:ext cx="1728490" cy="510332"/>
          </a:xfrm>
          <a:prstGeom prst="rect">
            <a:avLst/>
          </a:prstGeom>
        </p:spPr>
      </p:pic>
      <p:sp>
        <p:nvSpPr>
          <p:cNvPr id="11" name="Text 5"/>
          <p:cNvSpPr/>
          <p:nvPr/>
        </p:nvSpPr>
        <p:spPr>
          <a:xfrm>
            <a:off x="2473523" y="1825526"/>
            <a:ext cx="1445121"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3C3939"/>
                </a:solidFill>
                <a:latin typeface="Roboto" pitchFamily="34" charset="0"/>
                <a:ea typeface="Roboto" pitchFamily="34" charset="-122"/>
                <a:cs typeface="Roboto" pitchFamily="34" charset="-120"/>
              </a:rPr>
              <a:t>Advanced intelligent approaches can be complex to deploy</a:t>
            </a:r>
            <a:endParaRPr lang="en-US" sz="750" dirty="0"/>
          </a:p>
        </p:txBody>
      </p:sp>
      <p:pic>
        <p:nvPicPr>
          <p:cNvPr id="12"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301478"/>
            <a:ext cx="1728415" cy="652388"/>
          </a:xfrm>
          <a:prstGeom prst="rect">
            <a:avLst/>
          </a:prstGeom>
        </p:spPr>
      </p:pic>
      <p:sp>
        <p:nvSpPr>
          <p:cNvPr id="13" name="Text 6"/>
          <p:cNvSpPr/>
          <p:nvPr/>
        </p:nvSpPr>
        <p:spPr>
          <a:xfrm>
            <a:off x="666378" y="2414588"/>
            <a:ext cx="1445047" cy="426169"/>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3C3939"/>
                </a:solidFill>
                <a:latin typeface="Roboto" pitchFamily="34" charset="0"/>
                <a:ea typeface="Roboto" pitchFamily="34" charset="-122"/>
                <a:cs typeface="Roboto" pitchFamily="34" charset="-120"/>
              </a:rPr>
              <a:t>Prediction-based approaches may require historical data to function</a:t>
            </a:r>
            <a:endParaRPr lang="en-US" sz="750" dirty="0"/>
          </a:p>
        </p:txBody>
      </p:sp>
      <p:sp>
        <p:nvSpPr>
          <p:cNvPr id="14" name="Shape 7"/>
          <p:cNvSpPr/>
          <p:nvPr/>
        </p:nvSpPr>
        <p:spPr>
          <a:xfrm>
            <a:off x="4206478" y="801663"/>
            <a:ext cx="4517231" cy="2240756"/>
          </a:xfrm>
          <a:prstGeom prst="roundRect">
            <a:avLst>
              <a:gd name="adj" fmla="val 3176"/>
            </a:avLst>
          </a:prstGeom>
          <a:solidFill>
            <a:srgbClr val="1B1B27">
              <a:alpha val="95000"/>
            </a:srgbClr>
          </a:solidFill>
          <a:ln/>
        </p:spPr>
        <p:txBody>
          <a:bodyPr/>
          <a:lstStyle/>
          <a:p>
            <a:endParaRPr lang="en-IN"/>
          </a:p>
        </p:txBody>
      </p:sp>
      <p:sp>
        <p:nvSpPr>
          <p:cNvPr id="15" name="Text 8"/>
          <p:cNvSpPr/>
          <p:nvPr/>
        </p:nvSpPr>
        <p:spPr>
          <a:xfrm>
            <a:off x="4305300" y="880393"/>
            <a:ext cx="4319588" cy="154409"/>
          </a:xfrm>
          <a:prstGeom prst="rect">
            <a:avLst/>
          </a:prstGeom>
          <a:noFill/>
          <a:ln/>
        </p:spPr>
        <p:txBody>
          <a:bodyPr wrap="none" lIns="0" tIns="0" rIns="0" bIns="0" rtlCol="0" anchor="t"/>
          <a:lstStyle/>
          <a:p>
            <a:pPr marL="0" indent="0" algn="l">
              <a:lnSpc>
                <a:spcPct val="104000"/>
              </a:lnSpc>
              <a:buNone/>
            </a:pPr>
            <a:r>
              <a:rPr lang="en-US" sz="950" dirty="0">
                <a:solidFill>
                  <a:srgbClr val="FFFFFF"/>
                </a:solidFill>
                <a:latin typeface="Raleway" pitchFamily="34" charset="0"/>
                <a:ea typeface="Raleway" pitchFamily="34" charset="-122"/>
                <a:cs typeface="Raleway" pitchFamily="34" charset="-120"/>
              </a:rPr>
              <a:t>Identified Opportunity</a:t>
            </a:r>
            <a:endParaRPr lang="en-US" sz="950" dirty="0"/>
          </a:p>
        </p:txBody>
      </p:sp>
      <p:sp>
        <p:nvSpPr>
          <p:cNvPr id="16" name="Text 9"/>
          <p:cNvSpPr/>
          <p:nvPr/>
        </p:nvSpPr>
        <p:spPr>
          <a:xfrm>
            <a:off x="4305300" y="1113532"/>
            <a:ext cx="4319588"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FFFFFF"/>
                </a:solidFill>
                <a:latin typeface="Roboto" pitchFamily="34" charset="0"/>
                <a:ea typeface="Roboto" pitchFamily="34" charset="-122"/>
                <a:cs typeface="Roboto" pitchFamily="34" charset="-120"/>
              </a:rPr>
              <a:t>From the literature and existing tools reviewed, we identified an opportunity for a </a:t>
            </a:r>
            <a:r>
              <a:rPr lang="en-US" sz="750" b="1" dirty="0">
                <a:solidFill>
                  <a:srgbClr val="FFFFFF"/>
                </a:solidFill>
                <a:latin typeface="Roboto Bold" pitchFamily="34" charset="0"/>
                <a:ea typeface="Roboto Bold" pitchFamily="34" charset="-122"/>
                <a:cs typeface="Roboto Bold" pitchFamily="34" charset="-120"/>
              </a:rPr>
              <a:t>lightweight, user-oriented system</a:t>
            </a:r>
            <a:r>
              <a:rPr lang="en-US" sz="750" dirty="0">
                <a:solidFill>
                  <a:srgbClr val="FFFFFF"/>
                </a:solidFill>
                <a:latin typeface="Roboto" pitchFamily="34" charset="0"/>
                <a:ea typeface="Roboto" pitchFamily="34" charset="-122"/>
                <a:cs typeface="Roboto" pitchFamily="34" charset="-120"/>
              </a:rPr>
              <a:t> that combines:</a:t>
            </a:r>
            <a:endParaRPr lang="en-US" sz="750" dirty="0"/>
          </a:p>
        </p:txBody>
      </p:sp>
      <p:sp>
        <p:nvSpPr>
          <p:cNvPr id="17" name="Text 10"/>
          <p:cNvSpPr/>
          <p:nvPr/>
        </p:nvSpPr>
        <p:spPr>
          <a:xfrm>
            <a:off x="4305300" y="1468487"/>
            <a:ext cx="4319588" cy="820415"/>
          </a:xfrm>
          <a:prstGeom prst="rect">
            <a:avLst/>
          </a:prstGeom>
          <a:noFill/>
          <a:ln/>
        </p:spPr>
        <p:txBody>
          <a:bodyPr wrap="square" lIns="0" tIns="39540" rIns="0" bIns="0" rtlCol="0" anchor="t">
            <a:normAutofit/>
          </a:bodyPr>
          <a:lstStyle/>
          <a:p>
            <a:pPr marL="152400" indent="-152400" algn="l">
              <a:lnSpc>
                <a:spcPct val="120000"/>
              </a:lnSpc>
              <a:buSzPct val="100000"/>
              <a:buChar char="•"/>
            </a:pPr>
            <a:r>
              <a:rPr lang="en-US" sz="750" dirty="0">
                <a:solidFill>
                  <a:srgbClr val="FFFFFF"/>
                </a:solidFill>
                <a:latin typeface="Roboto" pitchFamily="34" charset="0"/>
                <a:ea typeface="Roboto" pitchFamily="34" charset="-122"/>
                <a:cs typeface="Roboto" pitchFamily="34" charset="-120"/>
              </a:rPr>
              <a:t>Real-time process monitoring</a:t>
            </a:r>
            <a:endParaRPr lang="en-US" sz="750" dirty="0"/>
          </a:p>
          <a:p>
            <a:pPr marL="152400" indent="-152400" algn="l">
              <a:lnSpc>
                <a:spcPct val="120000"/>
              </a:lnSpc>
              <a:buSzPct val="100000"/>
              <a:buChar char="•"/>
            </a:pPr>
            <a:r>
              <a:rPr lang="en-US" sz="750" dirty="0">
                <a:solidFill>
                  <a:srgbClr val="FFFFFF"/>
                </a:solidFill>
                <a:latin typeface="Roboto" pitchFamily="34" charset="0"/>
                <a:ea typeface="Roboto" pitchFamily="34" charset="-122"/>
                <a:cs typeface="Roboto" pitchFamily="34" charset="-120"/>
              </a:rPr>
              <a:t>CPU/memory analysis</a:t>
            </a:r>
            <a:endParaRPr lang="en-US" sz="750" dirty="0"/>
          </a:p>
          <a:p>
            <a:pPr marL="152400" indent="-152400" algn="l">
              <a:lnSpc>
                <a:spcPct val="120000"/>
              </a:lnSpc>
              <a:buSzPct val="100000"/>
              <a:buChar char="•"/>
            </a:pPr>
            <a:r>
              <a:rPr lang="en-US" sz="750" dirty="0">
                <a:solidFill>
                  <a:srgbClr val="FFFFFF"/>
                </a:solidFill>
                <a:latin typeface="Roboto" pitchFamily="34" charset="0"/>
                <a:ea typeface="Roboto" pitchFamily="34" charset="-122"/>
                <a:cs typeface="Roboto" pitchFamily="34" charset="-120"/>
              </a:rPr>
              <a:t>Workload identification</a:t>
            </a:r>
            <a:endParaRPr lang="en-US" sz="750" dirty="0"/>
          </a:p>
          <a:p>
            <a:pPr marL="152400" indent="-152400" algn="l">
              <a:lnSpc>
                <a:spcPct val="120000"/>
              </a:lnSpc>
              <a:buSzPct val="100000"/>
              <a:buChar char="•"/>
            </a:pPr>
            <a:r>
              <a:rPr lang="en-US" sz="750" dirty="0">
                <a:solidFill>
                  <a:srgbClr val="FFFFFF"/>
                </a:solidFill>
                <a:latin typeface="Roboto" pitchFamily="34" charset="0"/>
                <a:ea typeface="Roboto" pitchFamily="34" charset="-122"/>
                <a:cs typeface="Roboto" pitchFamily="34" charset="-120"/>
              </a:rPr>
              <a:t>Activity logging</a:t>
            </a:r>
            <a:endParaRPr lang="en-US" sz="750" dirty="0"/>
          </a:p>
          <a:p>
            <a:pPr marL="152400" indent="-152400" algn="l">
              <a:lnSpc>
                <a:spcPct val="120000"/>
              </a:lnSpc>
              <a:buSzPct val="100000"/>
              <a:buChar char="•"/>
            </a:pPr>
            <a:r>
              <a:rPr lang="en-US" sz="750" dirty="0">
                <a:solidFill>
                  <a:srgbClr val="FFFFFF"/>
                </a:solidFill>
                <a:latin typeface="Roboto" pitchFamily="34" charset="0"/>
                <a:ea typeface="Roboto" pitchFamily="34" charset="-122"/>
                <a:cs typeface="Roboto" pitchFamily="34" charset="-120"/>
              </a:rPr>
              <a:t>Understandable recommendations</a:t>
            </a:r>
            <a:endParaRPr lang="en-US" sz="750" dirty="0"/>
          </a:p>
        </p:txBody>
      </p:sp>
      <p:sp>
        <p:nvSpPr>
          <p:cNvPr id="18" name="Text 11"/>
          <p:cNvSpPr/>
          <p:nvPr/>
        </p:nvSpPr>
        <p:spPr>
          <a:xfrm>
            <a:off x="4305300" y="2359744"/>
            <a:ext cx="4319588"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FFFFFF"/>
                </a:solidFill>
                <a:latin typeface="Roboto" pitchFamily="34" charset="0"/>
                <a:ea typeface="Roboto" pitchFamily="34" charset="-122"/>
                <a:cs typeface="Roboto" pitchFamily="34" charset="-120"/>
              </a:rPr>
              <a:t>This would provide a desktop-focused solution that bridges the gap between simple monitoring tools and complex adaptive OS research.</a:t>
            </a:r>
            <a:endParaRPr lang="en-US" sz="750" dirty="0"/>
          </a:p>
        </p:txBody>
      </p:sp>
      <p:sp>
        <p:nvSpPr>
          <p:cNvPr id="19" name="Text 12"/>
          <p:cNvSpPr/>
          <p:nvPr/>
        </p:nvSpPr>
        <p:spPr>
          <a:xfrm>
            <a:off x="496119" y="3160514"/>
            <a:ext cx="8151763" cy="154409"/>
          </a:xfrm>
          <a:prstGeom prst="rect">
            <a:avLst/>
          </a:prstGeom>
          <a:noFill/>
          <a:ln/>
        </p:spPr>
        <p:txBody>
          <a:bodyPr wrap="none" lIns="0" tIns="0" rIns="0" bIns="0" rtlCol="0" anchor="t"/>
          <a:lstStyle/>
          <a:p>
            <a:pPr marL="0" indent="0" algn="l">
              <a:lnSpc>
                <a:spcPct val="104000"/>
              </a:lnSpc>
              <a:buNone/>
            </a:pPr>
            <a:r>
              <a:rPr lang="en-US" sz="950" dirty="0">
                <a:solidFill>
                  <a:srgbClr val="1B1B27"/>
                </a:solidFill>
                <a:latin typeface="Raleway" pitchFamily="34" charset="0"/>
                <a:ea typeface="Raleway" pitchFamily="34" charset="-122"/>
                <a:cs typeface="Raleway" pitchFamily="34" charset="-120"/>
              </a:rPr>
              <a:t>Our Proposed Direction</a:t>
            </a:r>
            <a:endParaRPr lang="en-US" sz="950" dirty="0"/>
          </a:p>
        </p:txBody>
      </p:sp>
      <p:sp>
        <p:nvSpPr>
          <p:cNvPr id="20" name="Shape 13"/>
          <p:cNvSpPr/>
          <p:nvPr/>
        </p:nvSpPr>
        <p:spPr>
          <a:xfrm>
            <a:off x="496119" y="3433018"/>
            <a:ext cx="2664768" cy="296540"/>
          </a:xfrm>
          <a:prstGeom prst="roundRect">
            <a:avLst>
              <a:gd name="adj" fmla="val 50000"/>
            </a:avLst>
          </a:prstGeom>
          <a:solidFill>
            <a:srgbClr val="E1E1EA"/>
          </a:solidFill>
          <a:ln w="4763">
            <a:solidFill>
              <a:srgbClr val="C7C7D0"/>
            </a:solidFill>
            <a:prstDash val="solid"/>
          </a:ln>
        </p:spPr>
        <p:txBody>
          <a:bodyPr/>
          <a:lstStyle/>
          <a:p>
            <a:endParaRPr lang="en-IN"/>
          </a:p>
        </p:txBody>
      </p:sp>
      <p:sp>
        <p:nvSpPr>
          <p:cNvPr id="21" name="Text 14"/>
          <p:cNvSpPr/>
          <p:nvPr/>
        </p:nvSpPr>
        <p:spPr>
          <a:xfrm>
            <a:off x="594940" y="3808288"/>
            <a:ext cx="2467124" cy="154409"/>
          </a:xfrm>
          <a:prstGeom prst="rect">
            <a:avLst/>
          </a:prstGeom>
          <a:noFill/>
          <a:ln/>
        </p:spPr>
        <p:txBody>
          <a:bodyPr wrap="none" lIns="0" tIns="0" rIns="0" bIns="0" rtlCol="0" anchor="t"/>
          <a:lstStyle/>
          <a:p>
            <a:pPr marL="0" indent="0" algn="l">
              <a:lnSpc>
                <a:spcPct val="104000"/>
              </a:lnSpc>
              <a:buNone/>
            </a:pPr>
            <a:r>
              <a:rPr lang="en-US" sz="950" dirty="0">
                <a:solidFill>
                  <a:srgbClr val="3C3939"/>
                </a:solidFill>
                <a:latin typeface="Raleway" pitchFamily="34" charset="0"/>
                <a:ea typeface="Raleway" pitchFamily="34" charset="-122"/>
                <a:cs typeface="Raleway" pitchFamily="34" charset="-120"/>
              </a:rPr>
              <a:t>Real-Time Monitoring</a:t>
            </a:r>
            <a:endParaRPr lang="en-US" sz="950" dirty="0"/>
          </a:p>
        </p:txBody>
      </p:sp>
      <p:sp>
        <p:nvSpPr>
          <p:cNvPr id="22" name="Shape 15"/>
          <p:cNvSpPr/>
          <p:nvPr/>
        </p:nvSpPr>
        <p:spPr>
          <a:xfrm>
            <a:off x="3239616" y="3433018"/>
            <a:ext cx="2664768" cy="296540"/>
          </a:xfrm>
          <a:prstGeom prst="roundRect">
            <a:avLst>
              <a:gd name="adj" fmla="val 50000"/>
            </a:avLst>
          </a:prstGeom>
          <a:solidFill>
            <a:srgbClr val="E1E1EA"/>
          </a:solidFill>
          <a:ln w="4763">
            <a:solidFill>
              <a:srgbClr val="C7C7D0"/>
            </a:solidFill>
            <a:prstDash val="solid"/>
          </a:ln>
        </p:spPr>
        <p:txBody>
          <a:bodyPr/>
          <a:lstStyle/>
          <a:p>
            <a:endParaRPr lang="en-IN"/>
          </a:p>
        </p:txBody>
      </p:sp>
      <p:sp>
        <p:nvSpPr>
          <p:cNvPr id="23" name="Text 16"/>
          <p:cNvSpPr/>
          <p:nvPr/>
        </p:nvSpPr>
        <p:spPr>
          <a:xfrm>
            <a:off x="3338438" y="3808288"/>
            <a:ext cx="2467124" cy="154409"/>
          </a:xfrm>
          <a:prstGeom prst="rect">
            <a:avLst/>
          </a:prstGeom>
          <a:noFill/>
          <a:ln/>
        </p:spPr>
        <p:txBody>
          <a:bodyPr wrap="none" lIns="0" tIns="0" rIns="0" bIns="0" rtlCol="0" anchor="t"/>
          <a:lstStyle/>
          <a:p>
            <a:pPr marL="0" indent="0" algn="l">
              <a:lnSpc>
                <a:spcPct val="104000"/>
              </a:lnSpc>
              <a:buNone/>
            </a:pPr>
            <a:r>
              <a:rPr lang="en-US" sz="950" dirty="0">
                <a:solidFill>
                  <a:srgbClr val="3C3939"/>
                </a:solidFill>
                <a:latin typeface="Raleway" pitchFamily="34" charset="0"/>
                <a:ea typeface="Raleway" pitchFamily="34" charset="-122"/>
                <a:cs typeface="Raleway" pitchFamily="34" charset="-120"/>
              </a:rPr>
              <a:t>Resource Analysis</a:t>
            </a:r>
            <a:endParaRPr lang="en-US" sz="950" dirty="0"/>
          </a:p>
        </p:txBody>
      </p:sp>
      <p:sp>
        <p:nvSpPr>
          <p:cNvPr id="24" name="Shape 17"/>
          <p:cNvSpPr/>
          <p:nvPr/>
        </p:nvSpPr>
        <p:spPr>
          <a:xfrm>
            <a:off x="5983114" y="3433018"/>
            <a:ext cx="2664768" cy="296540"/>
          </a:xfrm>
          <a:prstGeom prst="roundRect">
            <a:avLst>
              <a:gd name="adj" fmla="val 50000"/>
            </a:avLst>
          </a:prstGeom>
          <a:solidFill>
            <a:srgbClr val="E1E1EA"/>
          </a:solidFill>
          <a:ln w="4763">
            <a:solidFill>
              <a:srgbClr val="C7C7D0"/>
            </a:solidFill>
            <a:prstDash val="solid"/>
          </a:ln>
        </p:spPr>
        <p:txBody>
          <a:bodyPr/>
          <a:lstStyle/>
          <a:p>
            <a:endParaRPr lang="en-IN"/>
          </a:p>
        </p:txBody>
      </p:sp>
      <p:sp>
        <p:nvSpPr>
          <p:cNvPr id="25" name="Text 18"/>
          <p:cNvSpPr/>
          <p:nvPr/>
        </p:nvSpPr>
        <p:spPr>
          <a:xfrm>
            <a:off x="6081936" y="3808288"/>
            <a:ext cx="2467124" cy="154409"/>
          </a:xfrm>
          <a:prstGeom prst="rect">
            <a:avLst/>
          </a:prstGeom>
          <a:noFill/>
          <a:ln/>
        </p:spPr>
        <p:txBody>
          <a:bodyPr wrap="none" lIns="0" tIns="0" rIns="0" bIns="0" rtlCol="0" anchor="t"/>
          <a:lstStyle/>
          <a:p>
            <a:pPr marL="0" indent="0" algn="l">
              <a:lnSpc>
                <a:spcPct val="104000"/>
              </a:lnSpc>
              <a:buNone/>
            </a:pPr>
            <a:r>
              <a:rPr lang="en-US" sz="950" dirty="0">
                <a:solidFill>
                  <a:srgbClr val="3C3939"/>
                </a:solidFill>
                <a:latin typeface="Raleway" pitchFamily="34" charset="0"/>
                <a:ea typeface="Raleway" pitchFamily="34" charset="-122"/>
                <a:cs typeface="Raleway" pitchFamily="34" charset="-120"/>
              </a:rPr>
              <a:t>Identify High-Load Apps</a:t>
            </a:r>
            <a:endParaRPr lang="en-US" sz="950" dirty="0"/>
          </a:p>
        </p:txBody>
      </p:sp>
      <p:sp>
        <p:nvSpPr>
          <p:cNvPr id="26" name="Shape 19"/>
          <p:cNvSpPr/>
          <p:nvPr/>
        </p:nvSpPr>
        <p:spPr>
          <a:xfrm>
            <a:off x="496119" y="4140250"/>
            <a:ext cx="2664768" cy="296540"/>
          </a:xfrm>
          <a:prstGeom prst="roundRect">
            <a:avLst>
              <a:gd name="adj" fmla="val 50000"/>
            </a:avLst>
          </a:prstGeom>
          <a:solidFill>
            <a:srgbClr val="E1E1EA"/>
          </a:solidFill>
          <a:ln w="4763">
            <a:solidFill>
              <a:srgbClr val="C7C7D0"/>
            </a:solidFill>
            <a:prstDash val="solid"/>
          </a:ln>
        </p:spPr>
        <p:txBody>
          <a:bodyPr/>
          <a:lstStyle/>
          <a:p>
            <a:endParaRPr lang="en-IN"/>
          </a:p>
        </p:txBody>
      </p:sp>
      <p:sp>
        <p:nvSpPr>
          <p:cNvPr id="27" name="Text 20"/>
          <p:cNvSpPr/>
          <p:nvPr/>
        </p:nvSpPr>
        <p:spPr>
          <a:xfrm>
            <a:off x="594940" y="4515520"/>
            <a:ext cx="2467124" cy="154409"/>
          </a:xfrm>
          <a:prstGeom prst="rect">
            <a:avLst/>
          </a:prstGeom>
          <a:noFill/>
          <a:ln/>
        </p:spPr>
        <p:txBody>
          <a:bodyPr wrap="none" lIns="0" tIns="0" rIns="0" bIns="0" rtlCol="0" anchor="t"/>
          <a:lstStyle/>
          <a:p>
            <a:pPr marL="0" indent="0" algn="l">
              <a:lnSpc>
                <a:spcPct val="104000"/>
              </a:lnSpc>
              <a:buNone/>
            </a:pPr>
            <a:r>
              <a:rPr lang="en-US" sz="950" dirty="0">
                <a:solidFill>
                  <a:srgbClr val="3C3939"/>
                </a:solidFill>
                <a:latin typeface="Raleway" pitchFamily="34" charset="0"/>
                <a:ea typeface="Raleway" pitchFamily="34" charset="-122"/>
                <a:cs typeface="Raleway" pitchFamily="34" charset="-120"/>
              </a:rPr>
              <a:t>Workload-Based Recommendation</a:t>
            </a:r>
            <a:endParaRPr lang="en-US" sz="950" dirty="0"/>
          </a:p>
        </p:txBody>
      </p:sp>
      <p:sp>
        <p:nvSpPr>
          <p:cNvPr id="28" name="Shape 21"/>
          <p:cNvSpPr/>
          <p:nvPr/>
        </p:nvSpPr>
        <p:spPr>
          <a:xfrm>
            <a:off x="3239616" y="4140250"/>
            <a:ext cx="2664768" cy="296540"/>
          </a:xfrm>
          <a:prstGeom prst="roundRect">
            <a:avLst>
              <a:gd name="adj" fmla="val 50000"/>
            </a:avLst>
          </a:prstGeom>
          <a:solidFill>
            <a:srgbClr val="E1E1EA"/>
          </a:solidFill>
          <a:ln w="4763">
            <a:solidFill>
              <a:srgbClr val="C7C7D0"/>
            </a:solidFill>
            <a:prstDash val="solid"/>
          </a:ln>
        </p:spPr>
        <p:txBody>
          <a:bodyPr/>
          <a:lstStyle/>
          <a:p>
            <a:endParaRPr lang="en-IN"/>
          </a:p>
        </p:txBody>
      </p:sp>
      <p:sp>
        <p:nvSpPr>
          <p:cNvPr id="29" name="Text 22"/>
          <p:cNvSpPr/>
          <p:nvPr/>
        </p:nvSpPr>
        <p:spPr>
          <a:xfrm>
            <a:off x="3338438" y="4515520"/>
            <a:ext cx="2467124" cy="154409"/>
          </a:xfrm>
          <a:prstGeom prst="rect">
            <a:avLst/>
          </a:prstGeom>
          <a:noFill/>
          <a:ln/>
        </p:spPr>
        <p:txBody>
          <a:bodyPr wrap="none" lIns="0" tIns="0" rIns="0" bIns="0" rtlCol="0" anchor="t"/>
          <a:lstStyle/>
          <a:p>
            <a:pPr marL="0" indent="0" algn="l">
              <a:lnSpc>
                <a:spcPct val="104000"/>
              </a:lnSpc>
              <a:buNone/>
            </a:pPr>
            <a:r>
              <a:rPr lang="en-US" sz="950" dirty="0">
                <a:solidFill>
                  <a:srgbClr val="3C3939"/>
                </a:solidFill>
                <a:latin typeface="Raleway" pitchFamily="34" charset="0"/>
                <a:ea typeface="Raleway" pitchFamily="34" charset="-122"/>
                <a:cs typeface="Raleway" pitchFamily="34" charset="-120"/>
              </a:rPr>
              <a:t>Activity Log</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82488"/>
            <a:ext cx="8151763" cy="290736"/>
          </a:xfrm>
          <a:prstGeom prst="rect">
            <a:avLst/>
          </a:prstGeom>
          <a:noFill/>
          <a:ln/>
        </p:spPr>
        <p:txBody>
          <a:bodyPr wrap="none" lIns="0" tIns="0" rIns="0" bIns="0" rtlCol="0" anchor="t"/>
          <a:lstStyle/>
          <a:p>
            <a:pPr marL="0" indent="0" algn="l">
              <a:lnSpc>
                <a:spcPct val="104000"/>
              </a:lnSpc>
              <a:buNone/>
            </a:pPr>
            <a:r>
              <a:rPr lang="en-US" sz="1800" dirty="0">
                <a:solidFill>
                  <a:srgbClr val="1B1B27"/>
                </a:solidFill>
                <a:latin typeface="Raleway" pitchFamily="34" charset="0"/>
                <a:ea typeface="Raleway" pitchFamily="34" charset="-122"/>
                <a:cs typeface="Raleway" pitchFamily="34" charset="-120"/>
              </a:rPr>
              <a:t>Proposed Direction Based on Research Gap</a:t>
            </a:r>
            <a:endParaRPr lang="en-US" sz="1800" dirty="0"/>
          </a:p>
        </p:txBody>
      </p:sp>
      <p:sp>
        <p:nvSpPr>
          <p:cNvPr id="3" name="Text 1"/>
          <p:cNvSpPr/>
          <p:nvPr/>
        </p:nvSpPr>
        <p:spPr>
          <a:xfrm>
            <a:off x="496119" y="847576"/>
            <a:ext cx="3962400" cy="145331"/>
          </a:xfrm>
          <a:prstGeom prst="rect">
            <a:avLst/>
          </a:prstGeom>
          <a:noFill/>
          <a:ln/>
        </p:spPr>
        <p:txBody>
          <a:bodyPr wrap="none" lIns="0" tIns="0" rIns="0" bIns="0" rtlCol="0" anchor="t"/>
          <a:lstStyle/>
          <a:p>
            <a:pPr marL="0" indent="0" algn="l">
              <a:lnSpc>
                <a:spcPct val="104000"/>
              </a:lnSpc>
              <a:buNone/>
            </a:pPr>
            <a:r>
              <a:rPr lang="en-US" sz="900" dirty="0">
                <a:solidFill>
                  <a:srgbClr val="1B1B27"/>
                </a:solidFill>
                <a:latin typeface="Raleway" pitchFamily="34" charset="0"/>
                <a:ea typeface="Raleway" pitchFamily="34" charset="-122"/>
                <a:cs typeface="Raleway" pitchFamily="34" charset="-120"/>
              </a:rPr>
              <a:t>What Existing Systems Do</a:t>
            </a:r>
            <a:endParaRPr lang="en-US" sz="900" dirty="0"/>
          </a:p>
        </p:txBody>
      </p:sp>
      <p:sp>
        <p:nvSpPr>
          <p:cNvPr id="4" name="Shape 2"/>
          <p:cNvSpPr/>
          <p:nvPr/>
        </p:nvSpPr>
        <p:spPr>
          <a:xfrm>
            <a:off x="496119" y="1071339"/>
            <a:ext cx="1946300" cy="340891"/>
          </a:xfrm>
          <a:prstGeom prst="roundRect">
            <a:avLst>
              <a:gd name="adj" fmla="val 11463"/>
            </a:avLst>
          </a:prstGeom>
          <a:solidFill>
            <a:srgbClr val="E1E1EA"/>
          </a:solidFill>
          <a:ln w="4763">
            <a:solidFill>
              <a:srgbClr val="C7C7D0"/>
            </a:solidFill>
            <a:prstDash val="solid"/>
          </a:ln>
        </p:spPr>
        <p:txBody>
          <a:bodyPr/>
          <a:lstStyle/>
          <a:p>
            <a:endParaRPr lang="en-IN"/>
          </a:p>
        </p:txBody>
      </p:sp>
      <p:sp>
        <p:nvSpPr>
          <p:cNvPr id="5" name="Text 3"/>
          <p:cNvSpPr/>
          <p:nvPr/>
        </p:nvSpPr>
        <p:spPr>
          <a:xfrm>
            <a:off x="593899" y="1169119"/>
            <a:ext cx="1750740" cy="145331"/>
          </a:xfrm>
          <a:prstGeom prst="rect">
            <a:avLst/>
          </a:prstGeom>
          <a:noFill/>
          <a:ln/>
        </p:spPr>
        <p:txBody>
          <a:bodyPr wrap="none" lIns="0" tIns="0" rIns="0" bIns="0" rtlCol="0" anchor="t"/>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Monitor</a:t>
            </a:r>
            <a:endParaRPr lang="en-US" sz="900" dirty="0"/>
          </a:p>
        </p:txBody>
      </p:sp>
      <p:sp>
        <p:nvSpPr>
          <p:cNvPr id="6" name="Shape 4"/>
          <p:cNvSpPr/>
          <p:nvPr/>
        </p:nvSpPr>
        <p:spPr>
          <a:xfrm>
            <a:off x="2512144" y="1071339"/>
            <a:ext cx="1946374" cy="340891"/>
          </a:xfrm>
          <a:prstGeom prst="roundRect">
            <a:avLst>
              <a:gd name="adj" fmla="val 11463"/>
            </a:avLst>
          </a:prstGeom>
          <a:solidFill>
            <a:srgbClr val="E1E1EA"/>
          </a:solidFill>
          <a:ln w="4763">
            <a:solidFill>
              <a:srgbClr val="C7C7D0"/>
            </a:solidFill>
            <a:prstDash val="solid"/>
          </a:ln>
        </p:spPr>
        <p:txBody>
          <a:bodyPr/>
          <a:lstStyle/>
          <a:p>
            <a:endParaRPr lang="en-IN"/>
          </a:p>
        </p:txBody>
      </p:sp>
      <p:sp>
        <p:nvSpPr>
          <p:cNvPr id="7" name="Text 5"/>
          <p:cNvSpPr/>
          <p:nvPr/>
        </p:nvSpPr>
        <p:spPr>
          <a:xfrm>
            <a:off x="2609924" y="1169119"/>
            <a:ext cx="1750814" cy="145331"/>
          </a:xfrm>
          <a:prstGeom prst="rect">
            <a:avLst/>
          </a:prstGeom>
          <a:noFill/>
          <a:ln/>
        </p:spPr>
        <p:txBody>
          <a:bodyPr wrap="none" lIns="0" tIns="0" rIns="0" bIns="0" rtlCol="0" anchor="t"/>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Display</a:t>
            </a:r>
            <a:endParaRPr lang="en-US" sz="900" dirty="0"/>
          </a:p>
        </p:txBody>
      </p:sp>
      <p:sp>
        <p:nvSpPr>
          <p:cNvPr id="8" name="Shape 6"/>
          <p:cNvSpPr/>
          <p:nvPr/>
        </p:nvSpPr>
        <p:spPr>
          <a:xfrm>
            <a:off x="496119" y="1481956"/>
            <a:ext cx="3962400" cy="340891"/>
          </a:xfrm>
          <a:prstGeom prst="roundRect">
            <a:avLst>
              <a:gd name="adj" fmla="val 11463"/>
            </a:avLst>
          </a:prstGeom>
          <a:solidFill>
            <a:srgbClr val="E1E1EA"/>
          </a:solidFill>
          <a:ln w="4763">
            <a:solidFill>
              <a:srgbClr val="C7C7D0"/>
            </a:solidFill>
            <a:prstDash val="solid"/>
          </a:ln>
        </p:spPr>
        <p:txBody>
          <a:bodyPr/>
          <a:lstStyle/>
          <a:p>
            <a:endParaRPr lang="en-IN"/>
          </a:p>
        </p:txBody>
      </p:sp>
      <p:sp>
        <p:nvSpPr>
          <p:cNvPr id="9" name="Text 7"/>
          <p:cNvSpPr/>
          <p:nvPr/>
        </p:nvSpPr>
        <p:spPr>
          <a:xfrm>
            <a:off x="593899" y="1579736"/>
            <a:ext cx="3766840" cy="145331"/>
          </a:xfrm>
          <a:prstGeom prst="rect">
            <a:avLst/>
          </a:prstGeom>
          <a:noFill/>
          <a:ln/>
        </p:spPr>
        <p:txBody>
          <a:bodyPr wrap="none" lIns="0" tIns="0" rIns="0" bIns="0" rtlCol="0" anchor="t"/>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User Decides</a:t>
            </a:r>
            <a:endParaRPr lang="en-US" sz="900" dirty="0"/>
          </a:p>
        </p:txBody>
      </p:sp>
      <p:sp>
        <p:nvSpPr>
          <p:cNvPr id="10" name="Text 8"/>
          <p:cNvSpPr/>
          <p:nvPr/>
        </p:nvSpPr>
        <p:spPr>
          <a:xfrm>
            <a:off x="4690244" y="847576"/>
            <a:ext cx="3962400" cy="145331"/>
          </a:xfrm>
          <a:prstGeom prst="rect">
            <a:avLst/>
          </a:prstGeom>
          <a:noFill/>
          <a:ln/>
        </p:spPr>
        <p:txBody>
          <a:bodyPr wrap="none" lIns="0" tIns="0" rIns="0" bIns="0" rtlCol="0" anchor="t"/>
          <a:lstStyle/>
          <a:p>
            <a:pPr marL="0" indent="0" algn="l">
              <a:lnSpc>
                <a:spcPct val="104000"/>
              </a:lnSpc>
              <a:buNone/>
            </a:pPr>
            <a:r>
              <a:rPr lang="en-US" sz="900" dirty="0">
                <a:solidFill>
                  <a:srgbClr val="1B1B27"/>
                </a:solidFill>
                <a:latin typeface="Raleway" pitchFamily="34" charset="0"/>
                <a:ea typeface="Raleway" pitchFamily="34" charset="-122"/>
                <a:cs typeface="Raleway" pitchFamily="34" charset="-120"/>
              </a:rPr>
              <a:t>Our Proposed Direction</a:t>
            </a:r>
            <a:endParaRPr lang="en-US" sz="900" dirty="0"/>
          </a:p>
        </p:txBody>
      </p:sp>
      <p:sp>
        <p:nvSpPr>
          <p:cNvPr id="11" name="Shape 9"/>
          <p:cNvSpPr/>
          <p:nvPr/>
        </p:nvSpPr>
        <p:spPr>
          <a:xfrm>
            <a:off x="4690244" y="1071339"/>
            <a:ext cx="1946300" cy="689670"/>
          </a:xfrm>
          <a:prstGeom prst="roundRect">
            <a:avLst>
              <a:gd name="adj" fmla="val 5666"/>
            </a:avLst>
          </a:prstGeom>
          <a:solidFill>
            <a:srgbClr val="E1E1EA"/>
          </a:solidFill>
          <a:ln w="4763">
            <a:solidFill>
              <a:srgbClr val="C7C7D0"/>
            </a:solidFill>
            <a:prstDash val="solid"/>
          </a:ln>
        </p:spPr>
        <p:txBody>
          <a:bodyPr/>
          <a:lstStyle/>
          <a:p>
            <a:endParaRPr lang="en-IN"/>
          </a:p>
        </p:txBody>
      </p:sp>
      <p:sp>
        <p:nvSpPr>
          <p:cNvPr id="12" name="Shape 10"/>
          <p:cNvSpPr/>
          <p:nvPr/>
        </p:nvSpPr>
        <p:spPr>
          <a:xfrm>
            <a:off x="4788024" y="1169119"/>
            <a:ext cx="279053" cy="279053"/>
          </a:xfrm>
          <a:prstGeom prst="ellipse">
            <a:avLst/>
          </a:prstGeom>
          <a:solidFill>
            <a:srgbClr val="1B1B27"/>
          </a:solidFill>
          <a:ln/>
        </p:spPr>
        <p:txBody>
          <a:bodyPr/>
          <a:lstStyle/>
          <a:p>
            <a:endParaRPr lang="en-IN"/>
          </a:p>
        </p:txBody>
      </p:sp>
      <p:sp>
        <p:nvSpPr>
          <p:cNvPr id="13" name="Text 11"/>
          <p:cNvSpPr/>
          <p:nvPr/>
        </p:nvSpPr>
        <p:spPr>
          <a:xfrm>
            <a:off x="4864745" y="1230139"/>
            <a:ext cx="125537" cy="156939"/>
          </a:xfrm>
          <a:prstGeom prst="rect">
            <a:avLst/>
          </a:prstGeom>
          <a:noFill/>
          <a:ln/>
        </p:spPr>
        <p:txBody>
          <a:bodyPr wrap="none" lIns="0" tIns="0" rIns="0" bIns="0" rtlCol="0" anchor="ctr"/>
          <a:lstStyle/>
          <a:p>
            <a:pPr marL="0" indent="0" algn="ctr">
              <a:lnSpc>
                <a:spcPct val="100000"/>
              </a:lnSpc>
              <a:buNone/>
            </a:pPr>
            <a:r>
              <a:rPr lang="en-US" sz="950" dirty="0">
                <a:solidFill>
                  <a:srgbClr val="FFFFFF"/>
                </a:solidFill>
                <a:latin typeface="Raleway" pitchFamily="34" charset="0"/>
                <a:ea typeface="Raleway" pitchFamily="34" charset="-122"/>
                <a:cs typeface="Raleway" pitchFamily="34" charset="-120"/>
              </a:rPr>
              <a:t>1</a:t>
            </a:r>
            <a:endParaRPr lang="en-US" sz="950" dirty="0"/>
          </a:p>
        </p:txBody>
      </p:sp>
      <p:sp>
        <p:nvSpPr>
          <p:cNvPr id="14" name="Text 12"/>
          <p:cNvSpPr/>
          <p:nvPr/>
        </p:nvSpPr>
        <p:spPr>
          <a:xfrm>
            <a:off x="4788024" y="1517898"/>
            <a:ext cx="1750740" cy="145331"/>
          </a:xfrm>
          <a:prstGeom prst="rect">
            <a:avLst/>
          </a:prstGeom>
          <a:noFill/>
          <a:ln/>
        </p:spPr>
        <p:txBody>
          <a:bodyPr wrap="none" lIns="0" tIns="0" rIns="0" bIns="0" rtlCol="0" anchor="t"/>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Monitor</a:t>
            </a:r>
            <a:endParaRPr lang="en-US" sz="900" dirty="0"/>
          </a:p>
        </p:txBody>
      </p:sp>
      <p:sp>
        <p:nvSpPr>
          <p:cNvPr id="15" name="Shape 13"/>
          <p:cNvSpPr/>
          <p:nvPr/>
        </p:nvSpPr>
        <p:spPr>
          <a:xfrm>
            <a:off x="6706270" y="1071339"/>
            <a:ext cx="1946374" cy="689670"/>
          </a:xfrm>
          <a:prstGeom prst="roundRect">
            <a:avLst>
              <a:gd name="adj" fmla="val 5666"/>
            </a:avLst>
          </a:prstGeom>
          <a:solidFill>
            <a:srgbClr val="E1E1EA"/>
          </a:solidFill>
          <a:ln w="4763">
            <a:solidFill>
              <a:srgbClr val="C7C7D0"/>
            </a:solidFill>
            <a:prstDash val="solid"/>
          </a:ln>
        </p:spPr>
        <p:txBody>
          <a:bodyPr/>
          <a:lstStyle/>
          <a:p>
            <a:endParaRPr lang="en-IN"/>
          </a:p>
        </p:txBody>
      </p:sp>
      <p:sp>
        <p:nvSpPr>
          <p:cNvPr id="16" name="Shape 14"/>
          <p:cNvSpPr/>
          <p:nvPr/>
        </p:nvSpPr>
        <p:spPr>
          <a:xfrm>
            <a:off x="6804050" y="1169119"/>
            <a:ext cx="279053" cy="279053"/>
          </a:xfrm>
          <a:prstGeom prst="ellipse">
            <a:avLst/>
          </a:prstGeom>
          <a:solidFill>
            <a:srgbClr val="1B1B27"/>
          </a:solidFill>
          <a:ln/>
        </p:spPr>
        <p:txBody>
          <a:bodyPr/>
          <a:lstStyle/>
          <a:p>
            <a:endParaRPr lang="en-IN"/>
          </a:p>
        </p:txBody>
      </p:sp>
      <p:sp>
        <p:nvSpPr>
          <p:cNvPr id="17" name="Text 15"/>
          <p:cNvSpPr/>
          <p:nvPr/>
        </p:nvSpPr>
        <p:spPr>
          <a:xfrm>
            <a:off x="6880771" y="1230139"/>
            <a:ext cx="125537" cy="156939"/>
          </a:xfrm>
          <a:prstGeom prst="rect">
            <a:avLst/>
          </a:prstGeom>
          <a:noFill/>
          <a:ln/>
        </p:spPr>
        <p:txBody>
          <a:bodyPr wrap="none" lIns="0" tIns="0" rIns="0" bIns="0" rtlCol="0" anchor="ctr"/>
          <a:lstStyle/>
          <a:p>
            <a:pPr marL="0" indent="0" algn="ctr">
              <a:lnSpc>
                <a:spcPct val="100000"/>
              </a:lnSpc>
              <a:buNone/>
            </a:pPr>
            <a:r>
              <a:rPr lang="en-US" sz="950" dirty="0">
                <a:solidFill>
                  <a:srgbClr val="FFFFFF"/>
                </a:solidFill>
                <a:latin typeface="Raleway" pitchFamily="34" charset="0"/>
                <a:ea typeface="Raleway" pitchFamily="34" charset="-122"/>
                <a:cs typeface="Raleway" pitchFamily="34" charset="-120"/>
              </a:rPr>
              <a:t>2</a:t>
            </a:r>
            <a:endParaRPr lang="en-US" sz="950" dirty="0"/>
          </a:p>
        </p:txBody>
      </p:sp>
      <p:sp>
        <p:nvSpPr>
          <p:cNvPr id="18" name="Text 16"/>
          <p:cNvSpPr/>
          <p:nvPr/>
        </p:nvSpPr>
        <p:spPr>
          <a:xfrm>
            <a:off x="6804050" y="1517898"/>
            <a:ext cx="1750814" cy="145331"/>
          </a:xfrm>
          <a:prstGeom prst="rect">
            <a:avLst/>
          </a:prstGeom>
          <a:noFill/>
          <a:ln/>
        </p:spPr>
        <p:txBody>
          <a:bodyPr wrap="none" lIns="0" tIns="0" rIns="0" bIns="0" rtlCol="0" anchor="t"/>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Analyze</a:t>
            </a:r>
            <a:endParaRPr lang="en-US" sz="900" dirty="0"/>
          </a:p>
        </p:txBody>
      </p:sp>
      <p:sp>
        <p:nvSpPr>
          <p:cNvPr id="19" name="Shape 17"/>
          <p:cNvSpPr/>
          <p:nvPr/>
        </p:nvSpPr>
        <p:spPr>
          <a:xfrm>
            <a:off x="4690244" y="1830735"/>
            <a:ext cx="1946300" cy="689670"/>
          </a:xfrm>
          <a:prstGeom prst="roundRect">
            <a:avLst>
              <a:gd name="adj" fmla="val 5666"/>
            </a:avLst>
          </a:prstGeom>
          <a:solidFill>
            <a:srgbClr val="E1E1EA"/>
          </a:solidFill>
          <a:ln w="4763">
            <a:solidFill>
              <a:srgbClr val="C7C7D0"/>
            </a:solidFill>
            <a:prstDash val="solid"/>
          </a:ln>
        </p:spPr>
        <p:txBody>
          <a:bodyPr/>
          <a:lstStyle/>
          <a:p>
            <a:endParaRPr lang="en-IN"/>
          </a:p>
        </p:txBody>
      </p:sp>
      <p:sp>
        <p:nvSpPr>
          <p:cNvPr id="20" name="Shape 18"/>
          <p:cNvSpPr/>
          <p:nvPr/>
        </p:nvSpPr>
        <p:spPr>
          <a:xfrm>
            <a:off x="4788024" y="1928515"/>
            <a:ext cx="279053" cy="279053"/>
          </a:xfrm>
          <a:prstGeom prst="ellipse">
            <a:avLst/>
          </a:prstGeom>
          <a:solidFill>
            <a:srgbClr val="1B1B27"/>
          </a:solidFill>
          <a:ln/>
        </p:spPr>
        <p:txBody>
          <a:bodyPr/>
          <a:lstStyle/>
          <a:p>
            <a:endParaRPr lang="en-IN"/>
          </a:p>
        </p:txBody>
      </p:sp>
      <p:sp>
        <p:nvSpPr>
          <p:cNvPr id="21" name="Text 19"/>
          <p:cNvSpPr/>
          <p:nvPr/>
        </p:nvSpPr>
        <p:spPr>
          <a:xfrm>
            <a:off x="4864745" y="1989534"/>
            <a:ext cx="125537" cy="156939"/>
          </a:xfrm>
          <a:prstGeom prst="rect">
            <a:avLst/>
          </a:prstGeom>
          <a:noFill/>
          <a:ln/>
        </p:spPr>
        <p:txBody>
          <a:bodyPr wrap="none" lIns="0" tIns="0" rIns="0" bIns="0" rtlCol="0" anchor="ctr"/>
          <a:lstStyle/>
          <a:p>
            <a:pPr marL="0" indent="0" algn="ctr">
              <a:lnSpc>
                <a:spcPct val="100000"/>
              </a:lnSpc>
              <a:buNone/>
            </a:pPr>
            <a:r>
              <a:rPr lang="en-US" sz="950" dirty="0">
                <a:solidFill>
                  <a:srgbClr val="FFFFFF"/>
                </a:solidFill>
                <a:latin typeface="Raleway" pitchFamily="34" charset="0"/>
                <a:ea typeface="Raleway" pitchFamily="34" charset="-122"/>
                <a:cs typeface="Raleway" pitchFamily="34" charset="-120"/>
              </a:rPr>
              <a:t>3</a:t>
            </a:r>
            <a:endParaRPr lang="en-US" sz="950" dirty="0"/>
          </a:p>
        </p:txBody>
      </p:sp>
      <p:sp>
        <p:nvSpPr>
          <p:cNvPr id="22" name="Text 20"/>
          <p:cNvSpPr/>
          <p:nvPr/>
        </p:nvSpPr>
        <p:spPr>
          <a:xfrm>
            <a:off x="4788024" y="2277294"/>
            <a:ext cx="1750740" cy="145331"/>
          </a:xfrm>
          <a:prstGeom prst="rect">
            <a:avLst/>
          </a:prstGeom>
          <a:noFill/>
          <a:ln/>
        </p:spPr>
        <p:txBody>
          <a:bodyPr wrap="none" lIns="0" tIns="0" rIns="0" bIns="0" rtlCol="0" anchor="t"/>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Identify</a:t>
            </a:r>
            <a:endParaRPr lang="en-US" sz="900" dirty="0"/>
          </a:p>
        </p:txBody>
      </p:sp>
      <p:sp>
        <p:nvSpPr>
          <p:cNvPr id="23" name="Shape 21"/>
          <p:cNvSpPr/>
          <p:nvPr/>
        </p:nvSpPr>
        <p:spPr>
          <a:xfrm>
            <a:off x="6706270" y="1830735"/>
            <a:ext cx="1946374" cy="689670"/>
          </a:xfrm>
          <a:prstGeom prst="roundRect">
            <a:avLst>
              <a:gd name="adj" fmla="val 5666"/>
            </a:avLst>
          </a:prstGeom>
          <a:solidFill>
            <a:srgbClr val="E1E1EA"/>
          </a:solidFill>
          <a:ln w="4763">
            <a:solidFill>
              <a:srgbClr val="C7C7D0"/>
            </a:solidFill>
            <a:prstDash val="solid"/>
          </a:ln>
        </p:spPr>
        <p:txBody>
          <a:bodyPr/>
          <a:lstStyle/>
          <a:p>
            <a:endParaRPr lang="en-IN"/>
          </a:p>
        </p:txBody>
      </p:sp>
      <p:sp>
        <p:nvSpPr>
          <p:cNvPr id="24" name="Shape 22"/>
          <p:cNvSpPr/>
          <p:nvPr/>
        </p:nvSpPr>
        <p:spPr>
          <a:xfrm>
            <a:off x="6804050" y="1928515"/>
            <a:ext cx="279053" cy="279053"/>
          </a:xfrm>
          <a:prstGeom prst="ellipse">
            <a:avLst/>
          </a:prstGeom>
          <a:solidFill>
            <a:srgbClr val="1B1B27"/>
          </a:solidFill>
          <a:ln/>
        </p:spPr>
        <p:txBody>
          <a:bodyPr/>
          <a:lstStyle/>
          <a:p>
            <a:endParaRPr lang="en-IN"/>
          </a:p>
        </p:txBody>
      </p:sp>
      <p:sp>
        <p:nvSpPr>
          <p:cNvPr id="25" name="Text 23"/>
          <p:cNvSpPr/>
          <p:nvPr/>
        </p:nvSpPr>
        <p:spPr>
          <a:xfrm>
            <a:off x="6880771" y="1989534"/>
            <a:ext cx="125537" cy="156939"/>
          </a:xfrm>
          <a:prstGeom prst="rect">
            <a:avLst/>
          </a:prstGeom>
          <a:noFill/>
          <a:ln/>
        </p:spPr>
        <p:txBody>
          <a:bodyPr wrap="none" lIns="0" tIns="0" rIns="0" bIns="0" rtlCol="0" anchor="ctr"/>
          <a:lstStyle/>
          <a:p>
            <a:pPr marL="0" indent="0" algn="ctr">
              <a:lnSpc>
                <a:spcPct val="100000"/>
              </a:lnSpc>
              <a:buNone/>
            </a:pPr>
            <a:r>
              <a:rPr lang="en-US" sz="950" dirty="0">
                <a:solidFill>
                  <a:srgbClr val="FFFFFF"/>
                </a:solidFill>
                <a:latin typeface="Raleway" pitchFamily="34" charset="0"/>
                <a:ea typeface="Raleway" pitchFamily="34" charset="-122"/>
                <a:cs typeface="Raleway" pitchFamily="34" charset="-120"/>
              </a:rPr>
              <a:t>4</a:t>
            </a:r>
            <a:endParaRPr lang="en-US" sz="950" dirty="0"/>
          </a:p>
        </p:txBody>
      </p:sp>
      <p:sp>
        <p:nvSpPr>
          <p:cNvPr id="26" name="Text 24"/>
          <p:cNvSpPr/>
          <p:nvPr/>
        </p:nvSpPr>
        <p:spPr>
          <a:xfrm>
            <a:off x="6804050" y="2277294"/>
            <a:ext cx="1750814" cy="145331"/>
          </a:xfrm>
          <a:prstGeom prst="rect">
            <a:avLst/>
          </a:prstGeom>
          <a:noFill/>
          <a:ln/>
        </p:spPr>
        <p:txBody>
          <a:bodyPr wrap="none" lIns="0" tIns="0" rIns="0" bIns="0" rtlCol="0" anchor="t"/>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Recommend</a:t>
            </a:r>
            <a:endParaRPr lang="en-US" sz="900" dirty="0"/>
          </a:p>
        </p:txBody>
      </p:sp>
      <p:sp>
        <p:nvSpPr>
          <p:cNvPr id="27" name="Text 25"/>
          <p:cNvSpPr/>
          <p:nvPr/>
        </p:nvSpPr>
        <p:spPr>
          <a:xfrm>
            <a:off x="496119" y="2703463"/>
            <a:ext cx="8151763" cy="145331"/>
          </a:xfrm>
          <a:prstGeom prst="rect">
            <a:avLst/>
          </a:prstGeom>
          <a:noFill/>
          <a:ln/>
        </p:spPr>
        <p:txBody>
          <a:bodyPr wrap="none" lIns="0" tIns="0" rIns="0" bIns="0" rtlCol="0" anchor="t"/>
          <a:lstStyle/>
          <a:p>
            <a:pPr marL="0" indent="0" algn="l">
              <a:lnSpc>
                <a:spcPct val="104000"/>
              </a:lnSpc>
              <a:buNone/>
            </a:pPr>
            <a:r>
              <a:rPr lang="en-US" sz="900" dirty="0">
                <a:solidFill>
                  <a:srgbClr val="1B1B27"/>
                </a:solidFill>
                <a:latin typeface="Raleway" pitchFamily="34" charset="0"/>
                <a:ea typeface="Raleway" pitchFamily="34" charset="-122"/>
                <a:cs typeface="Raleway" pitchFamily="34" charset="-120"/>
              </a:rPr>
              <a:t>Conceptual Components We Propose</a:t>
            </a:r>
            <a:endParaRPr lang="en-US" sz="900" dirty="0"/>
          </a:p>
        </p:txBody>
      </p:sp>
      <p:pic>
        <p:nvPicPr>
          <p:cNvPr id="2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953420"/>
            <a:ext cx="1985590" cy="667792"/>
          </a:xfrm>
          <a:prstGeom prst="rect">
            <a:avLst/>
          </a:prstGeom>
        </p:spPr>
      </p:pic>
      <p:sp>
        <p:nvSpPr>
          <p:cNvPr id="29" name="Text 26"/>
          <p:cNvSpPr/>
          <p:nvPr/>
        </p:nvSpPr>
        <p:spPr>
          <a:xfrm>
            <a:off x="636761" y="3055962"/>
            <a:ext cx="1742405" cy="145331"/>
          </a:xfrm>
          <a:prstGeom prst="rect">
            <a:avLst/>
          </a:prstGeom>
          <a:noFill/>
          <a:ln/>
        </p:spPr>
        <p:txBody>
          <a:bodyPr wrap="none" lIns="0" tIns="0" rIns="0" bIns="0" rtlCol="0" anchor="t"/>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1. Real-Time Monitoring</a:t>
            </a:r>
            <a:endParaRPr lang="en-US" sz="900" dirty="0"/>
          </a:p>
        </p:txBody>
      </p:sp>
      <p:sp>
        <p:nvSpPr>
          <p:cNvPr id="30" name="Text 27"/>
          <p:cNvSpPr/>
          <p:nvPr/>
        </p:nvSpPr>
        <p:spPr>
          <a:xfrm>
            <a:off x="636761" y="3243114"/>
            <a:ext cx="1742405"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3C3939"/>
                </a:solidFill>
                <a:latin typeface="Roboto" pitchFamily="34" charset="0"/>
                <a:ea typeface="Roboto" pitchFamily="34" charset="-122"/>
                <a:cs typeface="Roboto" pitchFamily="34" charset="-120"/>
              </a:rPr>
              <a:t>Capture active system and process activity</a:t>
            </a:r>
            <a:endParaRPr lang="en-US" sz="700" dirty="0"/>
          </a:p>
        </p:txBody>
      </p:sp>
      <p:pic>
        <p:nvPicPr>
          <p:cNvPr id="31"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1435" y="2953420"/>
            <a:ext cx="1985665" cy="667792"/>
          </a:xfrm>
          <a:prstGeom prst="rect">
            <a:avLst/>
          </a:prstGeom>
        </p:spPr>
      </p:pic>
      <p:sp>
        <p:nvSpPr>
          <p:cNvPr id="32" name="Text 28"/>
          <p:cNvSpPr/>
          <p:nvPr/>
        </p:nvSpPr>
        <p:spPr>
          <a:xfrm>
            <a:off x="2692078" y="3055962"/>
            <a:ext cx="1742480" cy="145331"/>
          </a:xfrm>
          <a:prstGeom prst="rect">
            <a:avLst/>
          </a:prstGeom>
          <a:noFill/>
          <a:ln/>
        </p:spPr>
        <p:txBody>
          <a:bodyPr wrap="none" lIns="0" tIns="0" rIns="0" bIns="0" rtlCol="0" anchor="t"/>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2. Workload Analysis</a:t>
            </a:r>
            <a:endParaRPr lang="en-US" sz="900" dirty="0"/>
          </a:p>
        </p:txBody>
      </p:sp>
      <p:sp>
        <p:nvSpPr>
          <p:cNvPr id="33" name="Text 29"/>
          <p:cNvSpPr/>
          <p:nvPr/>
        </p:nvSpPr>
        <p:spPr>
          <a:xfrm>
            <a:off x="2692078" y="3243114"/>
            <a:ext cx="1742480" cy="130225"/>
          </a:xfrm>
          <a:prstGeom prst="rect">
            <a:avLst/>
          </a:prstGeom>
          <a:noFill/>
          <a:ln/>
        </p:spPr>
        <p:txBody>
          <a:bodyPr wrap="none" lIns="0" tIns="0" rIns="0" bIns="0" rtlCol="0" anchor="t"/>
          <a:lstStyle/>
          <a:p>
            <a:pPr marL="0" indent="0" algn="l">
              <a:lnSpc>
                <a:spcPct val="117000"/>
              </a:lnSpc>
              <a:buNone/>
            </a:pPr>
            <a:r>
              <a:rPr lang="en-US" sz="700" dirty="0">
                <a:solidFill>
                  <a:srgbClr val="3C3939"/>
                </a:solidFill>
                <a:latin typeface="Roboto" pitchFamily="34" charset="0"/>
                <a:ea typeface="Roboto" pitchFamily="34" charset="-122"/>
                <a:cs typeface="Roboto" pitchFamily="34" charset="-120"/>
              </a:rPr>
              <a:t>Interpret CPU and memory usage</a:t>
            </a:r>
            <a:endParaRPr lang="en-US" sz="700" dirty="0"/>
          </a:p>
        </p:txBody>
      </p:sp>
      <p:pic>
        <p:nvPicPr>
          <p:cNvPr id="34"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06826" y="2953420"/>
            <a:ext cx="1985665" cy="667792"/>
          </a:xfrm>
          <a:prstGeom prst="rect">
            <a:avLst/>
          </a:prstGeom>
        </p:spPr>
      </p:pic>
      <p:sp>
        <p:nvSpPr>
          <p:cNvPr id="35" name="Text 30"/>
          <p:cNvSpPr/>
          <p:nvPr/>
        </p:nvSpPr>
        <p:spPr>
          <a:xfrm>
            <a:off x="4747468" y="3055962"/>
            <a:ext cx="1742480" cy="290661"/>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3. Context/Workload Identification</a:t>
            </a:r>
            <a:endParaRPr lang="en-US" sz="900" dirty="0"/>
          </a:p>
        </p:txBody>
      </p:sp>
      <p:sp>
        <p:nvSpPr>
          <p:cNvPr id="36" name="Text 31"/>
          <p:cNvSpPr/>
          <p:nvPr/>
        </p:nvSpPr>
        <p:spPr>
          <a:xfrm>
            <a:off x="4747468" y="3388444"/>
            <a:ext cx="1742480" cy="130225"/>
          </a:xfrm>
          <a:prstGeom prst="rect">
            <a:avLst/>
          </a:prstGeom>
          <a:noFill/>
          <a:ln/>
        </p:spPr>
        <p:txBody>
          <a:bodyPr wrap="none" lIns="0" tIns="0" rIns="0" bIns="0" rtlCol="0" anchor="t"/>
          <a:lstStyle/>
          <a:p>
            <a:pPr marL="0" indent="0" algn="l">
              <a:lnSpc>
                <a:spcPct val="117000"/>
              </a:lnSpc>
              <a:buNone/>
            </a:pPr>
            <a:r>
              <a:rPr lang="en-US" sz="700" dirty="0">
                <a:solidFill>
                  <a:srgbClr val="3C3939"/>
                </a:solidFill>
                <a:latin typeface="Roboto" pitchFamily="34" charset="0"/>
                <a:ea typeface="Roboto" pitchFamily="34" charset="-122"/>
                <a:cs typeface="Roboto" pitchFamily="34" charset="-120"/>
              </a:rPr>
              <a:t>Connect resource usage to applications</a:t>
            </a:r>
            <a:endParaRPr lang="en-US" sz="700" dirty="0"/>
          </a:p>
        </p:txBody>
      </p:sp>
      <p:pic>
        <p:nvPicPr>
          <p:cNvPr id="37"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62217" y="2953420"/>
            <a:ext cx="1985665" cy="667792"/>
          </a:xfrm>
          <a:prstGeom prst="rect">
            <a:avLst/>
          </a:prstGeom>
        </p:spPr>
      </p:pic>
      <p:sp>
        <p:nvSpPr>
          <p:cNvPr id="38" name="Text 32"/>
          <p:cNvSpPr/>
          <p:nvPr/>
        </p:nvSpPr>
        <p:spPr>
          <a:xfrm>
            <a:off x="6802859" y="3055962"/>
            <a:ext cx="1742480" cy="145331"/>
          </a:xfrm>
          <a:prstGeom prst="rect">
            <a:avLst/>
          </a:prstGeom>
          <a:noFill/>
          <a:ln/>
        </p:spPr>
        <p:txBody>
          <a:bodyPr wrap="none" lIns="0" tIns="0" rIns="0" bIns="0" rtlCol="0" anchor="t"/>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4. Recommendation Engine</a:t>
            </a:r>
            <a:endParaRPr lang="en-US" sz="900" dirty="0"/>
          </a:p>
        </p:txBody>
      </p:sp>
      <p:sp>
        <p:nvSpPr>
          <p:cNvPr id="39" name="Text 33"/>
          <p:cNvSpPr/>
          <p:nvPr/>
        </p:nvSpPr>
        <p:spPr>
          <a:xfrm>
            <a:off x="6802859" y="3243114"/>
            <a:ext cx="1742480"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3C3939"/>
                </a:solidFill>
                <a:latin typeface="Roboto" pitchFamily="34" charset="0"/>
                <a:ea typeface="Roboto" pitchFamily="34" charset="-122"/>
                <a:cs typeface="Roboto" pitchFamily="34" charset="-120"/>
              </a:rPr>
              <a:t>Suggest useful actions based on workload</a:t>
            </a:r>
            <a:endParaRPr lang="en-US" sz="700" dirty="0"/>
          </a:p>
        </p:txBody>
      </p:sp>
      <p:pic>
        <p:nvPicPr>
          <p:cNvPr id="40"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3690938"/>
            <a:ext cx="1985590" cy="522461"/>
          </a:xfrm>
          <a:prstGeom prst="rect">
            <a:avLst/>
          </a:prstGeom>
        </p:spPr>
      </p:pic>
      <p:sp>
        <p:nvSpPr>
          <p:cNvPr id="41" name="Text 34"/>
          <p:cNvSpPr/>
          <p:nvPr/>
        </p:nvSpPr>
        <p:spPr>
          <a:xfrm>
            <a:off x="636761" y="3793480"/>
            <a:ext cx="1742405" cy="145331"/>
          </a:xfrm>
          <a:prstGeom prst="rect">
            <a:avLst/>
          </a:prstGeom>
          <a:noFill/>
          <a:ln/>
        </p:spPr>
        <p:txBody>
          <a:bodyPr wrap="none" lIns="0" tIns="0" rIns="0" bIns="0" rtlCol="0" anchor="t"/>
          <a:lstStyle/>
          <a:p>
            <a:pPr marL="0" indent="0" algn="l">
              <a:lnSpc>
                <a:spcPct val="104000"/>
              </a:lnSpc>
              <a:buNone/>
            </a:pPr>
            <a:r>
              <a:rPr lang="en-US" sz="900" dirty="0">
                <a:solidFill>
                  <a:srgbClr val="3C3939"/>
                </a:solidFill>
                <a:latin typeface="Raleway" pitchFamily="34" charset="0"/>
                <a:ea typeface="Raleway" pitchFamily="34" charset="-122"/>
                <a:cs typeface="Raleway" pitchFamily="34" charset="-120"/>
              </a:rPr>
              <a:t>5. Activity History</a:t>
            </a:r>
            <a:endParaRPr lang="en-US" sz="900" dirty="0"/>
          </a:p>
        </p:txBody>
      </p:sp>
      <p:sp>
        <p:nvSpPr>
          <p:cNvPr id="42" name="Text 35"/>
          <p:cNvSpPr/>
          <p:nvPr/>
        </p:nvSpPr>
        <p:spPr>
          <a:xfrm>
            <a:off x="636761" y="3980631"/>
            <a:ext cx="1742405" cy="130225"/>
          </a:xfrm>
          <a:prstGeom prst="rect">
            <a:avLst/>
          </a:prstGeom>
          <a:noFill/>
          <a:ln/>
        </p:spPr>
        <p:txBody>
          <a:bodyPr wrap="none" lIns="0" tIns="0" rIns="0" bIns="0" rtlCol="0" anchor="t"/>
          <a:lstStyle/>
          <a:p>
            <a:pPr marL="0" indent="0" algn="l">
              <a:lnSpc>
                <a:spcPct val="117000"/>
              </a:lnSpc>
              <a:buNone/>
            </a:pPr>
            <a:r>
              <a:rPr lang="en-US" sz="700" dirty="0">
                <a:solidFill>
                  <a:srgbClr val="3C3939"/>
                </a:solidFill>
                <a:latin typeface="Roboto" pitchFamily="34" charset="0"/>
                <a:ea typeface="Roboto" pitchFamily="34" charset="-122"/>
                <a:cs typeface="Roboto" pitchFamily="34" charset="-120"/>
              </a:rPr>
              <a:t>Keep a lightweight log for future review</a:t>
            </a:r>
            <a:endParaRPr lang="en-US" sz="700" dirty="0"/>
          </a:p>
        </p:txBody>
      </p:sp>
      <p:sp>
        <p:nvSpPr>
          <p:cNvPr id="43" name="Text 36"/>
          <p:cNvSpPr/>
          <p:nvPr/>
        </p:nvSpPr>
        <p:spPr>
          <a:xfrm>
            <a:off x="496119" y="4291831"/>
            <a:ext cx="8151763" cy="469106"/>
          </a:xfrm>
          <a:prstGeom prst="rect">
            <a:avLst/>
          </a:prstGeom>
          <a:noFill/>
          <a:ln/>
        </p:spPr>
        <p:txBody>
          <a:bodyPr wrap="square" lIns="0" tIns="0" rIns="0" bIns="0" rtlCol="0" anchor="t"/>
          <a:lstStyle/>
          <a:p>
            <a:pPr marL="0" indent="0" algn="l">
              <a:lnSpc>
                <a:spcPct val="117000"/>
              </a:lnSpc>
              <a:spcAft>
                <a:spcPts val="600"/>
              </a:spcAft>
              <a:buNone/>
            </a:pPr>
            <a:r>
              <a:rPr lang="en-US" sz="700" i="1" dirty="0">
                <a:solidFill>
                  <a:srgbClr val="3C3939"/>
                </a:solidFill>
                <a:latin typeface="Roboto" pitchFamily="34" charset="0"/>
                <a:ea typeface="Roboto" pitchFamily="34" charset="-122"/>
                <a:cs typeface="Roboto" pitchFamily="34" charset="-120"/>
              </a:rPr>
              <a:t>This is the conceptual direction of the proposed system, not an implementation-level architecture.</a:t>
            </a:r>
            <a:endParaRPr lang="en-US" sz="700" dirty="0"/>
          </a:p>
          <a:p>
            <a:pPr marL="0" indent="0" algn="l">
              <a:lnSpc>
                <a:spcPct val="117000"/>
              </a:lnSpc>
              <a:buNone/>
            </a:pPr>
            <a:r>
              <a:rPr lang="en-US" sz="700" i="1" dirty="0">
                <a:solidFill>
                  <a:srgbClr val="3C3939"/>
                </a:solidFill>
                <a:latin typeface="Roboto" pitchFamily="34" charset="0"/>
                <a:ea typeface="Roboto" pitchFamily="34" charset="-122"/>
                <a:cs typeface="Roboto" pitchFamily="34" charset="-120"/>
              </a:rPr>
              <a:t>Note: This is the proposed conceptual direction based on the identified research gap. The system will provide recommendations to guide user decisions rather than automatically managing processes. Automatic process management may be explored as a future enhancement after learning the required OS concepts.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48481"/>
            <a:ext cx="8151763" cy="381521"/>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Raleway" pitchFamily="34" charset="0"/>
                <a:ea typeface="Raleway" pitchFamily="34" charset="-122"/>
                <a:cs typeface="Raleway" pitchFamily="34" charset="-120"/>
              </a:rPr>
              <a:t>Current Scope &amp; Future Development</a:t>
            </a:r>
            <a:endParaRPr lang="en-US" sz="2400" dirty="0"/>
          </a:p>
        </p:txBody>
      </p:sp>
      <p:sp>
        <p:nvSpPr>
          <p:cNvPr id="3" name="Text 1"/>
          <p:cNvSpPr/>
          <p:nvPr/>
        </p:nvSpPr>
        <p:spPr>
          <a:xfrm>
            <a:off x="496119" y="778073"/>
            <a:ext cx="8151763" cy="190723"/>
          </a:xfrm>
          <a:prstGeom prst="rect">
            <a:avLst/>
          </a:prstGeom>
          <a:noFill/>
          <a:ln/>
        </p:spPr>
        <p:txBody>
          <a:bodyPr wrap="none" lIns="0" tIns="0" rIns="0" bIns="0" rtlCol="0" anchor="t"/>
          <a:lstStyle/>
          <a:p>
            <a:pPr marL="0" indent="0" algn="l">
              <a:lnSpc>
                <a:spcPct val="104000"/>
              </a:lnSpc>
              <a:buNone/>
            </a:pPr>
            <a:r>
              <a:rPr lang="en-US" sz="1200" dirty="0">
                <a:solidFill>
                  <a:srgbClr val="1B1B27"/>
                </a:solidFill>
                <a:latin typeface="Raleway" pitchFamily="34" charset="0"/>
                <a:ea typeface="Raleway" pitchFamily="34" charset="-122"/>
                <a:cs typeface="Raleway" pitchFamily="34" charset="-120"/>
              </a:rPr>
              <a:t>Timeline of project phases</a:t>
            </a:r>
            <a:endParaRPr lang="en-US" sz="1200" dirty="0"/>
          </a:p>
        </p:txBody>
      </p:sp>
      <p:sp>
        <p:nvSpPr>
          <p:cNvPr id="4" name="Shape 2"/>
          <p:cNvSpPr/>
          <p:nvPr/>
        </p:nvSpPr>
        <p:spPr>
          <a:xfrm>
            <a:off x="496119" y="2801764"/>
            <a:ext cx="8151763" cy="14288"/>
          </a:xfrm>
          <a:prstGeom prst="roundRect">
            <a:avLst>
              <a:gd name="adj" fmla="val 49998"/>
            </a:avLst>
          </a:prstGeom>
          <a:solidFill>
            <a:srgbClr val="C7C7D0"/>
          </a:solidFill>
          <a:ln/>
        </p:spPr>
        <p:txBody>
          <a:bodyPr/>
          <a:lstStyle/>
          <a:p>
            <a:endParaRPr lang="en-IN"/>
          </a:p>
        </p:txBody>
      </p:sp>
      <p:sp>
        <p:nvSpPr>
          <p:cNvPr id="5" name="Shape 3"/>
          <p:cNvSpPr/>
          <p:nvPr/>
        </p:nvSpPr>
        <p:spPr>
          <a:xfrm>
            <a:off x="2489299" y="2435498"/>
            <a:ext cx="14288" cy="366266"/>
          </a:xfrm>
          <a:prstGeom prst="roundRect">
            <a:avLst>
              <a:gd name="adj" fmla="val 49998"/>
            </a:avLst>
          </a:prstGeom>
          <a:solidFill>
            <a:srgbClr val="C7C7D0"/>
          </a:solidFill>
          <a:ln/>
        </p:spPr>
        <p:txBody>
          <a:bodyPr/>
          <a:lstStyle/>
          <a:p>
            <a:endParaRPr lang="en-IN"/>
          </a:p>
        </p:txBody>
      </p:sp>
      <p:sp>
        <p:nvSpPr>
          <p:cNvPr id="6" name="Shape 4"/>
          <p:cNvSpPr/>
          <p:nvPr/>
        </p:nvSpPr>
        <p:spPr>
          <a:xfrm>
            <a:off x="2359075" y="2664396"/>
            <a:ext cx="274737" cy="274737"/>
          </a:xfrm>
          <a:prstGeom prst="roundRect">
            <a:avLst>
              <a:gd name="adj" fmla="val 18667"/>
            </a:avLst>
          </a:prstGeom>
          <a:solidFill>
            <a:srgbClr val="E1E1EA"/>
          </a:solidFill>
          <a:ln w="4763">
            <a:solidFill>
              <a:srgbClr val="C7C7D0"/>
            </a:solidFill>
            <a:prstDash val="solid"/>
          </a:ln>
        </p:spPr>
        <p:txBody>
          <a:bodyPr/>
          <a:lstStyle/>
          <a:p>
            <a:endParaRPr lang="en-IN"/>
          </a:p>
        </p:txBody>
      </p:sp>
      <p:sp>
        <p:nvSpPr>
          <p:cNvPr id="7" name="Text 5"/>
          <p:cNvSpPr/>
          <p:nvPr/>
        </p:nvSpPr>
        <p:spPr>
          <a:xfrm>
            <a:off x="2404876" y="2687315"/>
            <a:ext cx="183133" cy="228898"/>
          </a:xfrm>
          <a:prstGeom prst="rect">
            <a:avLst/>
          </a:prstGeom>
          <a:noFill/>
          <a:ln/>
        </p:spPr>
        <p:txBody>
          <a:bodyPr wrap="none" lIns="0" tIns="0" rIns="0" bIns="0" rtlCol="0" anchor="ctr"/>
          <a:lstStyle/>
          <a:p>
            <a:pPr marL="0" indent="0" algn="ctr">
              <a:lnSpc>
                <a:spcPct val="100000"/>
              </a:lnSpc>
              <a:buNone/>
            </a:pPr>
            <a:r>
              <a:rPr lang="en-US" sz="1400" dirty="0">
                <a:solidFill>
                  <a:srgbClr val="3C3939"/>
                </a:solidFill>
                <a:latin typeface="Raleway" pitchFamily="34" charset="0"/>
                <a:ea typeface="Raleway" pitchFamily="34" charset="-122"/>
                <a:cs typeface="Raleway" pitchFamily="34" charset="-120"/>
              </a:rPr>
              <a:t>1</a:t>
            </a:r>
            <a:endParaRPr lang="en-US" sz="1400" dirty="0"/>
          </a:p>
        </p:txBody>
      </p:sp>
      <p:sp>
        <p:nvSpPr>
          <p:cNvPr id="8" name="Text 6"/>
          <p:cNvSpPr/>
          <p:nvPr/>
        </p:nvSpPr>
        <p:spPr>
          <a:xfrm>
            <a:off x="618158" y="1149028"/>
            <a:ext cx="3756645" cy="190723"/>
          </a:xfrm>
          <a:prstGeom prst="rect">
            <a:avLst/>
          </a:prstGeom>
          <a:noFill/>
          <a:ln/>
        </p:spPr>
        <p:txBody>
          <a:bodyPr wrap="none" lIns="0" tIns="0" rIns="0" bIns="0" rtlCol="0" anchor="t"/>
          <a:lstStyle/>
          <a:p>
            <a:pPr marL="0" indent="0" algn="ctr">
              <a:lnSpc>
                <a:spcPct val="104000"/>
              </a:lnSpc>
              <a:buNone/>
            </a:pPr>
            <a:r>
              <a:rPr lang="en-US" sz="1200" dirty="0">
                <a:solidFill>
                  <a:srgbClr val="3C3939"/>
                </a:solidFill>
                <a:latin typeface="Raleway" pitchFamily="34" charset="0"/>
                <a:ea typeface="Raleway" pitchFamily="34" charset="-122"/>
                <a:cs typeface="Raleway" pitchFamily="34" charset="-120"/>
              </a:rPr>
              <a:t>Current Scope (Review 2)</a:t>
            </a:r>
            <a:endParaRPr lang="en-US" sz="1200" dirty="0"/>
          </a:p>
        </p:txBody>
      </p:sp>
      <p:sp>
        <p:nvSpPr>
          <p:cNvPr id="9" name="Text 7"/>
          <p:cNvSpPr/>
          <p:nvPr/>
        </p:nvSpPr>
        <p:spPr>
          <a:xfrm>
            <a:off x="618158" y="1411858"/>
            <a:ext cx="3756645" cy="901526"/>
          </a:xfrm>
          <a:prstGeom prst="rect">
            <a:avLst/>
          </a:prstGeom>
          <a:noFill/>
          <a:ln/>
        </p:spPr>
        <p:txBody>
          <a:bodyPr wrap="square" lIns="0" tIns="48843" rIns="0" bIns="0" rtlCol="0" anchor="t">
            <a:normAutofit/>
          </a:bodyPr>
          <a:lstStyle/>
          <a:p>
            <a:pPr marL="193040" indent="-193040" algn="l">
              <a:lnSpc>
                <a:spcPct val="132000"/>
              </a:lnSpc>
              <a:buSzPct val="100000"/>
              <a:buChar char="•"/>
            </a:pPr>
            <a:r>
              <a:rPr lang="en-US" sz="950" dirty="0">
                <a:solidFill>
                  <a:srgbClr val="3C3939"/>
                </a:solidFill>
                <a:latin typeface="Roboto" pitchFamily="34" charset="0"/>
                <a:ea typeface="Roboto" pitchFamily="34" charset="-122"/>
                <a:cs typeface="Roboto" pitchFamily="34" charset="-120"/>
              </a:rPr>
              <a:t>Literature analysis ✓</a:t>
            </a:r>
            <a:endParaRPr lang="en-US" sz="950" dirty="0"/>
          </a:p>
          <a:p>
            <a:pPr marL="193040" indent="-193040" algn="l">
              <a:lnSpc>
                <a:spcPct val="132000"/>
              </a:lnSpc>
              <a:buSzPct val="100000"/>
              <a:buChar char="•"/>
            </a:pPr>
            <a:r>
              <a:rPr lang="en-US" sz="950" dirty="0">
                <a:solidFill>
                  <a:srgbClr val="3C3939"/>
                </a:solidFill>
                <a:latin typeface="Roboto" pitchFamily="34" charset="0"/>
                <a:ea typeface="Roboto" pitchFamily="34" charset="-122"/>
                <a:cs typeface="Roboto" pitchFamily="34" charset="-120"/>
              </a:rPr>
              <a:t>Research gap identification ✓</a:t>
            </a:r>
            <a:endParaRPr lang="en-US" sz="950" dirty="0"/>
          </a:p>
          <a:p>
            <a:pPr marL="193040" indent="-193040" algn="l">
              <a:lnSpc>
                <a:spcPct val="132000"/>
              </a:lnSpc>
              <a:buSzPct val="100000"/>
              <a:buChar char="•"/>
            </a:pPr>
            <a:r>
              <a:rPr lang="en-US" sz="950" dirty="0">
                <a:solidFill>
                  <a:srgbClr val="3C3939"/>
                </a:solidFill>
                <a:latin typeface="Roboto" pitchFamily="34" charset="0"/>
                <a:ea typeface="Roboto" pitchFamily="34" charset="-122"/>
                <a:cs typeface="Roboto" pitchFamily="34" charset="-120"/>
              </a:rPr>
              <a:t>System requirements</a:t>
            </a:r>
            <a:endParaRPr lang="en-US" sz="950" dirty="0"/>
          </a:p>
          <a:p>
            <a:pPr marL="193040" indent="-193040" algn="l">
              <a:lnSpc>
                <a:spcPct val="132000"/>
              </a:lnSpc>
              <a:buSzPct val="100000"/>
              <a:buChar char="•"/>
            </a:pPr>
            <a:r>
              <a:rPr lang="en-US" sz="950" dirty="0">
                <a:solidFill>
                  <a:srgbClr val="3C3939"/>
                </a:solidFill>
                <a:latin typeface="Roboto" pitchFamily="34" charset="0"/>
                <a:ea typeface="Roboto" pitchFamily="34" charset="-122"/>
                <a:cs typeface="Roboto" pitchFamily="34" charset="-120"/>
              </a:rPr>
              <a:t>Proposed architecture</a:t>
            </a:r>
            <a:endParaRPr lang="en-US" sz="950" dirty="0"/>
          </a:p>
        </p:txBody>
      </p:sp>
      <p:sp>
        <p:nvSpPr>
          <p:cNvPr id="10" name="Shape 8"/>
          <p:cNvSpPr/>
          <p:nvPr/>
        </p:nvSpPr>
        <p:spPr>
          <a:xfrm>
            <a:off x="4564782" y="2801764"/>
            <a:ext cx="14288" cy="366266"/>
          </a:xfrm>
          <a:prstGeom prst="roundRect">
            <a:avLst>
              <a:gd name="adj" fmla="val 49998"/>
            </a:avLst>
          </a:prstGeom>
          <a:solidFill>
            <a:srgbClr val="C7C7D0"/>
          </a:solidFill>
          <a:ln/>
        </p:spPr>
        <p:txBody>
          <a:bodyPr/>
          <a:lstStyle/>
          <a:p>
            <a:endParaRPr lang="en-IN"/>
          </a:p>
        </p:txBody>
      </p:sp>
      <p:sp>
        <p:nvSpPr>
          <p:cNvPr id="11" name="Shape 9"/>
          <p:cNvSpPr/>
          <p:nvPr/>
        </p:nvSpPr>
        <p:spPr>
          <a:xfrm>
            <a:off x="4434557" y="2664396"/>
            <a:ext cx="274737" cy="274737"/>
          </a:xfrm>
          <a:prstGeom prst="roundRect">
            <a:avLst>
              <a:gd name="adj" fmla="val 18667"/>
            </a:avLst>
          </a:prstGeom>
          <a:solidFill>
            <a:srgbClr val="E1E1EA"/>
          </a:solidFill>
          <a:ln w="4763">
            <a:solidFill>
              <a:srgbClr val="C7C7D0"/>
            </a:solidFill>
            <a:prstDash val="solid"/>
          </a:ln>
        </p:spPr>
        <p:txBody>
          <a:bodyPr/>
          <a:lstStyle/>
          <a:p>
            <a:endParaRPr lang="en-IN"/>
          </a:p>
        </p:txBody>
      </p:sp>
      <p:sp>
        <p:nvSpPr>
          <p:cNvPr id="12" name="Text 10"/>
          <p:cNvSpPr/>
          <p:nvPr/>
        </p:nvSpPr>
        <p:spPr>
          <a:xfrm>
            <a:off x="4480359" y="2687315"/>
            <a:ext cx="183133" cy="228898"/>
          </a:xfrm>
          <a:prstGeom prst="rect">
            <a:avLst/>
          </a:prstGeom>
          <a:noFill/>
          <a:ln/>
        </p:spPr>
        <p:txBody>
          <a:bodyPr wrap="none" lIns="0" tIns="0" rIns="0" bIns="0" rtlCol="0" anchor="ctr"/>
          <a:lstStyle/>
          <a:p>
            <a:pPr marL="0" indent="0" algn="ctr">
              <a:lnSpc>
                <a:spcPct val="100000"/>
              </a:lnSpc>
              <a:buNone/>
            </a:pPr>
            <a:r>
              <a:rPr lang="en-US" sz="1400" dirty="0">
                <a:solidFill>
                  <a:srgbClr val="3C3939"/>
                </a:solidFill>
                <a:latin typeface="Raleway" pitchFamily="34" charset="0"/>
                <a:ea typeface="Raleway" pitchFamily="34" charset="-122"/>
                <a:cs typeface="Raleway" pitchFamily="34" charset="-120"/>
              </a:rPr>
              <a:t>2</a:t>
            </a:r>
            <a:endParaRPr lang="en-US" sz="1400" dirty="0"/>
          </a:p>
        </p:txBody>
      </p:sp>
      <p:sp>
        <p:nvSpPr>
          <p:cNvPr id="13" name="Text 11"/>
          <p:cNvSpPr/>
          <p:nvPr/>
        </p:nvSpPr>
        <p:spPr>
          <a:xfrm>
            <a:off x="2693640" y="3290143"/>
            <a:ext cx="3756645" cy="190723"/>
          </a:xfrm>
          <a:prstGeom prst="rect">
            <a:avLst/>
          </a:prstGeom>
          <a:noFill/>
          <a:ln/>
        </p:spPr>
        <p:txBody>
          <a:bodyPr wrap="none" lIns="0" tIns="0" rIns="0" bIns="0" rtlCol="0" anchor="t"/>
          <a:lstStyle/>
          <a:p>
            <a:pPr marL="0" indent="0" algn="ctr">
              <a:lnSpc>
                <a:spcPct val="104000"/>
              </a:lnSpc>
              <a:buNone/>
            </a:pPr>
            <a:r>
              <a:rPr lang="en-US" sz="1200" dirty="0">
                <a:solidFill>
                  <a:srgbClr val="3C3939"/>
                </a:solidFill>
                <a:latin typeface="Raleway" pitchFamily="34" charset="0"/>
                <a:ea typeface="Raleway" pitchFamily="34" charset="-122"/>
                <a:cs typeface="Raleway" pitchFamily="34" charset="-120"/>
              </a:rPr>
              <a:t>Next Stage</a:t>
            </a:r>
            <a:endParaRPr lang="en-US" sz="1200" dirty="0"/>
          </a:p>
        </p:txBody>
      </p:sp>
      <p:sp>
        <p:nvSpPr>
          <p:cNvPr id="14" name="Text 12"/>
          <p:cNvSpPr/>
          <p:nvPr/>
        </p:nvSpPr>
        <p:spPr>
          <a:xfrm>
            <a:off x="2693640" y="3552974"/>
            <a:ext cx="3756645" cy="429741"/>
          </a:xfrm>
          <a:prstGeom prst="rect">
            <a:avLst/>
          </a:prstGeom>
          <a:noFill/>
          <a:ln/>
        </p:spPr>
        <p:txBody>
          <a:bodyPr wrap="square" lIns="0" tIns="48843" rIns="0" bIns="0" rtlCol="0" anchor="t">
            <a:normAutofit/>
          </a:bodyPr>
          <a:lstStyle/>
          <a:p>
            <a:pPr marL="193040" indent="-193040" algn="l">
              <a:lnSpc>
                <a:spcPct val="132000"/>
              </a:lnSpc>
              <a:buSzPct val="100000"/>
              <a:buChar char="•"/>
            </a:pPr>
            <a:r>
              <a:rPr lang="en-US" sz="950" dirty="0">
                <a:solidFill>
                  <a:srgbClr val="3C3939"/>
                </a:solidFill>
                <a:latin typeface="Roboto" pitchFamily="34" charset="0"/>
                <a:ea typeface="Roboto" pitchFamily="34" charset="-122"/>
                <a:cs typeface="Roboto" pitchFamily="34" charset="-120"/>
              </a:rPr>
              <a:t>Process monitoring implementation</a:t>
            </a:r>
            <a:endParaRPr lang="en-US" sz="950" dirty="0"/>
          </a:p>
          <a:p>
            <a:pPr marL="193040" indent="-193040" algn="l">
              <a:lnSpc>
                <a:spcPct val="132000"/>
              </a:lnSpc>
              <a:buSzPct val="100000"/>
              <a:buChar char="•"/>
            </a:pPr>
            <a:r>
              <a:rPr lang="en-US" sz="950" dirty="0">
                <a:solidFill>
                  <a:srgbClr val="3C3939"/>
                </a:solidFill>
                <a:latin typeface="Roboto" pitchFamily="34" charset="0"/>
                <a:ea typeface="Roboto" pitchFamily="34" charset="-122"/>
                <a:cs typeface="Roboto" pitchFamily="34" charset="-120"/>
              </a:rPr>
              <a:t>CPU and memory data collection</a:t>
            </a:r>
            <a:endParaRPr lang="en-US" sz="950" dirty="0"/>
          </a:p>
        </p:txBody>
      </p:sp>
      <p:sp>
        <p:nvSpPr>
          <p:cNvPr id="15" name="Shape 13"/>
          <p:cNvSpPr/>
          <p:nvPr/>
        </p:nvSpPr>
        <p:spPr>
          <a:xfrm>
            <a:off x="6640339" y="2435498"/>
            <a:ext cx="14288" cy="366266"/>
          </a:xfrm>
          <a:prstGeom prst="roundRect">
            <a:avLst>
              <a:gd name="adj" fmla="val 49998"/>
            </a:avLst>
          </a:prstGeom>
          <a:solidFill>
            <a:srgbClr val="C7C7D0"/>
          </a:solidFill>
          <a:ln/>
        </p:spPr>
        <p:txBody>
          <a:bodyPr/>
          <a:lstStyle/>
          <a:p>
            <a:endParaRPr lang="en-IN"/>
          </a:p>
        </p:txBody>
      </p:sp>
      <p:sp>
        <p:nvSpPr>
          <p:cNvPr id="16" name="Shape 14"/>
          <p:cNvSpPr/>
          <p:nvPr/>
        </p:nvSpPr>
        <p:spPr>
          <a:xfrm>
            <a:off x="6510114" y="2664396"/>
            <a:ext cx="274737" cy="274737"/>
          </a:xfrm>
          <a:prstGeom prst="roundRect">
            <a:avLst>
              <a:gd name="adj" fmla="val 18667"/>
            </a:avLst>
          </a:prstGeom>
          <a:solidFill>
            <a:srgbClr val="E1E1EA"/>
          </a:solidFill>
          <a:ln w="4763">
            <a:solidFill>
              <a:srgbClr val="C7C7D0"/>
            </a:solidFill>
            <a:prstDash val="solid"/>
          </a:ln>
        </p:spPr>
        <p:txBody>
          <a:bodyPr/>
          <a:lstStyle/>
          <a:p>
            <a:endParaRPr lang="en-IN"/>
          </a:p>
        </p:txBody>
      </p:sp>
      <p:sp>
        <p:nvSpPr>
          <p:cNvPr id="17" name="Text 15"/>
          <p:cNvSpPr/>
          <p:nvPr/>
        </p:nvSpPr>
        <p:spPr>
          <a:xfrm>
            <a:off x="6555916" y="2687315"/>
            <a:ext cx="183133" cy="228898"/>
          </a:xfrm>
          <a:prstGeom prst="rect">
            <a:avLst/>
          </a:prstGeom>
          <a:noFill/>
          <a:ln/>
        </p:spPr>
        <p:txBody>
          <a:bodyPr wrap="none" lIns="0" tIns="0" rIns="0" bIns="0" rtlCol="0" anchor="ctr"/>
          <a:lstStyle/>
          <a:p>
            <a:pPr marL="0" indent="0" algn="ctr">
              <a:lnSpc>
                <a:spcPct val="100000"/>
              </a:lnSpc>
              <a:buNone/>
            </a:pPr>
            <a:r>
              <a:rPr lang="en-US" sz="1400" dirty="0">
                <a:solidFill>
                  <a:srgbClr val="3C3939"/>
                </a:solidFill>
                <a:latin typeface="Raleway" pitchFamily="34" charset="0"/>
                <a:ea typeface="Raleway" pitchFamily="34" charset="-122"/>
                <a:cs typeface="Raleway" pitchFamily="34" charset="-120"/>
              </a:rPr>
              <a:t>3</a:t>
            </a:r>
            <a:endParaRPr lang="en-US" sz="1400" dirty="0"/>
          </a:p>
        </p:txBody>
      </p:sp>
      <p:sp>
        <p:nvSpPr>
          <p:cNvPr id="18" name="Text 16"/>
          <p:cNvSpPr/>
          <p:nvPr/>
        </p:nvSpPr>
        <p:spPr>
          <a:xfrm>
            <a:off x="4769123" y="1149028"/>
            <a:ext cx="3756720" cy="190723"/>
          </a:xfrm>
          <a:prstGeom prst="rect">
            <a:avLst/>
          </a:prstGeom>
          <a:noFill/>
          <a:ln/>
        </p:spPr>
        <p:txBody>
          <a:bodyPr wrap="none" lIns="0" tIns="0" rIns="0" bIns="0" rtlCol="0" anchor="t"/>
          <a:lstStyle/>
          <a:p>
            <a:pPr marL="0" indent="0" algn="ctr">
              <a:lnSpc>
                <a:spcPct val="104000"/>
              </a:lnSpc>
              <a:buNone/>
            </a:pPr>
            <a:r>
              <a:rPr lang="en-US" sz="1200" dirty="0">
                <a:solidFill>
                  <a:srgbClr val="3C3939"/>
                </a:solidFill>
                <a:latin typeface="Raleway" pitchFamily="34" charset="0"/>
                <a:ea typeface="Raleway" pitchFamily="34" charset="-122"/>
                <a:cs typeface="Raleway" pitchFamily="34" charset="-120"/>
              </a:rPr>
              <a:t>Later Stages</a:t>
            </a:r>
            <a:endParaRPr lang="en-US" sz="1200" dirty="0"/>
          </a:p>
        </p:txBody>
      </p:sp>
      <p:sp>
        <p:nvSpPr>
          <p:cNvPr id="19" name="Text 17"/>
          <p:cNvSpPr/>
          <p:nvPr/>
        </p:nvSpPr>
        <p:spPr>
          <a:xfrm>
            <a:off x="4769123" y="1411858"/>
            <a:ext cx="3756720" cy="901526"/>
          </a:xfrm>
          <a:prstGeom prst="rect">
            <a:avLst/>
          </a:prstGeom>
          <a:noFill/>
          <a:ln/>
        </p:spPr>
        <p:txBody>
          <a:bodyPr wrap="square" lIns="0" tIns="48843" rIns="0" bIns="0" rtlCol="0" anchor="t">
            <a:normAutofit/>
          </a:bodyPr>
          <a:lstStyle/>
          <a:p>
            <a:pPr marL="193040" indent="-193040" algn="l">
              <a:lnSpc>
                <a:spcPct val="132000"/>
              </a:lnSpc>
              <a:buSzPct val="100000"/>
              <a:buChar char="•"/>
            </a:pPr>
            <a:r>
              <a:rPr lang="en-US" sz="950" dirty="0">
                <a:solidFill>
                  <a:srgbClr val="3C3939"/>
                </a:solidFill>
                <a:latin typeface="Roboto" pitchFamily="34" charset="0"/>
                <a:ea typeface="Roboto" pitchFamily="34" charset="-122"/>
                <a:cs typeface="Roboto" pitchFamily="34" charset="-120"/>
              </a:rPr>
              <a:t>Workload analysis</a:t>
            </a:r>
            <a:endParaRPr lang="en-US" sz="950" dirty="0"/>
          </a:p>
          <a:p>
            <a:pPr marL="193040" indent="-193040" algn="l">
              <a:lnSpc>
                <a:spcPct val="132000"/>
              </a:lnSpc>
              <a:buSzPct val="100000"/>
              <a:buChar char="•"/>
            </a:pPr>
            <a:r>
              <a:rPr lang="en-US" sz="950" dirty="0">
                <a:solidFill>
                  <a:srgbClr val="3C3939"/>
                </a:solidFill>
                <a:latin typeface="Roboto" pitchFamily="34" charset="0"/>
                <a:ea typeface="Roboto" pitchFamily="34" charset="-122"/>
                <a:cs typeface="Roboto" pitchFamily="34" charset="-120"/>
              </a:rPr>
              <a:t>Activity logging</a:t>
            </a:r>
            <a:endParaRPr lang="en-US" sz="950" dirty="0"/>
          </a:p>
          <a:p>
            <a:pPr marL="193040" indent="-193040" algn="l">
              <a:lnSpc>
                <a:spcPct val="132000"/>
              </a:lnSpc>
              <a:buSzPct val="100000"/>
              <a:buChar char="•"/>
            </a:pPr>
            <a:r>
              <a:rPr lang="en-US" sz="950" dirty="0">
                <a:solidFill>
                  <a:srgbClr val="3C3939"/>
                </a:solidFill>
                <a:latin typeface="Roboto" pitchFamily="34" charset="0"/>
                <a:ea typeface="Roboto" pitchFamily="34" charset="-122"/>
                <a:cs typeface="Roboto" pitchFamily="34" charset="-120"/>
              </a:rPr>
              <a:t>Recommendation mechanism</a:t>
            </a:r>
            <a:endParaRPr lang="en-US" sz="950" dirty="0"/>
          </a:p>
          <a:p>
            <a:pPr marL="193040" indent="-193040" algn="l">
              <a:lnSpc>
                <a:spcPct val="132000"/>
              </a:lnSpc>
              <a:buSzPct val="100000"/>
              <a:buChar char="•"/>
            </a:pPr>
            <a:r>
              <a:rPr lang="en-US" sz="950" dirty="0">
                <a:solidFill>
                  <a:srgbClr val="3C3939"/>
                </a:solidFill>
                <a:latin typeface="Roboto" pitchFamily="34" charset="0"/>
                <a:ea typeface="Roboto" pitchFamily="34" charset="-122"/>
                <a:cs typeface="Roboto" pitchFamily="34" charset="-120"/>
              </a:rPr>
              <a:t>Testing and integration</a:t>
            </a:r>
            <a:endParaRPr lang="en-US" sz="950" dirty="0"/>
          </a:p>
        </p:txBody>
      </p:sp>
      <p:sp>
        <p:nvSpPr>
          <p:cNvPr id="20" name="Shape 18"/>
          <p:cNvSpPr/>
          <p:nvPr/>
        </p:nvSpPr>
        <p:spPr>
          <a:xfrm>
            <a:off x="496119" y="4117925"/>
            <a:ext cx="8151763" cy="677019"/>
          </a:xfrm>
          <a:prstGeom prst="roundRect">
            <a:avLst>
              <a:gd name="adj" fmla="val 7575"/>
            </a:avLst>
          </a:prstGeom>
          <a:solidFill>
            <a:srgbClr val="E1E1EA"/>
          </a:solidFill>
          <a:ln/>
        </p:spPr>
        <p:txBody>
          <a:bodyPr/>
          <a:lstStyle/>
          <a:p>
            <a:endParaRPr lang="en-IN"/>
          </a:p>
        </p:txBody>
      </p:sp>
      <p:pic>
        <p:nvPicPr>
          <p:cNvPr id="21" name="Image 0" descr="preencoded.png"/>
          <p:cNvPicPr>
            <a:picLocks noChangeAspect="1"/>
          </p:cNvPicPr>
          <p:nvPr/>
        </p:nvPicPr>
        <p:blipFill>
          <a:blip r:embed="rId3"/>
          <a:stretch>
            <a:fillRect/>
          </a:stretch>
        </p:blipFill>
        <p:spPr>
          <a:xfrm>
            <a:off x="618158" y="4290417"/>
            <a:ext cx="152623" cy="122039"/>
          </a:xfrm>
          <a:prstGeom prst="rect">
            <a:avLst/>
          </a:prstGeom>
        </p:spPr>
      </p:pic>
      <p:sp>
        <p:nvSpPr>
          <p:cNvPr id="22" name="Text 19"/>
          <p:cNvSpPr/>
          <p:nvPr/>
        </p:nvSpPr>
        <p:spPr>
          <a:xfrm>
            <a:off x="892820" y="4268614"/>
            <a:ext cx="7633022"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000000"/>
                </a:solidFill>
                <a:latin typeface="Roboto" pitchFamily="34" charset="0"/>
                <a:ea typeface="Roboto" pitchFamily="34" charset="-122"/>
                <a:cs typeface="Roboto" pitchFamily="34" charset="-120"/>
              </a:rPr>
              <a:t>Review 2 establishes the research foundation through literature analysis, critical analysis, and research gap identification. Implementation of the proposed system begins in subsequent reviews as OS concepts are learned.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382488"/>
            <a:ext cx="8151763" cy="339179"/>
          </a:xfrm>
          <a:prstGeom prst="rect">
            <a:avLst/>
          </a:prstGeom>
          <a:noFill/>
          <a:ln/>
        </p:spPr>
        <p:txBody>
          <a:bodyPr wrap="none" lIns="0" tIns="0" rIns="0" bIns="0" rtlCol="0" anchor="t"/>
          <a:lstStyle/>
          <a:p>
            <a:pPr marL="0" indent="0" algn="l">
              <a:lnSpc>
                <a:spcPct val="104000"/>
              </a:lnSpc>
              <a:buNone/>
            </a:pPr>
            <a:r>
              <a:rPr lang="en-US" sz="2100" dirty="0">
                <a:solidFill>
                  <a:srgbClr val="1B1B27"/>
                </a:solidFill>
                <a:latin typeface="Raleway" pitchFamily="34" charset="0"/>
                <a:ea typeface="Raleway" pitchFamily="34" charset="-122"/>
                <a:cs typeface="Raleway" pitchFamily="34" charset="-120"/>
              </a:rPr>
              <a:t>Conclusion, Future Work &amp; References</a:t>
            </a:r>
            <a:endParaRPr lang="en-US" sz="2100" dirty="0"/>
          </a:p>
        </p:txBody>
      </p:sp>
      <p:sp>
        <p:nvSpPr>
          <p:cNvPr id="3" name="Text 1"/>
          <p:cNvSpPr/>
          <p:nvPr/>
        </p:nvSpPr>
        <p:spPr>
          <a:xfrm>
            <a:off x="496119" y="959048"/>
            <a:ext cx="4364310" cy="169515"/>
          </a:xfrm>
          <a:prstGeom prst="rect">
            <a:avLst/>
          </a:prstGeom>
          <a:noFill/>
          <a:ln/>
        </p:spPr>
        <p:txBody>
          <a:bodyPr wrap="none" lIns="0" tIns="0" rIns="0" bIns="0" rtlCol="0" anchor="t"/>
          <a:lstStyle/>
          <a:p>
            <a:pPr marL="0" indent="0" algn="l">
              <a:lnSpc>
                <a:spcPct val="104000"/>
              </a:lnSpc>
              <a:buNone/>
            </a:pPr>
            <a:r>
              <a:rPr lang="en-US" sz="1050" dirty="0">
                <a:solidFill>
                  <a:srgbClr val="1B1B27"/>
                </a:solidFill>
                <a:latin typeface="Raleway" pitchFamily="34" charset="0"/>
                <a:ea typeface="Raleway" pitchFamily="34" charset="-122"/>
                <a:cs typeface="Raleway" pitchFamily="34" charset="-120"/>
              </a:rPr>
              <a:t>Conclusion</a:t>
            </a:r>
            <a:endParaRPr lang="en-US" sz="1050" dirty="0"/>
          </a:p>
        </p:txBody>
      </p:sp>
      <p:sp>
        <p:nvSpPr>
          <p:cNvPr id="4" name="Shape 2"/>
          <p:cNvSpPr/>
          <p:nvPr/>
        </p:nvSpPr>
        <p:spPr>
          <a:xfrm>
            <a:off x="496119" y="1295028"/>
            <a:ext cx="54248" cy="54248"/>
          </a:xfrm>
          <a:prstGeom prst="ellipse">
            <a:avLst/>
          </a:prstGeom>
          <a:solidFill>
            <a:srgbClr val="1B1B27"/>
          </a:solidFill>
          <a:ln/>
        </p:spPr>
        <p:txBody>
          <a:bodyPr/>
          <a:lstStyle/>
          <a:p>
            <a:endParaRPr lang="en-IN"/>
          </a:p>
        </p:txBody>
      </p:sp>
      <p:sp>
        <p:nvSpPr>
          <p:cNvPr id="5" name="Text 3"/>
          <p:cNvSpPr/>
          <p:nvPr/>
        </p:nvSpPr>
        <p:spPr>
          <a:xfrm>
            <a:off x="645319" y="1235348"/>
            <a:ext cx="4215110"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3C3939"/>
                </a:solidFill>
                <a:latin typeface="Roboto" pitchFamily="34" charset="0"/>
                <a:ea typeface="Roboto" pitchFamily="34" charset="-122"/>
                <a:cs typeface="Roboto" pitchFamily="34" charset="-120"/>
              </a:rPr>
              <a:t>Literature review confirms the importance of process and resource monitoring as the foundation of any intelligent workload system.</a:t>
            </a:r>
            <a:endParaRPr lang="en-US" sz="850" dirty="0"/>
          </a:p>
        </p:txBody>
      </p:sp>
      <p:sp>
        <p:nvSpPr>
          <p:cNvPr id="6" name="Shape 4"/>
          <p:cNvSpPr/>
          <p:nvPr/>
        </p:nvSpPr>
        <p:spPr>
          <a:xfrm>
            <a:off x="496119" y="1810569"/>
            <a:ext cx="54248" cy="54248"/>
          </a:xfrm>
          <a:prstGeom prst="ellipse">
            <a:avLst/>
          </a:prstGeom>
          <a:solidFill>
            <a:srgbClr val="1B1B27"/>
          </a:solidFill>
          <a:ln/>
        </p:spPr>
        <p:txBody>
          <a:bodyPr/>
          <a:lstStyle/>
          <a:p>
            <a:endParaRPr lang="en-IN"/>
          </a:p>
        </p:txBody>
      </p:sp>
      <p:sp>
        <p:nvSpPr>
          <p:cNvPr id="7" name="Text 5"/>
          <p:cNvSpPr/>
          <p:nvPr/>
        </p:nvSpPr>
        <p:spPr>
          <a:xfrm>
            <a:off x="645319" y="1750888"/>
            <a:ext cx="4215110"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3C3939"/>
                </a:solidFill>
                <a:latin typeface="Roboto" pitchFamily="34" charset="0"/>
                <a:ea typeface="Roboto" pitchFamily="34" charset="-122"/>
                <a:cs typeface="Roboto" pitchFamily="34" charset="-120"/>
              </a:rPr>
              <a:t>Existing tools mainly provide monitoring and require manual interpretation — leaving a clear gap for intelligent guidance.</a:t>
            </a:r>
            <a:endParaRPr lang="en-US" sz="850" dirty="0"/>
          </a:p>
        </p:txBody>
      </p:sp>
      <p:sp>
        <p:nvSpPr>
          <p:cNvPr id="8" name="Shape 6"/>
          <p:cNvSpPr/>
          <p:nvPr/>
        </p:nvSpPr>
        <p:spPr>
          <a:xfrm>
            <a:off x="496119" y="2326109"/>
            <a:ext cx="54248" cy="54248"/>
          </a:xfrm>
          <a:prstGeom prst="ellipse">
            <a:avLst/>
          </a:prstGeom>
          <a:solidFill>
            <a:srgbClr val="1B1B27"/>
          </a:solidFill>
          <a:ln/>
        </p:spPr>
        <p:txBody>
          <a:bodyPr/>
          <a:lstStyle/>
          <a:p>
            <a:endParaRPr lang="en-IN"/>
          </a:p>
        </p:txBody>
      </p:sp>
      <p:sp>
        <p:nvSpPr>
          <p:cNvPr id="9" name="Text 7"/>
          <p:cNvSpPr/>
          <p:nvPr/>
        </p:nvSpPr>
        <p:spPr>
          <a:xfrm>
            <a:off x="645319" y="2266429"/>
            <a:ext cx="4215110"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3C3939"/>
                </a:solidFill>
                <a:latin typeface="Roboto" pitchFamily="34" charset="0"/>
                <a:ea typeface="Roboto" pitchFamily="34" charset="-122"/>
                <a:cs typeface="Roboto" pitchFamily="34" charset="-120"/>
              </a:rPr>
              <a:t>Research shows a clear shift toward adaptive and intelligent resource management across the field.</a:t>
            </a:r>
            <a:endParaRPr lang="en-US" sz="850" dirty="0"/>
          </a:p>
        </p:txBody>
      </p:sp>
      <p:sp>
        <p:nvSpPr>
          <p:cNvPr id="10" name="Shape 8"/>
          <p:cNvSpPr/>
          <p:nvPr/>
        </p:nvSpPr>
        <p:spPr>
          <a:xfrm>
            <a:off x="496119" y="2841650"/>
            <a:ext cx="54248" cy="54248"/>
          </a:xfrm>
          <a:prstGeom prst="ellipse">
            <a:avLst/>
          </a:prstGeom>
          <a:solidFill>
            <a:srgbClr val="1B1B27"/>
          </a:solidFill>
          <a:ln/>
        </p:spPr>
        <p:txBody>
          <a:bodyPr/>
          <a:lstStyle/>
          <a:p>
            <a:endParaRPr lang="en-IN"/>
          </a:p>
        </p:txBody>
      </p:sp>
      <p:sp>
        <p:nvSpPr>
          <p:cNvPr id="11" name="Text 9"/>
          <p:cNvSpPr/>
          <p:nvPr/>
        </p:nvSpPr>
        <p:spPr>
          <a:xfrm>
            <a:off x="645319" y="2781970"/>
            <a:ext cx="4215110"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3C3939"/>
                </a:solidFill>
                <a:latin typeface="Roboto" pitchFamily="34" charset="0"/>
                <a:ea typeface="Roboto" pitchFamily="34" charset="-122"/>
                <a:cs typeface="Roboto" pitchFamily="34" charset="-120"/>
              </a:rPr>
              <a:t>The identified gap motivates our Smart Workload Manager as a lightweight, user-oriented solution.</a:t>
            </a:r>
            <a:endParaRPr lang="en-US" sz="850" dirty="0"/>
          </a:p>
        </p:txBody>
      </p:sp>
      <p:sp>
        <p:nvSpPr>
          <p:cNvPr id="12" name="Shape 10"/>
          <p:cNvSpPr/>
          <p:nvPr/>
        </p:nvSpPr>
        <p:spPr>
          <a:xfrm>
            <a:off x="496119" y="3357190"/>
            <a:ext cx="54248" cy="54248"/>
          </a:xfrm>
          <a:prstGeom prst="ellipse">
            <a:avLst/>
          </a:prstGeom>
          <a:solidFill>
            <a:srgbClr val="1B1B27"/>
          </a:solidFill>
          <a:ln/>
        </p:spPr>
        <p:txBody>
          <a:bodyPr/>
          <a:lstStyle/>
          <a:p>
            <a:endParaRPr lang="en-IN"/>
          </a:p>
        </p:txBody>
      </p:sp>
      <p:sp>
        <p:nvSpPr>
          <p:cNvPr id="13" name="Text 11"/>
          <p:cNvSpPr/>
          <p:nvPr/>
        </p:nvSpPr>
        <p:spPr>
          <a:xfrm>
            <a:off x="645319" y="3297510"/>
            <a:ext cx="4215110"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3C3939"/>
                </a:solidFill>
                <a:latin typeface="Roboto" pitchFamily="34" charset="0"/>
                <a:ea typeface="Roboto" pitchFamily="34" charset="-122"/>
                <a:cs typeface="Roboto" pitchFamily="34" charset="-120"/>
              </a:rPr>
              <a:t>Review 2 establishes the research foundation and identifies the gap that motivates the proposed system.</a:t>
            </a:r>
            <a:endParaRPr lang="en-US" sz="850" dirty="0"/>
          </a:p>
        </p:txBody>
      </p:sp>
      <p:sp>
        <p:nvSpPr>
          <p:cNvPr id="14" name="Shape 12"/>
          <p:cNvSpPr/>
          <p:nvPr/>
        </p:nvSpPr>
        <p:spPr>
          <a:xfrm>
            <a:off x="496119" y="3872731"/>
            <a:ext cx="54248" cy="54248"/>
          </a:xfrm>
          <a:prstGeom prst="ellipse">
            <a:avLst/>
          </a:prstGeom>
          <a:solidFill>
            <a:srgbClr val="1B1B27"/>
          </a:solidFill>
          <a:ln/>
        </p:spPr>
        <p:txBody>
          <a:bodyPr/>
          <a:lstStyle/>
          <a:p>
            <a:endParaRPr lang="en-IN"/>
          </a:p>
        </p:txBody>
      </p:sp>
      <p:sp>
        <p:nvSpPr>
          <p:cNvPr id="15" name="Text 13"/>
          <p:cNvSpPr/>
          <p:nvPr/>
        </p:nvSpPr>
        <p:spPr>
          <a:xfrm>
            <a:off x="645319" y="3813051"/>
            <a:ext cx="4215110"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3C3939"/>
                </a:solidFill>
                <a:latin typeface="Roboto" pitchFamily="34" charset="0"/>
                <a:ea typeface="Roboto" pitchFamily="34" charset="-122"/>
                <a:cs typeface="Roboto" pitchFamily="34" charset="-120"/>
              </a:rPr>
              <a:t>Monitoring data will become the foundation for future analysis and intelligent recommendations.</a:t>
            </a:r>
            <a:endParaRPr lang="en-US" sz="850" dirty="0"/>
          </a:p>
        </p:txBody>
      </p:sp>
      <p:sp>
        <p:nvSpPr>
          <p:cNvPr id="16" name="Shape 14"/>
          <p:cNvSpPr/>
          <p:nvPr/>
        </p:nvSpPr>
        <p:spPr>
          <a:xfrm>
            <a:off x="496119" y="4388272"/>
            <a:ext cx="54248" cy="54248"/>
          </a:xfrm>
          <a:prstGeom prst="ellipse">
            <a:avLst/>
          </a:prstGeom>
          <a:solidFill>
            <a:srgbClr val="1B1B27"/>
          </a:solidFill>
          <a:ln/>
        </p:spPr>
        <p:txBody>
          <a:bodyPr/>
          <a:lstStyle/>
          <a:p>
            <a:endParaRPr lang="en-IN"/>
          </a:p>
        </p:txBody>
      </p:sp>
      <p:sp>
        <p:nvSpPr>
          <p:cNvPr id="17" name="Text 15"/>
          <p:cNvSpPr/>
          <p:nvPr/>
        </p:nvSpPr>
        <p:spPr>
          <a:xfrm>
            <a:off x="645319" y="4328592"/>
            <a:ext cx="4215110"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3C3939"/>
                </a:solidFill>
                <a:latin typeface="Roboto" pitchFamily="34" charset="0"/>
                <a:ea typeface="Roboto" pitchFamily="34" charset="-122"/>
                <a:cs typeface="Roboto" pitchFamily="34" charset="-120"/>
              </a:rPr>
              <a:t>The project will be developed incrementally as the relevant Operating Systems concepts are learned throughout the semester.</a:t>
            </a:r>
            <a:endParaRPr lang="en-US" sz="850" dirty="0"/>
          </a:p>
        </p:txBody>
      </p:sp>
      <p:sp>
        <p:nvSpPr>
          <p:cNvPr id="18" name="Shape 16"/>
          <p:cNvSpPr/>
          <p:nvPr/>
        </p:nvSpPr>
        <p:spPr>
          <a:xfrm>
            <a:off x="5051822" y="864096"/>
            <a:ext cx="3678882" cy="3896916"/>
          </a:xfrm>
          <a:prstGeom prst="roundRect">
            <a:avLst>
              <a:gd name="adj" fmla="val 2124"/>
            </a:avLst>
          </a:prstGeom>
          <a:solidFill>
            <a:srgbClr val="1B1B27">
              <a:alpha val="95000"/>
            </a:srgbClr>
          </a:solidFill>
          <a:ln/>
        </p:spPr>
        <p:txBody>
          <a:bodyPr/>
          <a:lstStyle/>
          <a:p>
            <a:endParaRPr lang="en-IN"/>
          </a:p>
        </p:txBody>
      </p:sp>
      <p:sp>
        <p:nvSpPr>
          <p:cNvPr id="19" name="Text 17"/>
          <p:cNvSpPr/>
          <p:nvPr/>
        </p:nvSpPr>
        <p:spPr>
          <a:xfrm>
            <a:off x="5160318" y="959048"/>
            <a:ext cx="3461891" cy="169515"/>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aleway" pitchFamily="34" charset="0"/>
                <a:ea typeface="Raleway" pitchFamily="34" charset="-122"/>
                <a:cs typeface="Raleway" pitchFamily="34" charset="-120"/>
              </a:rPr>
              <a:t>References</a:t>
            </a:r>
            <a:endParaRPr lang="en-US" sz="1050" dirty="0"/>
          </a:p>
        </p:txBody>
      </p:sp>
      <p:sp>
        <p:nvSpPr>
          <p:cNvPr id="20" name="Text 18"/>
          <p:cNvSpPr/>
          <p:nvPr/>
        </p:nvSpPr>
        <p:spPr>
          <a:xfrm>
            <a:off x="5160318" y="1223516"/>
            <a:ext cx="3461891" cy="1564928"/>
          </a:xfrm>
          <a:prstGeom prst="rect">
            <a:avLst/>
          </a:prstGeom>
          <a:noFill/>
          <a:ln/>
        </p:spPr>
        <p:txBody>
          <a:bodyPr wrap="square" lIns="0" tIns="0" rIns="0" bIns="0" rtlCol="0" anchor="t">
            <a:normAutofit/>
          </a:bodyPr>
          <a:lstStyle/>
          <a:p>
            <a:pPr marL="172720" indent="-172720" algn="l">
              <a:lnSpc>
                <a:spcPct val="125000"/>
              </a:lnSpc>
              <a:buSzPct val="100000"/>
              <a:buFont typeface="+mj-lt"/>
              <a:buAutoNum type="arabicPeriod"/>
            </a:pPr>
            <a:r>
              <a:rPr lang="en-US" sz="850" dirty="0">
                <a:solidFill>
                  <a:srgbClr val="FFFFFF"/>
                </a:solidFill>
                <a:latin typeface="Roboto" pitchFamily="34" charset="0"/>
                <a:ea typeface="Roboto" pitchFamily="34" charset="-122"/>
                <a:cs typeface="Roboto" pitchFamily="34" charset="-120"/>
              </a:rPr>
              <a:t>A. Brooks, </a:t>
            </a:r>
            <a:r>
              <a:rPr lang="en-US" sz="850" i="1" dirty="0">
                <a:solidFill>
                  <a:srgbClr val="FFFFFF"/>
                </a:solidFill>
                <a:latin typeface="Roboto" pitchFamily="34" charset="0"/>
                <a:ea typeface="Roboto" pitchFamily="34" charset="-122"/>
                <a:cs typeface="Roboto" pitchFamily="34" charset="-120"/>
              </a:rPr>
              <a:t>Operating System and Process Monitoring Tools</a:t>
            </a:r>
            <a:r>
              <a:rPr lang="en-US" sz="850" dirty="0">
                <a:solidFill>
                  <a:srgbClr val="FFFFFF"/>
                </a:solidFill>
                <a:latin typeface="Roboto" pitchFamily="34" charset="0"/>
                <a:ea typeface="Roboto" pitchFamily="34" charset="-122"/>
                <a:cs typeface="Roboto" pitchFamily="34" charset="-120"/>
              </a:rPr>
              <a:t>, Washington University.</a:t>
            </a:r>
            <a:endParaRPr lang="en-US" sz="850" dirty="0"/>
          </a:p>
          <a:p>
            <a:pPr marL="172720" indent="-172720" algn="l">
              <a:lnSpc>
                <a:spcPct val="125000"/>
              </a:lnSpc>
              <a:buSzPct val="100000"/>
              <a:buFont typeface="+mj-lt"/>
              <a:buAutoNum type="arabicPeriod" startAt="2"/>
            </a:pPr>
            <a:r>
              <a:rPr lang="en-US" sz="850" dirty="0">
                <a:solidFill>
                  <a:srgbClr val="FFFFFF"/>
                </a:solidFill>
                <a:latin typeface="Roboto" pitchFamily="34" charset="0"/>
                <a:ea typeface="Roboto" pitchFamily="34" charset="-122"/>
                <a:cs typeface="Roboto" pitchFamily="34" charset="-120"/>
              </a:rPr>
              <a:t>G. Eads et al., </a:t>
            </a:r>
            <a:r>
              <a:rPr lang="en-US" sz="850" i="1" dirty="0">
                <a:solidFill>
                  <a:srgbClr val="FFFFFF"/>
                </a:solidFill>
                <a:latin typeface="Roboto" pitchFamily="34" charset="0"/>
                <a:ea typeface="Roboto" pitchFamily="34" charset="-122"/>
                <a:cs typeface="Roboto" pitchFamily="34" charset="-120"/>
              </a:rPr>
              <a:t>Building an Adaptive Operating System for Predictability and Efficiency</a:t>
            </a:r>
            <a:r>
              <a:rPr lang="en-US" sz="850" dirty="0">
                <a:solidFill>
                  <a:srgbClr val="FFFFFF"/>
                </a:solidFill>
                <a:latin typeface="Roboto" pitchFamily="34" charset="0"/>
                <a:ea typeface="Roboto" pitchFamily="34" charset="-122"/>
                <a:cs typeface="Roboto" pitchFamily="34" charset="-120"/>
              </a:rPr>
              <a:t>, UC Berkeley Technical Report, 2014.</a:t>
            </a:r>
            <a:endParaRPr lang="en-US" sz="850" dirty="0"/>
          </a:p>
          <a:p>
            <a:pPr marL="172720" indent="-172720" algn="l">
              <a:lnSpc>
                <a:spcPct val="125000"/>
              </a:lnSpc>
              <a:buSzPct val="100000"/>
              <a:buFont typeface="+mj-lt"/>
              <a:buAutoNum type="arabicPeriod" startAt="3"/>
            </a:pPr>
            <a:r>
              <a:rPr lang="en-US" sz="850" dirty="0">
                <a:solidFill>
                  <a:srgbClr val="FFFFFF"/>
                </a:solidFill>
                <a:latin typeface="Roboto" pitchFamily="34" charset="0"/>
                <a:ea typeface="Roboto" pitchFamily="34" charset="-122"/>
                <a:cs typeface="Roboto" pitchFamily="34" charset="-120"/>
              </a:rPr>
              <a:t>S. Goodarzy et al., </a:t>
            </a:r>
            <a:r>
              <a:rPr lang="en-US" sz="850" i="1" dirty="0">
                <a:solidFill>
                  <a:srgbClr val="FFFFFF"/>
                </a:solidFill>
                <a:latin typeface="Roboto" pitchFamily="34" charset="0"/>
                <a:ea typeface="Roboto" pitchFamily="34" charset="-122"/>
                <a:cs typeface="Roboto" pitchFamily="34" charset="-120"/>
              </a:rPr>
              <a:t>SmartOS: Towards Automated Learning and User-Adaptive Resource Allocation in Operating Systems</a:t>
            </a:r>
            <a:r>
              <a:rPr lang="en-US" sz="850" dirty="0">
                <a:solidFill>
                  <a:srgbClr val="FFFFFF"/>
                </a:solidFill>
                <a:latin typeface="Roboto" pitchFamily="34" charset="0"/>
                <a:ea typeface="Roboto" pitchFamily="34" charset="-122"/>
                <a:cs typeface="Roboto" pitchFamily="34" charset="-120"/>
              </a:rPr>
              <a:t>, APSys, 2021.</a:t>
            </a:r>
            <a:endParaRPr lang="en-US" sz="850" dirty="0"/>
          </a:p>
          <a:p>
            <a:pPr marL="172720" indent="-172720" algn="l">
              <a:lnSpc>
                <a:spcPct val="125000"/>
              </a:lnSpc>
              <a:buSzPct val="100000"/>
              <a:buFont typeface="+mj-lt"/>
              <a:buAutoNum type="arabicPeriod" startAt="4"/>
            </a:pPr>
            <a:r>
              <a:rPr lang="en-US" sz="850" dirty="0">
                <a:solidFill>
                  <a:srgbClr val="FFFFFF"/>
                </a:solidFill>
                <a:latin typeface="Roboto" pitchFamily="34" charset="0"/>
                <a:ea typeface="Roboto" pitchFamily="34" charset="-122"/>
                <a:cs typeface="Roboto" pitchFamily="34" charset="-120"/>
              </a:rPr>
              <a:t>S. Shao et al., </a:t>
            </a:r>
            <a:r>
              <a:rPr lang="en-US" sz="850" i="1" dirty="0">
                <a:solidFill>
                  <a:srgbClr val="FFFFFF"/>
                </a:solidFill>
                <a:latin typeface="Roboto" pitchFamily="34" charset="0"/>
                <a:ea typeface="Roboto" pitchFamily="34" charset="-122"/>
                <a:cs typeface="Roboto" pitchFamily="34" charset="-120"/>
              </a:rPr>
              <a:t>Attention-based Workload Prediction and Dynamic Resource Allocation for Heterogeneous Computing Environments</a:t>
            </a:r>
            <a:r>
              <a:rPr lang="en-US" sz="850" dirty="0">
                <a:solidFill>
                  <a:srgbClr val="FFFFFF"/>
                </a:solidFill>
                <a:latin typeface="Roboto" pitchFamily="34" charset="0"/>
                <a:ea typeface="Roboto" pitchFamily="34" charset="-122"/>
                <a:cs typeface="Roboto" pitchFamily="34" charset="-120"/>
              </a:rPr>
              <a:t>, </a:t>
            </a:r>
            <a:r>
              <a:rPr lang="en-US" sz="850" i="1" dirty="0">
                <a:solidFill>
                  <a:srgbClr val="FFFFFF"/>
                </a:solidFill>
                <a:latin typeface="Roboto" pitchFamily="34" charset="0"/>
                <a:ea typeface="Roboto" pitchFamily="34" charset="-122"/>
                <a:cs typeface="Roboto" pitchFamily="34" charset="-120"/>
              </a:rPr>
              <a:t>Scientific Reports</a:t>
            </a:r>
            <a:r>
              <a:rPr lang="en-US" sz="850" dirty="0">
                <a:solidFill>
                  <a:srgbClr val="FFFFFF"/>
                </a:solidFill>
                <a:latin typeface="Roboto" pitchFamily="34" charset="0"/>
                <a:ea typeface="Roboto" pitchFamily="34" charset="-122"/>
                <a:cs typeface="Roboto" pitchFamily="34" charset="-120"/>
              </a:rPr>
              <a:t>,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1287</Words>
  <Application>Microsoft Office PowerPoint</Application>
  <PresentationFormat>On-screen Show (16:9)</PresentationFormat>
  <Paragraphs>243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vt:lpstr>
      <vt:lpstr>Raleway</vt:lpstr>
      <vt:lpstr>Raleway Bold</vt:lpstr>
      <vt:lpstr>Arial</vt:lpstr>
      <vt:lpstr>Roboto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Snikitha Sree</cp:lastModifiedBy>
  <cp:revision>1</cp:revision>
  <dcterms:created xsi:type="dcterms:W3CDTF">2026-08-18T03:54:46Z</dcterms:created>
  <dcterms:modified xsi:type="dcterms:W3CDTF">2026-10-07T06:02:38Z</dcterms:modified>
</cp:coreProperties>
</file>